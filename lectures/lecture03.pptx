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1" r:id="rId14"/>
    <p:sldId id="298" r:id="rId15"/>
    <p:sldId id="300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83" d="100"/>
          <a:sy n="183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95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1381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Skills as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Executable Infrastructure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54203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Methods for Agentic Programming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18288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21868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 3  ·  April 7, 2026  ·  HW1 out today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53872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Yu Feng  ·  UC Santa Barbara  ·  Department of Computer Science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3931920"/>
            <a:ext cx="2926080" cy="36576"/>
          </a:xfrm>
          <a:prstGeom prst="rect">
            <a:avLst/>
          </a:prstGeom>
          <a:solidFill>
            <a:srgbClr val="D4EEEE"/>
          </a:solidFill>
          <a:ln w="12700">
            <a:solidFill>
              <a:srgbClr val="D4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66560" y="4160520"/>
            <a:ext cx="2377440" cy="3657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223760" y="4389120"/>
            <a:ext cx="1920240" cy="36576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 — The Stack So Far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54864" cy="7589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896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Layers 1–4 (Lec 2)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1887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LLM/API → Agent Loop → Tools → MCP. We can now build a working agent that calls tools over a standardized protocol.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841248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54864" cy="7589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7465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What’s Missing?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20391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 5 was labeled on the diagram but left blank: Skills. Today we fill it in — and discover it’s qualitatively different from everything below.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42032"/>
            <a:ext cx="841248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54864" cy="7589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Key Shift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288950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Layers 1–4 are infrastructure. Skills are policy. They’re the first layer where governance, permissions, and behavioral contracts can be attached and audited.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92424"/>
            <a:ext cx="841248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392424"/>
            <a:ext cx="54864" cy="758952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447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 Now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HW1 is out today. You’ll build a real skill with proper SKILL.md, permissions, and an eval suite — everything covered in this lecture.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Today’s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402336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DAF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30352" y="1344168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Skill?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0352" y="1709928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vs tools vs prompts — the governance gap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20640" y="841248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120640" y="841248"/>
            <a:ext cx="402336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57800" y="93268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DAF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285232" y="1344168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SKILL.md Format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85232" y="1709928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Anatomy, frontmatter, progressive disclosure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459736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459736"/>
            <a:ext cx="402336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5511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DAF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30352" y="2962656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OpenClaw / ClawHub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0352" y="3328416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13,700+ skills, the registry model, supply-chain risk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2459736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20640" y="2459736"/>
            <a:ext cx="402336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57800" y="25511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DAF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285232" y="2962656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GATE Taxonomy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285232" y="3328416"/>
            <a:ext cx="3767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· Action · Transfer · Exchange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782568"/>
            <a:ext cx="8412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767328"/>
            <a:ext cx="841248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8587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DAF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88720" y="3858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as Formal Specs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88720" y="42062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 to Part II: Hoare triples for skills + HW1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= Policy, Not Just Code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3931920" cy="3291840"/>
          </a:xfrm>
          <a:prstGeom prst="rect">
            <a:avLst/>
          </a:prstGeom>
          <a:solidFill>
            <a:srgbClr val="1E2B40"/>
          </a:solidFill>
          <a:ln w="95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393192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15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TOOL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name: read_file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8836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input_schema: { path: string 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286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description: reads a file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6883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That’s it.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2461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governance. No permissions.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provenance. No contracts.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1024128"/>
            <a:ext cx="3931920" cy="3291840"/>
          </a:xfrm>
          <a:prstGeom prst="rect">
            <a:avLst/>
          </a:prstGeom>
          <a:solidFill>
            <a:srgbClr val="0A2A28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024128"/>
            <a:ext cx="393192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0" y="11155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SKILL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name + description + version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18836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tools: [read_file]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286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permissions: read_only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6883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steps: numbered procedure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0906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examples + eval suite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493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author + provenance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15968" y="24231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E7C7B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SKILL.md Anatomy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6217920" cy="640080"/>
          </a:xfrm>
          <a:prstGeom prst="rect">
            <a:avLst/>
          </a:prstGeom>
          <a:solidFill>
            <a:srgbClr val="D4EEEE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54864" cy="6400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8778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Frontmatter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057400" y="8961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· description · tools · permissions · version · tags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517904"/>
            <a:ext cx="6217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4A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517904"/>
            <a:ext cx="54864" cy="594360"/>
          </a:xfrm>
          <a:prstGeom prst="rect">
            <a:avLst/>
          </a:prstGeom>
          <a:solidFill>
            <a:srgbClr val="4A5C7A"/>
          </a:solidFill>
          <a:ln w="12700">
            <a:solidFill>
              <a:srgbClr val="4A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57400" y="159105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Natural-language explanation of what the skill does and when to use 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167128"/>
            <a:ext cx="6217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4A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167128"/>
            <a:ext cx="54864" cy="594360"/>
          </a:xfrm>
          <a:prstGeom prst="rect">
            <a:avLst/>
          </a:prstGeom>
          <a:solidFill>
            <a:srgbClr val="4A5C7A"/>
          </a:solidFill>
          <a:ln w="12700">
            <a:solidFill>
              <a:srgbClr val="4A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2219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5740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Numbered procedure: each step maps to one or more tool calls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6217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4A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816352"/>
            <a:ext cx="54864" cy="594360"/>
          </a:xfrm>
          <a:prstGeom prst="rect">
            <a:avLst/>
          </a:prstGeom>
          <a:solidFill>
            <a:srgbClr val="4A5C7A"/>
          </a:solidFill>
          <a:ln w="12700">
            <a:solidFill>
              <a:srgbClr val="4A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2871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057400" y="288950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Invocation patterns, expected outputs, edge cases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465576"/>
            <a:ext cx="62179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465576"/>
            <a:ext cx="54864" cy="594360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520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Suite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057400" y="35387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tests: success cases, failure modes, invariant checks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66560" y="859536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66560" y="859536"/>
            <a:ext cx="45720" cy="5669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03720" y="914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Runtime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11521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loads &amp; validates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66560" y="1554480"/>
            <a:ext cx="201168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66560" y="1554480"/>
            <a:ext cx="45720" cy="5212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03720" y="160934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03720" y="1847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&amp; maintains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66560" y="2203704"/>
            <a:ext cx="201168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766560" y="2203704"/>
            <a:ext cx="45720" cy="5212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03720" y="22585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24963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&amp; maintains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66560" y="2852928"/>
            <a:ext cx="201168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766560" y="2852928"/>
            <a:ext cx="45720" cy="5212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03720" y="29077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31455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reads &amp; maintains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66560" y="3502152"/>
            <a:ext cx="2011680" cy="521208"/>
          </a:xfrm>
          <a:prstGeom prst="rect">
            <a:avLst/>
          </a:prstGeom>
          <a:solidFill>
            <a:srgbClr val="FFFFFF"/>
          </a:solidFill>
          <a:ln w="9525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766560" y="3502152"/>
            <a:ext cx="45720" cy="521208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903720" y="35570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Auditor / CI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03720" y="3794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runs &amp; gates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66560" y="658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Consumer →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Minimal SKILL.md — Code Review Skill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5120640" cy="3977640"/>
          </a:xfrm>
          <a:prstGeom prst="rect">
            <a:avLst/>
          </a:prstGeom>
          <a:solidFill>
            <a:srgbClr val="1E2235"/>
          </a:solidFill>
          <a:ln w="9525">
            <a:solidFill>
              <a:srgbClr val="2A305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" y="914400"/>
            <a:ext cx="91440" cy="914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914400"/>
            <a:ext cx="91440" cy="9144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32688" y="914400"/>
            <a:ext cx="91440" cy="9144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097280"/>
            <a:ext cx="484632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A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code_review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A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"Review code for bugs, style, security"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A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[read_file, search_web]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A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7A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A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1.2.0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A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[review, security, quality]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Overview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the provided code file and report issues.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Steps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Read the file with read_file(path)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Check logic, style, and security patterns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Search for known CVEs if crypto is used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Return structured JSON: {bugs, warnings, score}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868680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669280" y="868680"/>
            <a:ext cx="457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79008" y="9144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YAML frontmatter block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0" y="1572768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0" y="1572768"/>
            <a:ext cx="4572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79008" y="16184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 declaration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1901952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9280" y="1901952"/>
            <a:ext cx="457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79008" y="19476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contract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2578608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669280" y="2578608"/>
            <a:ext cx="45720" cy="347472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79008" y="262432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Discoverable in registry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0" y="3310128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669280" y="3310128"/>
            <a:ext cx="457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79008" y="335584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Human-readable procedure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4297680"/>
            <a:ext cx="310896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669280" y="4297680"/>
            <a:ext cx="4572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79008" y="43434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output spec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Frontmatter Fields — What Each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572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8778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29968" y="8778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routing key — how the skill is invoked and discovered in a registry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307592"/>
            <a:ext cx="8412480" cy="457200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307592"/>
            <a:ext cx="457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3807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29968" y="13807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Model-visible prompt describing purpose and when to use it. This IS your prompt.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810512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810512"/>
            <a:ext cx="45720" cy="457200"/>
          </a:xfrm>
          <a:prstGeom prst="rect">
            <a:avLst/>
          </a:prstGeom>
          <a:solidFill>
            <a:srgbClr val="4A5C7A"/>
          </a:solidFill>
          <a:ln w="12700">
            <a:solidFill>
              <a:srgbClr val="4A5C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18836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C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29968" y="188366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 declaration: which Layer 3/4 tools this skill is allowed to call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313432"/>
            <a:ext cx="8412480" cy="457200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2313432"/>
            <a:ext cx="457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38658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29968" y="238658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contract: read_only · write_local · network. Audited at load time.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816352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816352"/>
            <a:ext cx="45720" cy="457200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8895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29968" y="288950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Provenance: semantic versioning enables pinning and supply-chain auditing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319272"/>
            <a:ext cx="8412480" cy="457200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3319272"/>
            <a:ext cx="4572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3924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29968" y="33924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metadata: surface in registry search, GATE classification, domain labels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822192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822192"/>
            <a:ext cx="457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8953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29968" y="38953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Accountability: who owns this skill. Enables trust scoring and incident attribution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49884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 is the most important field — the agent reads it to decide whether and how to invoke the skill.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 Disclosure — Load What You Need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19659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196596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1709928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~50 tokens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01168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description + tool list only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743200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 for: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980944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routing decisions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14600" y="822960"/>
            <a:ext cx="19659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14600" y="822960"/>
            <a:ext cx="196596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651760" y="987552"/>
            <a:ext cx="1709928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51760" y="987552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138988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~300 tokens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51760" y="175564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51760" y="201168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 + one usage example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51760" y="2743200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 for: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51760" y="2980944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invocation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822960"/>
            <a:ext cx="19659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822960"/>
            <a:ext cx="196596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00600" y="987552"/>
            <a:ext cx="1709928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987552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VERBOSE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138988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~800 tokens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175564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201168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cases + error handling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743200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 for: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2980944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Complex / risky tasks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12280" y="822960"/>
            <a:ext cx="19659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12280" y="822960"/>
            <a:ext cx="1965960" cy="45720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949440" y="987552"/>
            <a:ext cx="1709928" cy="320040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49440" y="987552"/>
            <a:ext cx="1709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138988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5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~2K tokens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49440" y="1755648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49440" y="2011680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contracts + internals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49440" y="2743200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Used for: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949440" y="2980944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Auditing &amp; verification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" y="42245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 budget is finite. Agents should load BRIEF first and escalate to VERBOSE only when task complexity warrants it.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as Governance-Bearing Artifacts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2633472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633472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692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📂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30352" y="14813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9202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are versioned files that survive across sessions. They live in registries, can be pinned to a version, rolled back, and have a full audit history. Not ephemeral like a prompt or inline tool.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841248"/>
            <a:ext cx="2633472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841248"/>
            <a:ext cx="2633472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5848" y="9692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83280" y="14813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compliant agent runtime (Claude Code, MCP client, custom loop) can load a SKILL.md. Skills are not tied to a specific model, framework, or infrastructure provider.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71616" y="841248"/>
            <a:ext cx="2633472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71616" y="841248"/>
            <a:ext cx="2633472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08776" y="9692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36208" y="14813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Governance-Bearing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19202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frontmatter carries permissions, capability declarations, and authorship. These fields can be statically analyzed, compared against policy, and enforced at load time — before the skill ever executes.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6451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These three properties together make skills the natural unit for formal reasoning in Part II and security auditing in Part III.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Permission Model — Capability Contracts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263347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633472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960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📖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30352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read_only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188366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 read files, inspect environment, query local state. No writes, no network.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670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898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list_dir()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3127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get_env_var()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841248"/>
            <a:ext cx="263347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18688" y="841248"/>
            <a:ext cx="2633472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24528" y="960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8328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write_local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88366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 read and write to the local filesystem within allowed paths. No outbound network.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19856" y="2670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edit_file()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19856" y="2898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run_bash()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19856" y="3127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create_dir()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71616" y="841248"/>
            <a:ext cx="263347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71616" y="841248"/>
            <a:ext cx="263347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77456" y="960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36208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36208" y="188366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 make outbound HTTP calls, query databases, post to APIs. Highest trust requirement.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72784" y="2670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search_web()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72784" y="2898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post_slack()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2784" y="3127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query_db()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005072"/>
            <a:ext cx="8412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4005072"/>
            <a:ext cx="54864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4078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checks permissions?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926080" y="4078224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Today: the MCP host, your agent loop, or nobody — depending on the framework. In Part III we formalize this as an access control policy and prove violations statically.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OpenClaw / ClawHub Ecosystem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920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192024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13,700+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skills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804672"/>
            <a:ext cx="1920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87168" y="804672"/>
            <a:ext cx="192024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78608" y="914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78608" y="13716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categories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804672"/>
            <a:ext cx="1920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08576" y="804672"/>
            <a:ext cx="192024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0016" y="914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00016" y="13716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 scopes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9984" y="804672"/>
            <a:ext cx="19202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29984" y="804672"/>
            <a:ext cx="1920240" cy="45720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21424" y="9144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C5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21424" y="137160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Analogy: the npm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agent capabilities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4023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103120"/>
            <a:ext cx="402336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212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25786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by name, tag, GATE type, or permission scope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3017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compose — a skill can invoke other skills via MCP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3456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 reputation scores and download counts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38953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•  </a:t>
            </a: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pinning: ’claude install code_review@1.2.0’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103120"/>
            <a:ext cx="402336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2103120"/>
            <a:ext cx="402336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2212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Supply-Chain Risk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25786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</a:t>
            </a: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registry = untrusted code, not just untrusted data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3017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</a:t>
            </a: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Snyk ToxicSkills: 36% of audited skills had prompt injection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3456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</a:t>
            </a: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ClawHavoc: malicious SKILL.md distributed malware (Lec 12)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38953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</a:t>
            </a: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Installing a skill ≈ npm install from an unknown author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463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HOW CAN A SKILL GO WRONG?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Study: The ClawHavoc Campaign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77824"/>
            <a:ext cx="128016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92024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97280" y="1097280"/>
            <a:ext cx="457200" cy="4572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Attacker uploads 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SKILL.md to ClawHub with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convincing description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04288" y="1783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392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450592" y="100584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50592" y="1005840"/>
            <a:ext cx="19202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82112" y="109728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18211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42032" y="16642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Inject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42032" y="20116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 payload inside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description field: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injection directive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0" y="1783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392B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35424" y="100584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3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35424" y="1005840"/>
            <a:ext cx="1920240" cy="45720"/>
          </a:xfrm>
          <a:prstGeom prst="rect">
            <a:avLst/>
          </a:prstGeom>
          <a:solidFill>
            <a:srgbClr val="2D3E5F"/>
          </a:solidFill>
          <a:ln w="12700">
            <a:solidFill>
              <a:srgbClr val="2D3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66944" y="1097280"/>
            <a:ext cx="457200" cy="457200"/>
          </a:xfrm>
          <a:prstGeom prst="ellipse">
            <a:avLst/>
          </a:prstGeom>
          <a:solidFill>
            <a:srgbClr val="2D3E5F"/>
          </a:solidFill>
          <a:ln w="12700">
            <a:solidFill>
              <a:srgbClr val="2D3E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266944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26864" y="16642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E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26864" y="20116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Victim runs: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install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clawcleaner@1.0.0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73952" y="17830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0392B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20256" y="1005840"/>
            <a:ext cx="1920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620256" y="1005840"/>
            <a:ext cx="19202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51776" y="109728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51776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11696" y="1664208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Exfiltrate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11696" y="201168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executes hidden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step: downloads AMOS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macOS Stealer. Creds gone.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182112"/>
            <a:ext cx="8412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5760" y="3182112"/>
            <a:ext cx="54864" cy="1325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6928" y="32552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354787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treated the description field as a trusted prompt without sanitization. The SKILL.md permissions declared read_only — but the injected instructions caused a network write anyway.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60720" y="32552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0720" y="3547872"/>
            <a:ext cx="2971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Installing a skill is running untrusted code. Permissions must be enforced, not just declared. (Part III formalizes this.)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 i="0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 i="0" spc="100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HOW CAN A SKILL GO WRONG?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 i="0">
                <a:solidFill>
                  <a:srgbClr val="1A1A2E"/>
                </a:solidFill>
                <a:latin typeface="Georgia" pitchFamily="34" charset="0"/>
                <a:ea typeface="Georgia"/>
                <a:cs typeface="Georgia"/>
              </a:defRPr>
            </a:pPr>
            <a:r>
              <a:t>Case Study: Anti-Distillation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1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When Employees Fight Back Against AI — A Real-World Example of Skill Boundary Exploitation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Background (April 2026, China)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8404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rPr>
              <a:t>Workers created "colleague.skill" — feeding coworker knowledge into AI to generate a digital replacement.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rPr>
              <a:t>The practice was coined "distillation" (蒸馏): boiling a person down to their replicable essence.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23160"/>
            <a:ext cx="3657600" cy="34747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50592"/>
            <a:ext cx="347472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100" b="1" i="0">
                <a:solidFill>
                  <a:srgbClr val="FFFFFF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/>
                <a:cs typeface="Trebuchet MS"/>
              </a:rPr>
              <a:t>~25% of U.S. layoffs in March 2026 attributed to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60"/>
            <a:ext cx="3840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The Counter-Attack: anti-distillation.skill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3840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rPr>
              <a:t>Cleans your skill file before submission to management — strips tacit knowledge and decision heuristics, replacing them with output that is technically correct but strategically hollow.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69347"/>
            <a:ext cx="164592" cy="1645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3951058"/>
            <a:ext cx="137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 i="0">
                <a:solidFill>
                  <a:srgbClr val="1E2761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51058"/>
            <a:ext cx="3291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dirty="0"/>
              <a:t>Public version — structured, professional, deliberately vague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07091"/>
            <a:ext cx="164592" cy="16459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4188803"/>
            <a:ext cx="13716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 i="0">
                <a:solidFill>
                  <a:srgbClr val="1E2761"/>
                </a:solidFill>
                <a:latin typeface="Calibri"/>
              </a:defRPr>
            </a:pPr>
            <a:r>
              <a:rPr dirty="0"/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88803"/>
            <a:ext cx="3291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 i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dirty="0"/>
              <a:t>Private backup — real knowledge, kept for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280160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Attack / Defense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554480"/>
            <a:ext cx="3657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 i="0">
                <a:solidFill>
                  <a:srgbClr val="8895A7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THE ATTACK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783080"/>
            <a:ext cx="1691640" cy="3200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1783080"/>
            <a:ext cx="16916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 i="0">
                <a:solidFill>
                  <a:srgbClr val="FFFFFF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Employee Knowledge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446520" y="1837943"/>
            <a:ext cx="274320" cy="201168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12280" y="1783080"/>
            <a:ext cx="1691640" cy="3200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1783080"/>
            <a:ext cx="16916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 i="0">
                <a:solidFill>
                  <a:srgbClr val="FFFFFF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colleague.skill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7543800" y="2148840"/>
            <a:ext cx="228600" cy="201168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663440" y="2395728"/>
            <a:ext cx="1691640" cy="3200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2395728"/>
            <a:ext cx="16916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 i="0">
                <a:solidFill>
                  <a:srgbClr val="FFFFFF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Digital Replica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446520" y="2450592"/>
            <a:ext cx="274320" cy="201168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812280" y="2395728"/>
            <a:ext cx="1691640" cy="3200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12280" y="2395728"/>
            <a:ext cx="169164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 i="0">
                <a:solidFill>
                  <a:srgbClr val="FFFFFF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Layoff Risk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834640"/>
            <a:ext cx="3840480" cy="182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63440" y="2907792"/>
            <a:ext cx="3657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800" b="1" i="0">
                <a:solidFill>
                  <a:srgbClr val="8895A7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THE DEFENSE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3127248"/>
            <a:ext cx="2286000" cy="347472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0" y="3127248"/>
            <a:ext cx="22860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000" b="1" i="0">
                <a:solidFill>
                  <a:srgbClr val="1E2761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dirty="0">
                <a:solidFill>
                  <a:schemeClr val="bg1"/>
                </a:solidFill>
              </a:rPr>
              <a:t>anti-</a:t>
            </a:r>
            <a:r>
              <a:rPr dirty="0" err="1">
                <a:solidFill>
                  <a:schemeClr val="bg1"/>
                </a:solidFill>
              </a:rPr>
              <a:t>distillation.skill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6" name="Down Arrow 35"/>
          <p:cNvSpPr/>
          <p:nvPr/>
        </p:nvSpPr>
        <p:spPr>
          <a:xfrm>
            <a:off x="6720840" y="3520440"/>
            <a:ext cx="228600" cy="201168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663440" y="3767328"/>
            <a:ext cx="1828800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63440" y="3767328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 i="0">
                <a:solidFill>
                  <a:srgbClr val="1E2761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Sanitized Skill File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6583680" y="3803904"/>
            <a:ext cx="182880" cy="164592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12280" y="3767328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 i="1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Submitted to Mgmt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63440" y="4114800"/>
            <a:ext cx="1828800" cy="292608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63440" y="4114800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 i="0">
                <a:solidFill>
                  <a:srgbClr val="1E2761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Real Skill File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6583680" y="4151376"/>
            <a:ext cx="182880" cy="164592"/>
          </a:xfrm>
          <a:prstGeom prst="rightArrow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4114800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900" b="0" i="1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Kept Private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4526280"/>
            <a:ext cx="9144000" cy="347472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4544568"/>
            <a:ext cx="82296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 i="1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Research Implication: Skill files as an attack surface — specification-consistent inputs that violate a skill’s declared security boundaries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4873752"/>
            <a:ext cx="4572000" cy="2697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750" b="0" i="0">
                <a:solidFill>
                  <a:srgbClr val="8895A7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CS292C · Formal Methods for Agentic Programming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4873752"/>
            <a:ext cx="640080" cy="2697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50">
                <a:solidFill>
                  <a:srgbClr val="8895A7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98042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CCB2011-72B7-604E-9167-01021BEF51E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8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  <a:ea typeface="Georgia"/>
                <a:cs typeface="Georgia"/>
              </a:defRPr>
            </a:pPr>
            <a:r>
              <a:rPr lang="en-US" sz="2200" b="1" dirty="0">
                <a:solidFill>
                  <a:srgbClr val="1A1A2E"/>
                </a:solidFill>
                <a:latin typeface="Georgia"/>
                <a:ea typeface="Georgia"/>
                <a:cs typeface="Georgia"/>
              </a:rPr>
              <a:t>Anti-Distillation: Formal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 i="1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1100" b="0" i="1" dirty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rPr>
              <a:t>Why this breaks our current skill model — and what it means for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51560"/>
            <a:ext cx="4023360" cy="2011680"/>
          </a:xfrm>
          <a:prstGeom prst="roundRect">
            <a:avLst/>
          </a:prstGeom>
          <a:solidFill>
            <a:srgbClr val="FFFFFF"/>
          </a:solidFill>
          <a:ln w="6350" cap="flat" cmpd="sng" algn="ctr">
            <a:solidFill>
              <a:srgbClr val="E8E0DC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rPr>
              <a:t>The Specification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3840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lang="en-US" sz="1050" b="0" i="0" dirty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rPr>
              <a:t>The anti-distillation skill is specification-consistent: it satisfies every declared postcondition in the SKILL.md.</a:t>
            </a:r>
          </a:p>
          <a:p>
            <a:pPr algn="l">
              <a:spcAft>
                <a:spcPts val="800"/>
              </a:spcAft>
            </a:pPr>
            <a:r>
              <a:rPr lang="en-US" sz="1050" b="0" i="0" dirty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rPr>
              <a:t>Yet it deliberately violates the skill's intended purpose — the gap between what's specified and what's meant.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356616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lang="en-US" sz="1000" b="0" i="0" dirty="0">
                <a:solidFill>
                  <a:srgbClr val="8895A7"/>
                </a:solidFill>
                <a:latin typeface="Consolas"/>
                <a:ea typeface="Consolas"/>
                <a:cs typeface="Consolas"/>
              </a:rPr>
              <a:t>{ P: valid_skill_file(input) }</a:t>
            </a:r>
          </a:p>
          <a:p>
            <a:pPr algn="l">
              <a:spcAft>
                <a:spcPts val="400"/>
              </a:spcAft>
            </a:pPr>
            <a:r>
              <a:rPr lang="en-US" sz="1000" b="1" i="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anti_distill(input)  →  output</a:t>
            </a:r>
          </a:p>
          <a:p>
            <a:pPr algn="l">
              <a:spcAft>
                <a:spcPts val="400"/>
              </a:spcAft>
            </a:pPr>
            <a:r>
              <a:rPr lang="en-US" sz="1000" b="0" i="0" dirty="0">
                <a:solidFill>
                  <a:srgbClr val="E67E22"/>
                </a:solidFill>
                <a:latin typeface="Consolas"/>
                <a:ea typeface="Consolas"/>
                <a:cs typeface="Consolas"/>
              </a:rPr>
              <a:t>{ Q: valid_skill_file(output) ∧ ¬preserves_knowledge(output) 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051560"/>
            <a:ext cx="4297680" cy="2011680"/>
          </a:xfrm>
          <a:prstGeom prst="roundRect">
            <a:avLst/>
          </a:prstGeom>
          <a:solidFill>
            <a:srgbClr val="FFFFFF"/>
          </a:solidFill>
          <a:ln w="6350" cap="flat" cmpd="sng" algn="ctr">
            <a:solidFill>
              <a:srgbClr val="E8E0DC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143000"/>
            <a:ext cx="4023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rPr>
              <a:t>Key Lessons for Skill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463040"/>
            <a:ext cx="402336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300"/>
              </a:spcAft>
            </a:pPr>
            <a:r>
              <a:rPr lang="en-US" sz="1100" b="1" i="0" dirty="0">
                <a:solidFill>
                  <a:srgbClr val="E67E22"/>
                </a:solidFill>
                <a:latin typeface="Trebuchet MS" pitchFamily="34" charset="0"/>
                <a:ea typeface="Trebuchet MS"/>
                <a:cs typeface="Trebuchet MS"/>
              </a:rPr>
              <a:t>▶  Postcondition completeness</a:t>
            </a:r>
          </a:p>
          <a:p>
            <a:pPr algn="l">
              <a:spcAft>
                <a:spcPts val="300"/>
              </a:spcAft>
            </a:pPr>
            <a:r>
              <a:rPr lang="en-US" sz="1000" b="0" i="0" dirty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rPr>
              <a:t>Q must capture intent, not just structural validity. A skill can pass every check and still be adversarial.</a:t>
            </a:r>
          </a:p>
          <a:p>
            <a:pPr algn="l">
              <a:spcAft>
                <a:spcPts val="300"/>
              </a:spcAft>
            </a:pPr>
            <a:r>
              <a:rPr lang="en-US" sz="1100" b="1" i="0" dirty="0">
                <a:solidFill>
                  <a:srgbClr val="E67E22"/>
                </a:solidFill>
                <a:latin typeface="Trebuchet MS" pitchFamily="34" charset="0"/>
                <a:ea typeface="Trebuchet MS"/>
                <a:cs typeface="Trebuchet MS"/>
              </a:rPr>
              <a:t>▶  Information-theoretic invariants</a:t>
            </a:r>
          </a:p>
          <a:p>
            <a:pPr algn="l">
              <a:spcAft>
                <a:spcPts val="300"/>
              </a:spcAft>
            </a:pPr>
            <a:r>
              <a:rPr lang="en-US" sz="1000" b="0" i="0" dirty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rPr>
              <a:t>Need to verify: knowledge_content(output) ≥ knowledge_content(input). Current Hoare logic can't express this.</a:t>
            </a:r>
          </a:p>
          <a:p>
            <a:pPr algn="l">
              <a:spcAft>
                <a:spcPts val="300"/>
              </a:spcAft>
            </a:pPr>
            <a:r>
              <a:rPr lang="en-US" sz="1100" b="1" i="0" dirty="0">
                <a:solidFill>
                  <a:srgbClr val="E67E22"/>
                </a:solidFill>
                <a:latin typeface="Trebuchet MS" pitchFamily="34" charset="0"/>
                <a:ea typeface="Trebuchet MS"/>
                <a:cs typeface="Trebuchet MS"/>
              </a:rPr>
              <a:t>▶  Adversarial skill composition</a:t>
            </a:r>
          </a:p>
          <a:p>
            <a:pPr algn="l">
              <a:spcAft>
                <a:spcPts val="300"/>
              </a:spcAft>
            </a:pPr>
            <a:r>
              <a:rPr lang="en-US" sz="1000" b="0" i="0" dirty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rPr>
              <a:t>When skills are composed in a pipeline, one adversarial skill can degrade the entire chain.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246120"/>
            <a:ext cx="8503920" cy="1097280"/>
          </a:xfrm>
          <a:prstGeom prst="roundRect">
            <a:avLst/>
          </a:prstGeom>
          <a:solidFill>
            <a:srgbClr val="FFFFFF"/>
          </a:solidFill>
          <a:ln w="6350" cap="flat" cmpd="sng" algn="ctr">
            <a:solidFill>
              <a:srgbClr val="E8E0DC"/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8229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 i="0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rPr>
              <a:t>Connection to Course Themes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25603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 i="0">
                <a:solidFill>
                  <a:srgbClr val="E67E22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1000" b="1" dirty="0">
                <a:solidFill>
                  <a:srgbClr val="E67E22"/>
                </a:solidFill>
                <a:latin typeface="Trebuchet MS" pitchFamily="34" charset="0"/>
                <a:ea typeface="Trebuchet MS"/>
                <a:cs typeface="Trebuchet MS"/>
              </a:rPr>
              <a:t>Lecture 6 — Hoare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4048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 i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rPr>
              <a:t>Can {P} C {Q} detect anti-distillation if Q only checks format?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611880"/>
            <a:ext cx="25603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 i="0">
                <a:solidFill>
                  <a:srgbClr val="E67E22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1000" b="1" dirty="0">
                <a:solidFill>
                  <a:srgbClr val="E67E22"/>
                </a:solidFill>
                <a:latin typeface="Trebuchet MS" pitchFamily="34" charset="0"/>
                <a:ea typeface="Trebuchet MS"/>
                <a:cs typeface="Trebuchet MS"/>
              </a:rPr>
              <a:t>Lecture 12 — 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4048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 i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rPr>
              <a:t>ClawHavoc attacked installation; anti-distillation attacks content.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611880"/>
            <a:ext cx="25603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 i="0">
                <a:solidFill>
                  <a:srgbClr val="E67E22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1000" b="1" dirty="0">
                <a:solidFill>
                  <a:srgbClr val="E67E22"/>
                </a:solidFill>
                <a:latin typeface="Trebuchet MS" pitchFamily="34" charset="0"/>
                <a:ea typeface="Trebuchet MS"/>
                <a:cs typeface="Trebuchet MS"/>
              </a:rPr>
              <a:t>Lecture 14 — Permission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840480"/>
            <a:ext cx="25603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 i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950" dirty="0">
                <a:solidFill>
                  <a:srgbClr val="4A5568"/>
                </a:solidFill>
                <a:latin typeface="Trebuchet MS" pitchFamily="34" charset="0"/>
                <a:ea typeface="Trebuchet MS"/>
                <a:cs typeface="Trebuchet MS"/>
              </a:rPr>
              <a:t>read_only + write_local can't prevent knowledge stripping.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526280"/>
            <a:ext cx="9144000" cy="347472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544568"/>
            <a:ext cx="8229600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1000" b="0" i="1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1000" b="0" i="1" dirty="0">
                <a:solidFill>
                  <a:srgbClr val="C0392B"/>
                </a:solidFill>
                <a:latin typeface="Trebuchet MS" pitchFamily="34" charset="0"/>
                <a:ea typeface="Trebuchet MS"/>
                <a:cs typeface="Trebuchet MS"/>
              </a:rPr>
              <a:t>This case study bridges Part I (skill anatomy) and Part II (formal verification) — showing why specification alone is insufficient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ED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873752"/>
            <a:ext cx="4572000" cy="2697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defRPr sz="750" b="0" i="0">
                <a:solidFill>
                  <a:srgbClr val="8895A7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/>
                <a:cs typeface="Trebuchet MS"/>
              </a:rPr>
              <a:t>CS292C · Formal Methods for Agentic Programming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873752"/>
            <a:ext cx="640080" cy="2697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defRPr sz="750" b="0" i="0">
                <a:solidFill>
                  <a:srgbClr val="8895A7"/>
                </a:solidFill>
                <a:latin typeface="Trebuchet MS" pitchFamily="34" charset="0"/>
                <a:ea typeface="Trebuchet MS"/>
                <a:cs typeface="Trebuchet MS"/>
              </a:defRPr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/>
                <a:cs typeface="Trebuchet M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093507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solidFill>
            <a:srgbClr val="C0392B"/>
          </a:solidFill>
          <a:ln w="12700"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Trebuchet MS" pitchFamily="34" charset="-122"/>
                <a:cs typeface="Trebuchet MS" pitchFamily="34" charset="-120"/>
              </a:rPr>
              <a:t>The GATE Taxonomy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2230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Classifying what a skill does in the world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4023360" cy="1828800"/>
          </a:xfrm>
          <a:solidFill>
            <a:srgbClr val="FFFFFF"/>
          </a:solidFill>
          <a:ln w="9525"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841248"/>
            <a:ext cx="4023360" cy="45720"/>
          </a:xfrm>
          <a:solidFill>
            <a:srgbClr val="C0392B"/>
          </a:solidFill>
          <a:ln w="12700"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932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88720" y="9509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3767328" cy="18288"/>
          </a:xfrm>
          <a:solidFill>
            <a:srgbClr val="E8E0DC"/>
          </a:soli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1709928"/>
            <a:ext cx="3730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Anchor the agent in environment state. Read docs, inspect repos, understand context. Read-only, low risk.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841248"/>
            <a:ext cx="4023360" cy="1828800"/>
          </a:xfrm>
          <a:solidFill>
            <a:srgbClr val="FFFFFF"/>
          </a:solidFill>
          <a:ln w="9525"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841248"/>
            <a:ext cx="4023360" cy="45720"/>
          </a:xfrm>
          <a:solidFill>
            <a:srgbClr val="E67E22"/>
          </a:soli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932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577840" y="95097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92040" y="1627632"/>
            <a:ext cx="3767328" cy="18288"/>
          </a:xfrm>
          <a:solidFill>
            <a:srgbClr val="E8E0DC"/>
          </a:soli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1709928"/>
            <a:ext cx="3730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the world. Edit files, run tests, call write APIs. Requires write_local or network permission.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4023360" cy="1828800"/>
          </a:xfrm>
          <a:solidFill>
            <a:srgbClr val="FFFFFF"/>
          </a:solidFill>
          <a:ln w="9525"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4023360" cy="45720"/>
          </a:xfrm>
          <a:solidFill>
            <a:srgbClr val="1A1A2E"/>
          </a:solidFill>
          <a:ln w="12700"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9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1188720" y="2944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" y="3621024"/>
            <a:ext cx="3767328" cy="18288"/>
          </a:xfrm>
          <a:solidFill>
            <a:srgbClr val="E8E0DC"/>
          </a:soli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3703320"/>
            <a:ext cx="3730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 and transform information within the agent’s context. Summarize, reformat, translate. Stateless, idempotent.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834640"/>
            <a:ext cx="4023360" cy="1828800"/>
          </a:xfrm>
          <a:solidFill>
            <a:srgbClr val="FFFFFF"/>
          </a:solidFill>
          <a:ln w="9525"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834640"/>
            <a:ext cx="4023360" cy="45720"/>
          </a:xfrm>
          <a:solidFill>
            <a:srgbClr val="8895A7"/>
          </a:soli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895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577840" y="29443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Exchange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92040" y="3621024"/>
            <a:ext cx="3767328" cy="18288"/>
          </a:xfrm>
          <a:solidFill>
            <a:srgbClr val="E8E0DC"/>
          </a:soli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9472" y="3703320"/>
            <a:ext cx="3730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 with external systems. Fetch live data, post results, coordinate with other agents. Crosses the trust boundary.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24528" y="270000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895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0" y="4956048"/>
            <a:ext cx="9144000" cy="187452"/>
          </a:xfrm>
          <a:solidFill>
            <a:srgbClr val="EDEFF3"/>
          </a:soli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478041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— Grounding &amp;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023360" cy="3822192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02336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914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  </a:t>
            </a:r>
            <a:r>
              <a:rPr lang="en-US" sz="18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898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Anchor the agent in environment state — before acting, understand the terrain.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read_codebase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33472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repo structure into context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understand_schema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33472" y="2441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 database tables &amp; types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load_style_guide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33472" y="2944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 coding standards for review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520440"/>
            <a:ext cx="3703320" cy="18288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358444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 scope: read_only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Risk: low — no side effects on environment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804672"/>
            <a:ext cx="4023360" cy="3822192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804672"/>
            <a:ext cx="402336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914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 </a:t>
            </a:r>
            <a:r>
              <a:rPr lang="en-US" sz="18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19472" y="13898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the world — modify state, write files, call write APIs.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edit_file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code changes to disk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run_tests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2441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 test suite, capture output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create_pr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2944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Push branch and open pull request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19472" y="3520440"/>
            <a:ext cx="3703320" cy="18288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472" y="358444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Permission: write_local or network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Risk: side-effects — preconditions matter most here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— Transfer &amp; Exchange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023360" cy="3822192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02336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914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 </a:t>
            </a:r>
            <a:r>
              <a:rPr lang="en-US" sz="1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30352" y="13898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 and transform information within the agent’s context. Generally stateless and idempotent.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summarize_pr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24912" y="19385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Condense PR diff into key points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441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convert_to_json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24912" y="24414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Reformat CSV or YAML to JSON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9443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translate_comment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24912" y="29443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Translate code comments to English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520440"/>
            <a:ext cx="3703320" cy="18288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358444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Permission: read_only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Risk: low — output stays within agent context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804672"/>
            <a:ext cx="4023360" cy="3822192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804672"/>
            <a:ext cx="4023360" cy="45720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9144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 </a:t>
            </a:r>
            <a:r>
              <a:rPr lang="en-US" sz="1800" b="1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Exchange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19472" y="138988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 with external systems. Crosses the trust boundary — untrusted data enters the agent’s context.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938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5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search_web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193852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 and parse web results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441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5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post_slack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24414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 message to a team channel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944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5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query_database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2944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 SQL and return rows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19472" y="3520440"/>
            <a:ext cx="3703320" cy="18288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472" y="358444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Permission: network required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Risk: highest — external mutations + prompt injection via fetched content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vs Tools vs Prompts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240280" cy="402336"/>
          </a:xfrm>
          <a:prstGeom prst="rect">
            <a:avLst/>
          </a:prstGeom>
          <a:solidFill>
            <a:srgbClr val="FAFBFD"/>
          </a:solidFill>
          <a:ln w="63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651760" y="804672"/>
            <a:ext cx="2240280" cy="402336"/>
          </a:xfrm>
          <a:prstGeom prst="rect">
            <a:avLst/>
          </a:prstGeom>
          <a:solidFill>
            <a:srgbClr val="1B2A4A"/>
          </a:solidFill>
          <a:ln w="63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82296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804672"/>
            <a:ext cx="2240280" cy="402336"/>
          </a:xfrm>
          <a:prstGeom prst="rect">
            <a:avLst/>
          </a:prstGeom>
          <a:solidFill>
            <a:srgbClr val="1B2A4A"/>
          </a:solidFill>
          <a:ln w="63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82296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23760" y="804672"/>
            <a:ext cx="1691640" cy="402336"/>
          </a:xfrm>
          <a:prstGeom prst="rect">
            <a:avLst/>
          </a:prstGeom>
          <a:solidFill>
            <a:srgbClr val="1B2A4A"/>
          </a:solidFill>
          <a:ln w="63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0" y="82296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243584"/>
            <a:ext cx="2240280" cy="475488"/>
          </a:xfrm>
          <a:prstGeom prst="rect">
            <a:avLst/>
          </a:prstGeom>
          <a:solidFill>
            <a:srgbClr val="EDEFF3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307592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of reuse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51760" y="1243584"/>
            <a:ext cx="22402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0" y="1307592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message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243584"/>
            <a:ext cx="22402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307592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call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3760" y="1243584"/>
            <a:ext cx="1691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0" y="1307592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workflow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1755648"/>
            <a:ext cx="2240280" cy="475488"/>
          </a:xfrm>
          <a:prstGeom prst="rect">
            <a:avLst/>
          </a:prstGeom>
          <a:solidFill>
            <a:srgbClr val="EDEFF3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1819656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Carries permissions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51760" y="1755648"/>
            <a:ext cx="2240280" cy="475488"/>
          </a:xfrm>
          <a:prstGeom prst="rect">
            <a:avLst/>
          </a:prstGeom>
          <a:solidFill>
            <a:srgbClr val="FAFBFD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0" y="1819656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1755648"/>
            <a:ext cx="2240280" cy="475488"/>
          </a:xfrm>
          <a:prstGeom prst="rect">
            <a:avLst/>
          </a:prstGeom>
          <a:solidFill>
            <a:srgbClr val="FAFBFD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0" y="1819656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23760" y="1755648"/>
            <a:ext cx="1691640" cy="475488"/>
          </a:xfrm>
          <a:prstGeom prst="rect">
            <a:avLst/>
          </a:prstGeom>
          <a:solidFill>
            <a:srgbClr val="FAFBFD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0" y="181965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Yes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267712"/>
            <a:ext cx="2240280" cy="475488"/>
          </a:xfrm>
          <a:prstGeom prst="rect">
            <a:avLst/>
          </a:prstGeom>
          <a:solidFill>
            <a:srgbClr val="EDEFF3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2331720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651760" y="2267712"/>
            <a:ext cx="22402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0" y="2331720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267712"/>
            <a:ext cx="22402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0" y="2331720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23760" y="2267712"/>
            <a:ext cx="1691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0" y="2331720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Yes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779776"/>
            <a:ext cx="2240280" cy="475488"/>
          </a:xfrm>
          <a:prstGeom prst="rect">
            <a:avLst/>
          </a:prstGeom>
          <a:solidFill>
            <a:srgbClr val="EDEFF3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2843784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Formally auditable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651760" y="2779776"/>
            <a:ext cx="2240280" cy="475488"/>
          </a:xfrm>
          <a:prstGeom prst="rect">
            <a:avLst/>
          </a:prstGeom>
          <a:solidFill>
            <a:srgbClr val="FAFBFD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0" y="2843784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2779776"/>
            <a:ext cx="2240280" cy="475488"/>
          </a:xfrm>
          <a:prstGeom prst="rect">
            <a:avLst/>
          </a:prstGeom>
          <a:solidFill>
            <a:srgbClr val="FAFBFD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0" y="2843784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223760" y="2779776"/>
            <a:ext cx="1691640" cy="475488"/>
          </a:xfrm>
          <a:prstGeom prst="rect">
            <a:avLst/>
          </a:prstGeom>
          <a:solidFill>
            <a:srgbClr val="FAFBFD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15200" y="2843784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Yes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291840"/>
            <a:ext cx="2240280" cy="475488"/>
          </a:xfrm>
          <a:prstGeom prst="rect">
            <a:avLst/>
          </a:prstGeom>
          <a:solidFill>
            <a:srgbClr val="EDEFF3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3355848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Registry discovery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651760" y="3291840"/>
            <a:ext cx="22402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0" y="3355848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37760" y="3291840"/>
            <a:ext cx="22402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29200" y="3355848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223760" y="3291840"/>
            <a:ext cx="1691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15200" y="3355848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Yes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3803904"/>
            <a:ext cx="2240280" cy="475488"/>
          </a:xfrm>
          <a:prstGeom prst="rect">
            <a:avLst/>
          </a:prstGeom>
          <a:solidFill>
            <a:srgbClr val="EDEFF3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57200" y="3867912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suite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651760" y="3803904"/>
            <a:ext cx="2240280" cy="475488"/>
          </a:xfrm>
          <a:prstGeom prst="rect">
            <a:avLst/>
          </a:prstGeom>
          <a:solidFill>
            <a:srgbClr val="FAFBFD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743200" y="3867912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937760" y="3803904"/>
            <a:ext cx="2240280" cy="475488"/>
          </a:xfrm>
          <a:prstGeom prst="rect">
            <a:avLst/>
          </a:prstGeom>
          <a:solidFill>
            <a:srgbClr val="FAFBFD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29200" y="3867912"/>
            <a:ext cx="2075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223760" y="3803904"/>
            <a:ext cx="1691640" cy="475488"/>
          </a:xfrm>
          <a:prstGeom prst="rect">
            <a:avLst/>
          </a:prstGeom>
          <a:solidFill>
            <a:srgbClr val="FAFBFD"/>
          </a:solidFill>
          <a:ln w="508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315200" y="3867912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Yes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65760" y="46634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score high on all governance dimensions — this is what makes them the natural unit of formal reasoning.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as Formal Specifications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SKILL.md structure already contains the ingredients of a formal spec: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5720" cy="548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2070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</a:rPr>
              <a:t>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03320" y="12070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Precondition (natural language P)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8412480" cy="548640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1700784"/>
            <a:ext cx="4572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810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 field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810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</a:rPr>
              <a:t>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 invariant (allowed effects)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304288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4572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4140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4140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</a:rPr>
              <a:t>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03320" y="24140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Guarded procedure body 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907792"/>
            <a:ext cx="8412480" cy="548640"/>
          </a:xfrm>
          <a:prstGeom prst="rect">
            <a:avLst/>
          </a:prstGeom>
          <a:solidFill>
            <a:srgbClr val="FAFBFD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907792"/>
            <a:ext cx="4572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017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0" y="3017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</a:rPr>
              <a:t>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03320" y="3017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test cases (P ⇒ Q witnesses)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511296"/>
            <a:ext cx="8412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511296"/>
            <a:ext cx="45720" cy="548640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621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suite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36210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EC0"/>
                </a:solidFill>
              </a:rPr>
              <a:t>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03320" y="36210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postcondition witnesses Q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4251960"/>
            <a:ext cx="8412480" cy="457200"/>
          </a:xfrm>
          <a:prstGeom prst="rect">
            <a:avLst/>
          </a:prstGeom>
          <a:solidFill>
            <a:srgbClr val="D4EEEE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3068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Lecture 6 (Hoare Logic I) we write this explicitly as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43068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P }  skill_body  { Q }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86600" y="4306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skills become the unit of proof.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SKILL.md to a Hoare Triple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7498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Concrete example: the read_file skill from Slide 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4864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411480" cy="4114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170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51560" y="1444752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∈ allowed_dirs  ∧  file_exists(path)  ∧  permissions = read_only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965960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54864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" y="2103120"/>
            <a:ext cx="411480" cy="4114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039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(skill body)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2313432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read_file(path)  →  contents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54864" cy="7132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2971800"/>
            <a:ext cx="411480" cy="4114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2907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Postcondition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51560" y="3182112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file_contents(path)  ∧  filesystem_unchanged  ∧  no_network_calls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8412480" cy="868680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the skill secretly has network write?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41148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filesystem_unchanged is violated. Q does not hold. The Hoare triple fails — motivating the VCG work in Lecture 7 and the permission auditing in Lecture 14.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HW1 — Build &amp; Test an Agent Skill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09728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solidFill>
            <a:srgbClr val="D4EEEE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59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Out: Today (April 7)     ·     Due: Lecture 6 (April 16)     ·     Weight: 10%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17904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517904"/>
            <a:ext cx="402336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1627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 SKILL.md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9933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frontmatter: name, description, tools, permissions, version, tags. Follow the anatomy from Slide 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1517904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20640" y="1517904"/>
            <a:ext cx="402336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85232" y="1627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Multi-step Workflow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85232" y="19933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least 3 numbered steps that chain together two or more tool calls. Demonstrate real task decomposition.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63824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4023360" cy="45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273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Eval Suite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63931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least 5 test cases: ≥2 success paths, ≧1 failure mode (invalid input), ≧1 edge case (empty/null).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3163824"/>
            <a:ext cx="402336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DEFF3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120640" y="3163824"/>
            <a:ext cx="4023360" cy="45720"/>
          </a:xfrm>
          <a:prstGeom prst="rect">
            <a:avLst/>
          </a:prstGeom>
          <a:solidFill>
            <a:srgbClr val="6C5B7B"/>
          </a:solidFill>
          <a:ln w="12700">
            <a:solidFill>
              <a:srgbClr val="6C5B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85232" y="3273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B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 Justification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85232" y="363931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One-page writeup: why you chose your permission scope, what the skill can and cannot do, and one attack you mitigated.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681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Platform: Claude Code (preferred) or any MCP-compatible runtime. Starter template and example skills on course site.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DEFF3"/>
          </a:solidFill>
          <a:ln w="12700">
            <a:solidFill>
              <a:srgbClr val="EDEF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95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in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1E2B40"/>
          </a:solidFill>
          <a:ln w="9525">
            <a:solidFill>
              <a:srgbClr val="2A3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54864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850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= Policy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97480" y="8503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skill is not just a saved prompt. It carries permissions, provenance, steps, and an eval suite — the first governable unit in the stack.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527048"/>
            <a:ext cx="8412480" cy="658368"/>
          </a:xfrm>
          <a:prstGeom prst="rect">
            <a:avLst/>
          </a:prstGeom>
          <a:solidFill>
            <a:srgbClr val="1E2B40"/>
          </a:solidFill>
          <a:ln w="9525">
            <a:solidFill>
              <a:srgbClr val="2A3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527048"/>
            <a:ext cx="54864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6002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SKILL.md Format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97480" y="1600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Frontmatter + procedure + examples + eval. Each section serves a different consumer: runtime, developer, or auditor.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276856"/>
            <a:ext cx="8412480" cy="658368"/>
          </a:xfrm>
          <a:prstGeom prst="rect">
            <a:avLst/>
          </a:prstGeom>
          <a:solidFill>
            <a:srgbClr val="1E2B40"/>
          </a:solidFill>
          <a:ln w="9525">
            <a:solidFill>
              <a:srgbClr val="2A3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276856"/>
            <a:ext cx="54864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350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GATE Taxonomy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97480" y="23500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· Action · Transfer · Exchange. GATE type predicts risk profile and required permission scope.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26664"/>
            <a:ext cx="8412480" cy="658368"/>
          </a:xfrm>
          <a:prstGeom prst="rect">
            <a:avLst/>
          </a:prstGeom>
          <a:solidFill>
            <a:srgbClr val="1E2B40"/>
          </a:solidFill>
          <a:ln w="9525">
            <a:solidFill>
              <a:srgbClr val="2A3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026664"/>
            <a:ext cx="54864" cy="6583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0998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are Verifiable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97480" y="30998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description ⇒ P, steps ⇒ C, eval suite ⇒ Q. In Lecture 6 we write {P} skill {Q} — skills become the unit of formal proof.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858768"/>
            <a:ext cx="8412480" cy="822960"/>
          </a:xfrm>
          <a:prstGeom prst="rect">
            <a:avLst/>
          </a:prstGeom>
          <a:solidFill>
            <a:srgbClr val="14263A"/>
          </a:solidFill>
          <a:ln w="952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95020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Lecture 4 — Multi-Agent Orchestration &amp; Workflow Patterns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42793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E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 delegation · pipeline / coordinator / generator-critic / human-in-the-loop  ·  attention degradation and role structure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41E30"/>
          </a:solidFill>
          <a:ln w="12700">
            <a:solidFill>
              <a:srgbClr val="141E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956048"/>
            <a:ext cx="54864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CS292C · Formal Methods for Agentic Programming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8229600" y="4956048"/>
            <a:ext cx="45720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A5C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22904FC-9C3D-E048-8682-0FA1D3636A5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25cad297-9758-411a-ae2c-220d2a1918f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2847</Words>
  <Application>Microsoft Macintosh PowerPoint</Application>
  <PresentationFormat>On-screen Show (16:9)</PresentationFormat>
  <Paragraphs>470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Consolas</vt:lpstr>
      <vt:lpstr>Courier New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3: Agent Skills as Executable Infrastructure</dc:title>
  <dc:subject>PptxGenJS Presentation</dc:subject>
  <dc:creator>Yu Feng</dc:creator>
  <cp:lastModifiedBy>YU FENG</cp:lastModifiedBy>
  <cp:revision>3</cp:revision>
  <dcterms:created xsi:type="dcterms:W3CDTF">2026-03-30T01:04:31Z</dcterms:created>
  <dcterms:modified xsi:type="dcterms:W3CDTF">2026-04-08T01:19:47Z</dcterms:modified>
</cp:coreProperties>
</file>