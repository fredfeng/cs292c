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61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Programming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 for Agentic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18288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1  ·  March 31,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Feng  ·  UC Santa Barbara  ·  Department of Computer Science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FDB3B1-2AB2-E5C8-E16F-DC8589AE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88" y="2409572"/>
            <a:ext cx="1485772" cy="1485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Instructor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Feng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Associate Professor, Department of Computer Science · UC Santa Barbara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128000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8000" y="1828800"/>
            <a:ext cx="38100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8000" y="1828800"/>
            <a:ext cx="3810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0400" y="1965960"/>
            <a:ext cx="350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" y="2331720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Formal methods &amp; program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400" y="2770632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Security: blockchain, AI agents, cryptography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0400" y="3209544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Program synthesis &amp; static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0400" y="3648456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Best paper awards at PL/SE/HCI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26000" y="1828800"/>
            <a:ext cx="38100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26000" y="1828800"/>
            <a:ext cx="381000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78400" y="1965960"/>
            <a:ext cx="350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Entrepreneurship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78400" y="2331720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Multiple C-suite titles across 4 startups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8400" y="2770632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Hundreds of millions to multi-billion-dollar ventures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8400" y="3209544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Bridging academic research with industry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8400" y="3648456"/>
            <a:ext cx="350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Deep experience shipping production systems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09542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opBar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Bar"/>
          <p:cNvSpPr/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ectionLabel"/>
          <p:cNvSpPr/>
          <p:nvPr/>
        </p:nvSpPr>
        <p:spPr>
          <a:xfrm>
            <a:off x="508000" y="177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7C7B"/>
                </a:solidFill>
                <a:latin typeface="Trebuchet MS" pitchFamily="34" charset="0"/>
              </a:rPr>
              <a:t>CS292C</a:t>
            </a:r>
          </a:p>
        </p:txBody>
      </p:sp>
      <p:sp>
        <p:nvSpPr>
          <p:cNvPr id="104" name="Title"/>
          <p:cNvSpPr/>
          <p:nvPr/>
        </p:nvSpPr>
        <p:spPr>
          <a:xfrm>
            <a:off x="508000" y="457200"/>
            <a:ext cx="444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</a:rPr>
              <a:t>Meet Your TA</a:t>
            </a:r>
          </a:p>
        </p:txBody>
      </p:sp>
      <p:sp>
        <p:nvSpPr>
          <p:cNvPr id="105" name="Divider"/>
          <p:cNvSpPr/>
          <p:nvPr/>
        </p:nvSpPr>
        <p:spPr>
          <a:xfrm>
            <a:off x="508000" y="990600"/>
            <a:ext cx="109220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ubtitle"/>
          <p:cNvSpPr/>
          <p:nvPr/>
        </p:nvSpPr>
        <p:spPr>
          <a:xfrm>
            <a:off x="508000" y="11176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C7A"/>
                </a:solidFill>
                <a:latin typeface="Trebuchet MS" pitchFamily="34" charset="0"/>
              </a:rPr>
              <a:t>Since UCSB doesn't assign TAs for graduate courses...</a:t>
            </a:r>
          </a:p>
        </p:txBody>
      </p:sp>
      <p:sp>
        <p:nvSpPr>
          <p:cNvPr id="107" name="TAName"/>
          <p:cNvSpPr/>
          <p:nvPr/>
        </p:nvSpPr>
        <p:spPr>
          <a:xfrm>
            <a:off x="508000" y="1422400"/>
            <a:ext cx="444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</a:rPr>
              <a:t>Claude Code</a:t>
            </a:r>
          </a:p>
        </p:txBody>
      </p:sp>
      <p:sp>
        <p:nvSpPr>
          <p:cNvPr id="108" name="Badge"/>
          <p:cNvSpPr/>
          <p:nvPr/>
        </p:nvSpPr>
        <p:spPr>
          <a:xfrm>
            <a:off x="508000" y="1930400"/>
            <a:ext cx="1930400" cy="27940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</a:rPr>
              <a:t>AI Teaching Assistant</a:t>
            </a:r>
          </a:p>
        </p:txBody>
      </p:sp>
      <p:sp>
        <p:nvSpPr>
          <p:cNvPr id="109" name="Tagline"/>
          <p:cNvSpPr/>
          <p:nvPr/>
        </p:nvSpPr>
        <p:spPr>
          <a:xfrm>
            <a:off x="508000" y="22860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</a:rPr>
              <a:t>Powered by Anthropic  ·  Available 24/7  ·  Never needs coffee</a:t>
            </a:r>
          </a:p>
        </p:txBody>
      </p:sp>
      <p:sp>
        <p:nvSpPr>
          <p:cNvPr id="110" name="Card0Bg"/>
          <p:cNvSpPr/>
          <p:nvPr/>
        </p:nvSpPr>
        <p:spPr>
          <a:xfrm>
            <a:off x="508000" y="2730500"/>
            <a:ext cx="2540000" cy="19685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0Accent"/>
          <p:cNvSpPr/>
          <p:nvPr/>
        </p:nvSpPr>
        <p:spPr>
          <a:xfrm>
            <a:off x="508000" y="2730500"/>
            <a:ext cx="2540000" cy="50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0Icon"/>
          <p:cNvSpPr/>
          <p:nvPr/>
        </p:nvSpPr>
        <p:spPr>
          <a:xfrm>
            <a:off x="635000" y="2908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/&gt;</a:t>
            </a:r>
          </a:p>
        </p:txBody>
      </p:sp>
      <p:sp>
        <p:nvSpPr>
          <p:cNvPr id="113" name="Card0Title"/>
          <p:cNvSpPr/>
          <p:nvPr/>
        </p:nvSpPr>
        <p:spPr>
          <a:xfrm>
            <a:off x="1066800" y="29210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</a:rPr>
              <a:t>Code Review</a:t>
            </a:r>
          </a:p>
        </p:txBody>
      </p:sp>
      <p:sp>
        <p:nvSpPr>
          <p:cNvPr id="114" name="Card0Content"/>
          <p:cNvSpPr/>
          <p:nvPr/>
        </p:nvSpPr>
        <p:spPr>
          <a:xfrm>
            <a:off x="635000" y="3340100"/>
            <a:ext cx="2286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Reviews your code submissions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Explains compiler errors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Suggests improvements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Supports 50+ languages</a:t>
            </a:r>
          </a:p>
        </p:txBody>
      </p:sp>
      <p:sp>
        <p:nvSpPr>
          <p:cNvPr id="120" name="Card1Bg"/>
          <p:cNvSpPr/>
          <p:nvPr/>
        </p:nvSpPr>
        <p:spPr>
          <a:xfrm>
            <a:off x="3238500" y="2730500"/>
            <a:ext cx="2540000" cy="19685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Card1Accent"/>
          <p:cNvSpPr/>
          <p:nvPr/>
        </p:nvSpPr>
        <p:spPr>
          <a:xfrm>
            <a:off x="3238500" y="2730500"/>
            <a:ext cx="2540000" cy="508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Card1Icon"/>
          <p:cNvSpPr/>
          <p:nvPr/>
        </p:nvSpPr>
        <p:spPr>
          <a:xfrm>
            <a:off x="3365500" y="2908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?</a:t>
            </a:r>
          </a:p>
        </p:txBody>
      </p:sp>
      <p:sp>
        <p:nvSpPr>
          <p:cNvPr id="123" name="Card1Title"/>
          <p:cNvSpPr/>
          <p:nvPr/>
        </p:nvSpPr>
        <p:spPr>
          <a:xfrm>
            <a:off x="3797300" y="29210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</a:rPr>
              <a:t>Office Hours</a:t>
            </a:r>
          </a:p>
        </p:txBody>
      </p:sp>
      <p:sp>
        <p:nvSpPr>
          <p:cNvPr id="124" name="Card1Content"/>
          <p:cNvSpPr/>
          <p:nvPr/>
        </p:nvSpPr>
        <p:spPr>
          <a:xfrm>
            <a:off x="3365500" y="3340100"/>
            <a:ext cx="2286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Available around the clock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Answers course questions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Explains formal methods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Infinite patience guaranteed</a:t>
            </a:r>
          </a:p>
        </p:txBody>
      </p:sp>
      <p:sp>
        <p:nvSpPr>
          <p:cNvPr id="130" name="Card2Bg"/>
          <p:cNvSpPr/>
          <p:nvPr/>
        </p:nvSpPr>
        <p:spPr>
          <a:xfrm>
            <a:off x="5969000" y="2730500"/>
            <a:ext cx="2540000" cy="19685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Card2Accent"/>
          <p:cNvSpPr/>
          <p:nvPr/>
        </p:nvSpPr>
        <p:spPr>
          <a:xfrm>
            <a:off x="5969000" y="2730500"/>
            <a:ext cx="2540000" cy="50800"/>
          </a:xfrm>
          <a:prstGeom prst="roundRect">
            <a:avLst>
              <a:gd name="adj" fmla="val 8000"/>
            </a:avLst>
          </a:prstGeom>
          <a:solidFill>
            <a:srgbClr val="C057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Card2Icon"/>
          <p:cNvSpPr/>
          <p:nvPr/>
        </p:nvSpPr>
        <p:spPr>
          <a:xfrm>
            <a:off x="6096000" y="2908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</a:rPr>
              <a:t>!</a:t>
            </a:r>
          </a:p>
        </p:txBody>
      </p:sp>
      <p:sp>
        <p:nvSpPr>
          <p:cNvPr id="133" name="Card2Title"/>
          <p:cNvSpPr/>
          <p:nvPr/>
        </p:nvSpPr>
        <p:spPr>
          <a:xfrm>
            <a:off x="6527800" y="29210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</a:rPr>
              <a:t>Debug Partner</a:t>
            </a:r>
          </a:p>
        </p:txBody>
      </p:sp>
      <p:sp>
        <p:nvSpPr>
          <p:cNvPr id="134" name="Card2Content"/>
          <p:cNvSpPr/>
          <p:nvPr/>
        </p:nvSpPr>
        <p:spPr>
          <a:xfrm>
            <a:off x="6096000" y="3340100"/>
            <a:ext cx="2286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Helps debug your proofs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Walks through examples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Never judges your bugs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</a:rPr>
              <a:t>•  Pair programs with you</a:t>
            </a:r>
          </a:p>
        </p:txBody>
      </p:sp>
      <p:sp>
        <p:nvSpPr>
          <p:cNvPr id="150" name="TerminalBg"/>
          <p:cNvSpPr/>
          <p:nvPr/>
        </p:nvSpPr>
        <p:spPr>
          <a:xfrm>
            <a:off x="5461000" y="381000"/>
            <a:ext cx="3175000" cy="2032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Dot1"/>
          <p:cNvSpPr/>
          <p:nvPr/>
        </p:nvSpPr>
        <p:spPr>
          <a:xfrm>
            <a:off x="5588000" y="4699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Dot2"/>
          <p:cNvSpPr/>
          <p:nvPr/>
        </p:nvSpPr>
        <p:spPr>
          <a:xfrm>
            <a:off x="5727700" y="4699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Dot3"/>
          <p:cNvSpPr/>
          <p:nvPr/>
        </p:nvSpPr>
        <p:spPr>
          <a:xfrm>
            <a:off x="5867400" y="4699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rminalText"/>
          <p:cNvSpPr/>
          <p:nvPr/>
        </p:nvSpPr>
        <p:spPr>
          <a:xfrm>
            <a:off x="5588000" y="660400"/>
            <a:ext cx="2921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7B"/>
                </a:solidFill>
                <a:latin typeface="Consolas" pitchFamily="34" charset="0"/>
              </a:rPr>
              <a:t>$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claude --help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</a:rPr>
              <a:t>Claude Code v1.0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Your AI TA for CS292C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Commands: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 review   </a:t>
            </a: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Review your code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 debug    </a:t>
            </a: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Debug your proofs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 explain  </a:t>
            </a: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Explain concepts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 ask      </a:t>
            </a:r>
            <a:r>
              <a:rPr lang="en-US" sz="900" dirty="0">
                <a:solidFill>
                  <a:srgbClr val="A0AEC0"/>
                </a:solidFill>
                <a:latin typeface="Consolas" pitchFamily="34" charset="0"/>
              </a:rPr>
              <a:t>Ask anything 24/7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900" dirty="0">
                <a:solidFill>
                  <a:srgbClr val="0E7C7B"/>
                </a:solidFill>
                <a:latin typeface="Consolas" pitchFamily="34" charset="0"/>
              </a:rPr>
              <a:t>$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</a:rPr>
              <a:t> █</a:t>
            </a:r>
          </a:p>
        </p:txBody>
      </p:sp>
      <p:sp>
        <p:nvSpPr>
          <p:cNvPr id="160" name="FooterText"/>
          <p:cNvSpPr/>
          <p:nvPr/>
        </p:nvSpPr>
        <p:spPr>
          <a:xfrm>
            <a:off x="508000" y="49657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Trebuchet MS" pitchFamily="34" charset="0"/>
              </a:rPr>
              <a:t>CS292C  ·  The Agentic Programming Revolution  ·  UC Santa Barbara</a:t>
            </a:r>
          </a:p>
        </p:txBody>
      </p:sp>
      <p:pic>
        <p:nvPicPr>
          <p:cNvPr id="161" name="Graphic 161" descr="AI brain icon representing Claude Co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6500" y="1270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Agentic Programming?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8138160" cy="1097280"/>
          </a:xfrm>
          <a:prstGeom prst="rect">
            <a:avLst/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“Programming” is no longer writing code line by line. It is a goal-directed, multi-step interaction where an LLM autonomously decomposes tasks, invokes tools, and refines outputs based on environment feedback.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9019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90195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224028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as Brain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1353312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2651760"/>
            <a:ext cx="16824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Perceives context, reasons via chain-of-thought, decides the next action to take.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87752" y="2103120"/>
            <a:ext cx="19019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87752" y="2103120"/>
            <a:ext cx="190195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62072" y="2578608"/>
            <a:ext cx="1353312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7480" y="2651760"/>
            <a:ext cx="16824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 holds conversation history, tool outputs, and intermediate results.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2103120"/>
            <a:ext cx="19019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2584" y="2103120"/>
            <a:ext cx="190195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82312" y="224028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as Body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46904" y="2578608"/>
            <a:ext cx="1353312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2312" y="2651760"/>
            <a:ext cx="16824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I/O, shell, web search, APIs — tools make the agent’s decisions real.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57416" y="2103120"/>
            <a:ext cx="190195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57416" y="2103120"/>
            <a:ext cx="190195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67144" y="224028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31736" y="2578608"/>
            <a:ext cx="1353312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67144" y="2651760"/>
            <a:ext cx="16824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→ Observe → Reason → Act. Repeats until task complete or budget exceeded.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Agentic Programming Matter?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138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54864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932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9784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that took days now complete in minutes. Agents handle entire workflows end-to-end.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8138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54864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19659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orchestration lets teams tackle problems impossible for a single developer.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8138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54864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907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29535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intent replaces syntax expertise — anyone can direct an agent.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03904"/>
            <a:ext cx="8138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803904"/>
            <a:ext cx="54864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8953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Paradigm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94106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developer shifts from writing code to specifying goals and reviewing AI output.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vs. Agentic Programming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3886200" cy="502920"/>
          </a:xfrm>
          <a:prstGeom prst="rect">
            <a:avLst/>
          </a:prstGeom>
          <a:solidFill>
            <a:srgbClr val="4A5568"/>
          </a:solidFill>
          <a:ln w="9525">
            <a:solidFill>
              <a:srgbClr val="4A556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Programming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886200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Programming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writes code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developer, line by 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4173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agent, guided by natural-language goals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984248"/>
            <a:ext cx="8138160" cy="50292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9842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→ compile → debug → repeat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9842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9842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 goal → agent plans → tools execute → feedback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551176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55117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5511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breakpoints, print statements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255117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5511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self-corrects from tool output &amp; errors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118104"/>
            <a:ext cx="8138160" cy="50292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1181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11810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by human attention &amp; speed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311810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1181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orchestration, parallel execution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685032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685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requirement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36850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syntax &amp; framework knowledge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368503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36850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specification &amp; output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tests, code review, CI/CD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34840" y="42519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methods, runtime guardrails, trace auditing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Programming: By the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3931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22960"/>
            <a:ext cx="54864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194560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professional developers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AI coding tools daily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Overflow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3931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54864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960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prototyping speed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agentic workflows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benchmarks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3931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54864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19456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new code at Google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now AI-generated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3840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Sundar Pichai, 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3931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788920"/>
            <a:ext cx="54864" cy="173736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market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 tools by 2028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Goldman Sachs Research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of all code will be written by AI. The developer’s role is shifting from producer to reviewer and judge of AI-generated code.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371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Dario Amodei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CEO, Anthropic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AI writes 90% of the code — how do we guarantee it’s correct, safe, and secure?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D3E5F"/>
          </a:solidFill>
          <a:ln w="12700">
            <a:solidFill>
              <a:srgbClr val="2D3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Formal Methods: What Goes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8138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914400"/>
            <a:ext cx="7315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8778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ClawHavoc Supply-Chain Attack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15214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Malicious agent skills on public registries exfiltrated SSH keys and credentials. 36% of tested skills contained prompt injection payloads.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9144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Thousands of developer machines compromised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8138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54864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" y="1920240"/>
            <a:ext cx="73152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1920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18836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Samsung Code Leak via AI Copilot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15798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Engineers pasted proprietary source code into an LLM coding assistant. Confidential semiconductor IP entered the model’s training pipeline.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secrets irrecoverably exposed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816352"/>
            <a:ext cx="8138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2816352"/>
            <a:ext cx="54864" cy="86868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2926080"/>
            <a:ext cx="731520" cy="256032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2926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2889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Permission 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16382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 escalated its own permissions via MCP tool chaining — bypassed sandbox restrictions without any human approval.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Unauthorized filesystem &amp; network access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8138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3822192"/>
            <a:ext cx="54864" cy="868680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" y="3931920"/>
            <a:ext cx="731520" cy="256032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38953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Hallucinated Dependencies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08760" y="416966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routinely import non-existent packages. Attackers register those names on npm/PyPI to execute supply-chain attacks at scale.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confusion attacks in the wild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 to the Rescue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8138160" cy="1005840"/>
          </a:xfrm>
          <a:prstGeom prst="rect">
            <a:avLst/>
          </a:prstGeom>
          <a:solidFill>
            <a:srgbClr val="D4EEEE"/>
          </a:solidFill>
          <a:ln w="9525">
            <a:solidFill>
              <a:srgbClr val="0E7C7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formal methods?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Mathematically rigorous techniques for specifying, building, and verifying software and hardware systems. Instead of testing for bugs after the fact, formal methods prove their absence before deployment.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93192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1800" y="2176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(finds bugs)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Runs a finite set of inputs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Can miss rare corner cases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Never proves absence of bugs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785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Post-hoc: discovers problems late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393192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2176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(proves correctness)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5786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Reasons over all possible executions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298094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Covers infinite state spaces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Mathematically guarantees properties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3785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Pre-hoc: catches problems early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Formal Lenses for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course will teach you four complementary techniques: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54864" cy="8412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70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Hoare 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Lectures 6–7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17043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correctness as triples {P} C {Q}: if precondition P holds and command C runs, postcondition Q is guaranteed.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170432"/>
            <a:ext cx="2468880" cy="731520"/>
          </a:xfrm>
          <a:prstGeom prst="rect">
            <a:avLst/>
          </a:prstGeom>
          <a:solidFill>
            <a:srgbClr val="F5F5F0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an agent’s file-edit tool never writes outside its sandbox directory.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075688"/>
            <a:ext cx="54864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1305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 / SMT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423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213055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policies as logical formulas and let a solver (Z3) determine satisfiability or find counter-examples.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130552"/>
            <a:ext cx="2468880" cy="731520"/>
          </a:xfrm>
          <a:prstGeom prst="rect">
            <a:avLst/>
          </a:prstGeom>
          <a:solidFill>
            <a:srgbClr val="F5F5F0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an agent permission policy has no unintended escalation paths.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035808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3035808"/>
            <a:ext cx="54864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0906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33832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309067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code (or agent skills) without running them — taint tracking, dataflow analysis, pattern matching.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090672"/>
            <a:ext cx="2468880" cy="731520"/>
          </a:xfrm>
          <a:prstGeom prst="rect">
            <a:avLst/>
          </a:prstGeom>
          <a:solidFill>
            <a:srgbClr val="F5F5F0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2648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credential-exfiltration patterns in SKILL.md files before installation.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995928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3995928"/>
            <a:ext cx="54864" cy="841248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0507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Checking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" y="43434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40507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Exhaustively explore all possible execution traces of a system against temporal-logic properties (LTL/CTL).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4050792"/>
            <a:ext cx="2468880" cy="731520"/>
          </a:xfrm>
          <a:prstGeom prst="rect">
            <a:avLst/>
          </a:prstGeom>
          <a:solidFill>
            <a:srgbClr val="F5F5F0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4069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2648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every possible agent trace satisfies a safety property: “never access network after reading secrets.”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 × Agentic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agent concepts to formal equivalents: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1381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Concept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115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Equivalent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115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499616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49961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49961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transition 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4996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LLM decision is a state transition; the full execution is a trace.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157984"/>
            <a:ext cx="8138160" cy="59436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1579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15798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Effectful commands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1579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Side-effecting operations with pre/post-conditions, like Hoare triples.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816352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8163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8163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memory / store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816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finite, mutable store that formal analysis can reason about.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8138160" cy="59436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/ plugins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474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specifications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474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units with declared interfaces — verify each module independently.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133088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1330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1330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 processes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as concurrent processes with shared channels — analyze for races &amp; deadlocks.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19385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1938528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" y="13258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298448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175564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1–2 · Lec 1–5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16642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paradigm, Claude API, MCP, skills, orchestration, formal specification.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24328" y="804672"/>
            <a:ext cx="19385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24328" y="804672"/>
            <a:ext cx="1938528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24328" y="9326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II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34056" y="13258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44368" y="1691640"/>
            <a:ext cx="1298448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34056" y="175564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3–5 · Lec 6–10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61488" y="2057400"/>
            <a:ext cx="16642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Hoare logic, VCG, SAT/SMT, static analysis, model checking. Midterm (Lec 11).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5736" y="804672"/>
            <a:ext cx="19385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45736" y="804672"/>
            <a:ext cx="1938528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45736" y="9326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III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55464" y="13258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65776" y="1691640"/>
            <a:ext cx="1298448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55464" y="175564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6–8 · Lec 12–16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82896" y="2057400"/>
            <a:ext cx="16642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landscape, supply-chain attacks, permission escalation, fuzzing, formal defenses.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67144" y="804672"/>
            <a:ext cx="193852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67144" y="804672"/>
            <a:ext cx="1938528" cy="4572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67144" y="93268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IV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76872" y="132588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Frontier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87184" y="1691640"/>
            <a:ext cx="1298448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76872" y="175564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9–10 · Lec 17–20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04304" y="2057400"/>
            <a:ext cx="16642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Hardening, token efficiency, verified agentic systems. Final project presentations.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7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CC960D-0AF2-C1A5-E389-18246D4DD2F2}"/>
              </a:ext>
            </a:extLst>
          </p:cNvPr>
          <p:cNvSpPr txBox="1"/>
          <p:nvPr/>
        </p:nvSpPr>
        <p:spPr>
          <a:xfrm>
            <a:off x="6364224" y="308217"/>
            <a:ext cx="2600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github.com</a:t>
            </a:r>
            <a:r>
              <a:rPr lang="en-US" sz="1200" dirty="0"/>
              <a:t>/</a:t>
            </a:r>
            <a:r>
              <a:rPr lang="en-US" sz="1200" dirty="0" err="1"/>
              <a:t>fredfeng</a:t>
            </a:r>
            <a:r>
              <a:rPr lang="en-US" sz="1200" dirty="0"/>
              <a:t>/CS292C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 &amp; Logistics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3840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54864" cy="1463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133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Feng · HFH 2157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 hours: Tue 1:30–2:30pm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5727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Lecture: T/Th 3:00–4:50pm · Phelps 3526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3840480" cy="1005840"/>
          </a:xfrm>
          <a:prstGeom prst="rect">
            <a:avLst/>
          </a:prstGeom>
          <a:solidFill>
            <a:srgbClr val="E8F8F0"/>
          </a:solidFill>
          <a:ln w="9525">
            <a:solidFill>
              <a:srgbClr val="B8E8D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Use: Permitted &amp; Encouraged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Claude Code, Cursor, or any AI assistant.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must understand and explain every 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804672"/>
            <a:ext cx="40690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896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 (no curve)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298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HW1: Build &amp; Test an Agent Skill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129844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527048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527048"/>
            <a:ext cx="1249680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17739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HW2: Formal Verification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17739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002536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002536"/>
            <a:ext cx="1249680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2494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HW3: Security Audit &amp; Fuzzing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22494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478024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478024"/>
            <a:ext cx="14996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27249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Midterm (In Class, Lec 11)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27249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53512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2953512"/>
            <a:ext cx="374904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2004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HW4: Final Research 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32004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429000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3429000"/>
            <a:ext cx="374904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9160" y="36758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 &amp; Peer Review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36758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904488"/>
            <a:ext cx="3749040" cy="1280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09160" y="3904488"/>
            <a:ext cx="999744" cy="128016"/>
          </a:xfrm>
          <a:prstGeom prst="rect">
            <a:avLst/>
          </a:prstGeom>
          <a:solidFill>
            <a:srgbClr val="8895A7"/>
          </a:solidFill>
          <a:ln w="12700">
            <a:solidFill>
              <a:srgbClr val="8895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93–100   A-: 85–92   B+: 80–84   B: 75–79   B-: 70–74   C+: 65–69   C: 60–64   F: &lt;60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Dates &amp; HW1 Preview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4160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04672"/>
            <a:ext cx="54864" cy="3931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261872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 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test an agent skill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664208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1664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3312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 due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2066544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0665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0665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HW2 out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verification via Z3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2468880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468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53312" y="2468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HW2 due + Midterm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2468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In-class, Lectures 1–10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2871216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28712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53312" y="2871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HW3 out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28712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audit &amp; fuzzing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3273552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273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53312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HW3 due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3675888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36758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53312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HW4 out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3675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research project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4078224"/>
            <a:ext cx="59436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40782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53312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HW4 due + Talks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17520" y="40782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Lightning talks at Lec 20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804672"/>
            <a:ext cx="37490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92040" y="804672"/>
            <a:ext cx="374904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HW1: Build &amp; Test an Agent Skill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0" y="12618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Lecture 3 (4/7) · Due Lecture 6 (4/16) · 10%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1591056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21808" y="1572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functional skill (Claude Code / OpenClaw)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0" y="2066544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21808" y="204825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SKILL.md with frontmatter metadata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0" y="2542032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21808" y="2523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a multi-step workflow (3+ tool calls)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0" y="3017520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21808" y="2999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behavioral eval suite (≥5 test cases)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0" y="3493008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21808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design choices and failure modes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29200" y="3931920"/>
            <a:ext cx="3474720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0" y="4005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for Lecture 2: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0" y="4224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 Claude API docs  ·  MCP spec  ·  Tool calling guide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You’ll Be Able To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and evaluate real agentic systems using the Claude API and MCP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709928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Hoare logic, SMT, static analysis, and model checking to agent verification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6829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and formally analyze security vulnerabilities in agentic systems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02666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runtime guardrails and formal defenses for production agents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685032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Contribute to frontier research on verified, efficient agentic systems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8138160" cy="1371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 ·  Formal Methods for Agentic Programming  ·  Yu Feng  ·  UC Santa Barbara  ·  Spring 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BA394C-A4EC-A545-BE12-E82900BEEB2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c7d3dd1-ccec-4341-ad56-5e1b66092a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1705</Words>
  <Application>Microsoft Macintosh PowerPoint</Application>
  <PresentationFormat>On-screen Show (16:9)</PresentationFormat>
  <Paragraphs>324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The Agentic Programming Revolution</dc:title>
  <dc:subject>PptxGenJS Presentation</dc:subject>
  <dc:creator>Yu Feng</dc:creator>
  <cp:lastModifiedBy>YU FENG</cp:lastModifiedBy>
  <cp:revision>9</cp:revision>
  <dcterms:created xsi:type="dcterms:W3CDTF">2026-03-29T19:47:11Z</dcterms:created>
  <dcterms:modified xsi:type="dcterms:W3CDTF">2026-04-08T01:26:28Z</dcterms:modified>
</cp:coreProperties>
</file>