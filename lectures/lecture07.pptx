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S 2 9 2 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5943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SAT/SMT Solvers</a:t>
            </a:r>
            <a:endParaRPr lang="en-US" sz="4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 Program</a:t>
            </a:r>
            <a:endParaRPr lang="en-US" sz="4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Verification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548640" y="31546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888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Formal Methods for Agentic Programming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37490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7  ·  April 21, 2026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40690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 Feng  ·  UC Santa Barbara  ·  Department of Computer Science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498080" y="914400"/>
            <a:ext cx="1371600" cy="109728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8" name="Shape 6"/>
          <p:cNvSpPr/>
          <p:nvPr/>
        </p:nvSpPr>
        <p:spPr>
          <a:xfrm>
            <a:off x="7863840" y="1188720"/>
            <a:ext cx="1005840" cy="73152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9" name="Shape 7"/>
          <p:cNvSpPr/>
          <p:nvPr/>
        </p:nvSpPr>
        <p:spPr>
          <a:xfrm>
            <a:off x="7680960" y="1417320"/>
            <a:ext cx="1188720" cy="73152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10" name="Shape 8"/>
          <p:cNvSpPr/>
          <p:nvPr/>
        </p:nvSpPr>
        <p:spPr>
          <a:xfrm>
            <a:off x="8046720" y="1645920"/>
            <a:ext cx="822960" cy="73152"/>
          </a:xfrm>
          <a:prstGeom prst="rect">
            <a:avLst/>
          </a:prstGeom>
          <a:solidFill>
            <a:srgbClr val="DDDDDD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Recap — Lecture 6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480060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CS292C · Formal Methods for Agentic Programming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412480" y="480060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8229600" cy="68580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914400"/>
            <a:ext cx="54864" cy="685800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987552"/>
            <a:ext cx="7909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89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Hoare triples  {P} C {Q}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1261872"/>
            <a:ext cx="7909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Precondition, command, postcondition — partial correctness for IMP and agent tool calls.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737360"/>
            <a:ext cx="8229600" cy="68580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1737360"/>
            <a:ext cx="54864" cy="685800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1810512"/>
            <a:ext cx="7909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89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Weakest precondition calculus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2084832"/>
            <a:ext cx="7909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wp(x:=e, Q) = Q[e/x]. Work backward from postcondition to generate proof obligations mechanically.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560320"/>
            <a:ext cx="8229600" cy="68580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14" name="Shape 12"/>
          <p:cNvSpPr/>
          <p:nvPr/>
        </p:nvSpPr>
        <p:spPr>
          <a:xfrm>
            <a:off x="457200" y="2560320"/>
            <a:ext cx="54864" cy="685800"/>
          </a:xfrm>
          <a:prstGeom prst="rect">
            <a:avLst/>
          </a:prstGeom>
          <a:solidFill>
            <a:srgbClr val="E8740C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2633472"/>
            <a:ext cx="7909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74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Verification Condition Generation (VCG)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" y="2907792"/>
            <a:ext cx="7909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Annotated program → logical formulas. Feed to a solver. Fully automated Hoare-logic proofs.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3383280"/>
            <a:ext cx="8229600" cy="68580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18" name="Shape 16"/>
          <p:cNvSpPr/>
          <p:nvPr/>
        </p:nvSpPr>
        <p:spPr>
          <a:xfrm>
            <a:off x="457200" y="3383280"/>
            <a:ext cx="54864" cy="685800"/>
          </a:xfrm>
          <a:prstGeom prst="rect">
            <a:avLst/>
          </a:prstGeom>
          <a:solidFill>
            <a:srgbClr val="CC3333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3456432"/>
            <a:ext cx="7909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C33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Today’s question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0080" y="3730752"/>
            <a:ext cx="7909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VCG produces formulas that should be valid. But how do we decide if they actually are?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4251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C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 we need an automated reasoning engine — SAT and SMT solvers.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Today’s Agenda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480060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CS292C · Formal Methods for Agentic Programming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412480" y="480060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3977640" cy="1234440"/>
          </a:xfrm>
          <a:prstGeom prst="rect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60120"/>
            <a:ext cx="3977640" cy="36576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0972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89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94360" y="1417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Propositional Logic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94360" y="17373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Syntax, semantics, satisfiability vs validity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09160" y="960120"/>
            <a:ext cx="3977640" cy="1234440"/>
          </a:xfrm>
          <a:prstGeom prst="rect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09160" y="960120"/>
            <a:ext cx="3977640" cy="36576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12" name="Text 10"/>
          <p:cNvSpPr/>
          <p:nvPr/>
        </p:nvSpPr>
        <p:spPr>
          <a:xfrm>
            <a:off x="4846320" y="10972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89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846320" y="1417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SAT Solvers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846320" y="17373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Black-box view: CNF in, SAT/UNSAT out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2423160"/>
            <a:ext cx="3977640" cy="1234440"/>
          </a:xfrm>
          <a:prstGeom prst="rect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2423160"/>
            <a:ext cx="3977640" cy="36576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17" name="Text 15"/>
          <p:cNvSpPr/>
          <p:nvPr/>
        </p:nvSpPr>
        <p:spPr>
          <a:xfrm>
            <a:off x="594360" y="256032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89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94360" y="28803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SMT Theories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94360" y="32004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EUF, arithmetic, arrays, bitvectors — and Z3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09160" y="2423160"/>
            <a:ext cx="3977640" cy="1234440"/>
          </a:xfrm>
          <a:prstGeom prst="rect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709160" y="2423160"/>
            <a:ext cx="3977640" cy="36576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22" name="Text 20"/>
          <p:cNvSpPr/>
          <p:nvPr/>
        </p:nvSpPr>
        <p:spPr>
          <a:xfrm>
            <a:off x="4846320" y="256032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89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4846320" y="28803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Live Demo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846320" y="32004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+ Z3: verify correct &amp; buggy programs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3886200"/>
            <a:ext cx="3977640" cy="731520"/>
          </a:xfrm>
          <a:prstGeom prst="rect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" y="3886200"/>
            <a:ext cx="3977640" cy="36576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27" name="Text 25"/>
          <p:cNvSpPr/>
          <p:nvPr/>
        </p:nvSpPr>
        <p:spPr>
          <a:xfrm>
            <a:off x="594360" y="39776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89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1051560" y="39776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Wrap-Up &amp; What’s Next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1051560" y="425196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takeaways, HW2 preview, readings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Propositional Logic: Syntax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480060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CS292C · Formal Methods for Agentic Programming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412480" y="480060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5029200" cy="64008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914400"/>
            <a:ext cx="54864" cy="640080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987552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89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Propositional variables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1261872"/>
            <a:ext cx="4709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p, q, r, ...  — each is either true or false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691640"/>
            <a:ext cx="5029200" cy="64008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1691640"/>
            <a:ext cx="54864" cy="640080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1764792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89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Connectives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2039112"/>
            <a:ext cx="4709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¬ (not)   ∧ (and)   ∨ (or)   → (implies)   ↔ (iff)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468880"/>
            <a:ext cx="5029200" cy="64008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14" name="Shape 12"/>
          <p:cNvSpPr/>
          <p:nvPr/>
        </p:nvSpPr>
        <p:spPr>
          <a:xfrm>
            <a:off x="457200" y="2468880"/>
            <a:ext cx="54864" cy="640080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2542032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89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Well-formed formulas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" y="2816352"/>
            <a:ext cx="4709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recursively from variables and connectives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3246120"/>
            <a:ext cx="5029200" cy="64008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18" name="Shape 16"/>
          <p:cNvSpPr/>
          <p:nvPr/>
        </p:nvSpPr>
        <p:spPr>
          <a:xfrm>
            <a:off x="457200" y="3246120"/>
            <a:ext cx="54864" cy="640080"/>
          </a:xfrm>
          <a:prstGeom prst="rect">
            <a:avLst/>
          </a:prstGeom>
          <a:solidFill>
            <a:srgbClr val="E8740C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3319272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74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Precedence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0080" y="3593592"/>
            <a:ext cx="4709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¬  &gt;  ∧  &gt;  ∨  &gt;  →  &gt;  ↔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760720" y="914400"/>
            <a:ext cx="3017520" cy="297180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22" name="Text 20"/>
          <p:cNvSpPr/>
          <p:nvPr/>
        </p:nvSpPr>
        <p:spPr>
          <a:xfrm>
            <a:off x="5943600" y="100584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89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Examples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943600" y="1417320"/>
            <a:ext cx="26517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27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(p ∧ ¬q) → r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A27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(p ∨ q) ∧ (¬p ∨ r)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A27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 → (q → p)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Semantics: Truth Tables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480060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CS292C · Formal Methods for Agentic Programming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412480" y="480060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</a:t>
            </a:r>
            <a:pPr indent="0" marL="0">
              <a:buNone/>
            </a:pPr>
            <a:r>
              <a:rPr lang="en-US" sz="14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</a:t>
            </a:r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maps every propositional variable to true or false.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371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89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Worked example:  (p → q) ↔ (¬p ∨ q)</a:t>
            </a:r>
            <a:endParaRPr lang="en-US" sz="1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0" y="1828800"/>
          <a:ext cx="640080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914400"/>
                <a:gridCol w="1371600"/>
                <a:gridCol w="1371600"/>
                <a:gridCol w="91440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97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q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97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 → q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97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¬p ∨ q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97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↔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97B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57200" y="38404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C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match on every row →  logically equivalent!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Satisfiability, Validity, Unsatisfiability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480060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CS292C · Formal Methods for Agentic Programming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412480" y="480060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2651760" cy="2377440"/>
          </a:xfrm>
          <a:prstGeom prst="rect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14400"/>
            <a:ext cx="2651760" cy="45720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0515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89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Satisfiable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94360" y="14630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assignment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makes φ true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21945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27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 ∧ q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3337560" y="914400"/>
            <a:ext cx="2651760" cy="2377440"/>
          </a:xfrm>
          <a:prstGeom prst="rect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337560" y="914400"/>
            <a:ext cx="2651760" cy="457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2" name="Text 10"/>
          <p:cNvSpPr/>
          <p:nvPr/>
        </p:nvSpPr>
        <p:spPr>
          <a:xfrm>
            <a:off x="3474720" y="10515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Valid (Tautology)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474720" y="14630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φ is true under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assignment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474720" y="21945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27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 ∨ ¬p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6217920" y="914400"/>
            <a:ext cx="2651760" cy="2377440"/>
          </a:xfrm>
          <a:prstGeom prst="rect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17920" y="914400"/>
            <a:ext cx="2651760" cy="45720"/>
          </a:xfrm>
          <a:prstGeom prst="rect">
            <a:avLst/>
          </a:prstGeom>
          <a:solidFill>
            <a:srgbClr val="CC3333"/>
          </a:solidFill>
          <a:ln/>
        </p:spPr>
      </p:sp>
      <p:sp>
        <p:nvSpPr>
          <p:cNvPr id="17" name="Text 15"/>
          <p:cNvSpPr/>
          <p:nvPr/>
        </p:nvSpPr>
        <p:spPr>
          <a:xfrm>
            <a:off x="6355080" y="10515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C33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Unsatisfiable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355080" y="14630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assignment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makes φ true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355080" y="21945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27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 ∧ ¬p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457200" y="3566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  ⊂  Satisfiable       Unsatisfiable  =  complement of Satisfiable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7200" y="38862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valid formula is satisfiable, but not vice versa.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28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KEY INSIGHT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Critical Duality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480060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5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CS292C · Formal Methods for Agentic Programming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412480" y="480060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5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731520" y="1371600"/>
            <a:ext cx="7680960" cy="1005840"/>
          </a:xfrm>
          <a:prstGeom prst="rect">
            <a:avLst/>
          </a:prstGeom>
          <a:solidFill>
            <a:srgbClr val="253548"/>
          </a:solidFill>
          <a:ln w="25400">
            <a:solidFill>
              <a:srgbClr val="00897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371600"/>
            <a:ext cx="7680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φ is valid   ⟺   ¬φ is unsatisfiable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548640" y="26517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89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This is how solvers prove things: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48640" y="30175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prove φ is valid, show that ¬φ has no solution.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Solvers check satisfiability — not validity directly.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via this duality, satisfiability gives us validity for free.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4251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74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single idea connects everything in this lecture.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Duality in Action: Verification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480060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CS292C · Formal Methods for Agentic Programming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412480" y="480060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8229600" cy="64008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005840"/>
            <a:ext cx="54864" cy="640080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1115568"/>
            <a:ext cx="411480" cy="411480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11556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34440" y="1097280"/>
            <a:ext cx="7223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VCG produces a formula φ that should be valid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1828800"/>
            <a:ext cx="8229600" cy="64008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11" name="Shape 9"/>
          <p:cNvSpPr/>
          <p:nvPr/>
        </p:nvSpPr>
        <p:spPr>
          <a:xfrm>
            <a:off x="457200" y="1828800"/>
            <a:ext cx="54864" cy="640080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12" name="Shape 10"/>
          <p:cNvSpPr/>
          <p:nvPr/>
        </p:nvSpPr>
        <p:spPr>
          <a:xfrm>
            <a:off x="640080" y="1938528"/>
            <a:ext cx="411480" cy="411480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193852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234440" y="1920240"/>
            <a:ext cx="7223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negate it: hand ¬φ to a SAT/SMT solver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2651760"/>
            <a:ext cx="8229600" cy="64008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16" name="Shape 14"/>
          <p:cNvSpPr/>
          <p:nvPr/>
        </p:nvSpPr>
        <p:spPr>
          <a:xfrm>
            <a:off x="457200" y="2651760"/>
            <a:ext cx="54864" cy="64008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7" name="Shape 15"/>
          <p:cNvSpPr/>
          <p:nvPr/>
        </p:nvSpPr>
        <p:spPr>
          <a:xfrm>
            <a:off x="640080" y="2761488"/>
            <a:ext cx="411480" cy="41148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276148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3a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234440" y="2743200"/>
            <a:ext cx="7223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UNSAT → φ is valid → program is correct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57200" y="3474720"/>
            <a:ext cx="8229600" cy="64008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21" name="Shape 19"/>
          <p:cNvSpPr/>
          <p:nvPr/>
        </p:nvSpPr>
        <p:spPr>
          <a:xfrm>
            <a:off x="457200" y="3474720"/>
            <a:ext cx="54864" cy="640080"/>
          </a:xfrm>
          <a:prstGeom prst="rect">
            <a:avLst/>
          </a:prstGeom>
          <a:solidFill>
            <a:srgbClr val="CC3333"/>
          </a:solidFill>
          <a:ln/>
        </p:spPr>
      </p:sp>
      <p:sp>
        <p:nvSpPr>
          <p:cNvPr id="22" name="Shape 20"/>
          <p:cNvSpPr/>
          <p:nvPr/>
        </p:nvSpPr>
        <p:spPr>
          <a:xfrm>
            <a:off x="640080" y="3584448"/>
            <a:ext cx="411480" cy="411480"/>
          </a:xfrm>
          <a:prstGeom prst="rect">
            <a:avLst/>
          </a:prstGeom>
          <a:solidFill>
            <a:srgbClr val="CC3333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358444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3b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234440" y="3566160"/>
            <a:ext cx="7223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 → solver returns assignment → counterexample (bug witness!)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Logical Equivalences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480060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CS292C · Formal Methods for Agentic Programming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412480" y="480060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8229600" cy="54864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960120"/>
            <a:ext cx="54864" cy="548640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03327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89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Morgan’s Laws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017520" y="1033272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7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¬(p ∧ q) ≡ ¬p ∨ ¬q       ¬(p ∨ q) ≡ ¬p ∧ ¬q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1645920"/>
            <a:ext cx="8229600" cy="54864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1645920"/>
            <a:ext cx="54864" cy="548640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171907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89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Double Negation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017520" y="1719072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7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¬¬p ≡ p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2331720"/>
            <a:ext cx="8229600" cy="54864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14" name="Shape 12"/>
          <p:cNvSpPr/>
          <p:nvPr/>
        </p:nvSpPr>
        <p:spPr>
          <a:xfrm>
            <a:off x="457200" y="2331720"/>
            <a:ext cx="54864" cy="548640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240487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89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Implication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017520" y="2404872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7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 → q  ≡  ¬p ∨ q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57200" y="3017520"/>
            <a:ext cx="8229600" cy="54864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18" name="Shape 16"/>
          <p:cNvSpPr/>
          <p:nvPr/>
        </p:nvSpPr>
        <p:spPr>
          <a:xfrm>
            <a:off x="457200" y="3017520"/>
            <a:ext cx="54864" cy="548640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19" name="Text 17"/>
          <p:cNvSpPr/>
          <p:nvPr/>
        </p:nvSpPr>
        <p:spPr>
          <a:xfrm>
            <a:off x="685800" y="309067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89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Contrapositive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017520" y="3090672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7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 → q  ≡  ¬q → ¬p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57200" y="3703320"/>
            <a:ext cx="8229600" cy="54864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22" name="Shape 20"/>
          <p:cNvSpPr/>
          <p:nvPr/>
        </p:nvSpPr>
        <p:spPr>
          <a:xfrm>
            <a:off x="457200" y="3703320"/>
            <a:ext cx="54864" cy="548640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23" name="Text 21"/>
          <p:cNvSpPr/>
          <p:nvPr/>
        </p:nvSpPr>
        <p:spPr>
          <a:xfrm>
            <a:off x="685800" y="377647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89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Distributivity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017520" y="3776472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7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 ∧ (q ∨ r) ≡ (p ∧ q) ∨ (p ∧ r)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57200" y="448056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are the tools for converting formulas to normal forms.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Conjunctive Normal Form (CNF)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480060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CS292C · Formal Methods for Agentic Programming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412480" y="480060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8229600" cy="50292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914400"/>
            <a:ext cx="54864" cy="502920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987552"/>
            <a:ext cx="7909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89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Literal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1261872"/>
            <a:ext cx="7909560" cy="64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variable (p) or its negation (¬p)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554480"/>
            <a:ext cx="8229600" cy="50292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1554480"/>
            <a:ext cx="54864" cy="502920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1627632"/>
            <a:ext cx="7909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89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Clause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1901952"/>
            <a:ext cx="7909560" cy="64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disjunction of literals:   (p ∨ ¬q ∨ r)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194560"/>
            <a:ext cx="8229600" cy="50292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14" name="Shape 12"/>
          <p:cNvSpPr/>
          <p:nvPr/>
        </p:nvSpPr>
        <p:spPr>
          <a:xfrm>
            <a:off x="457200" y="2194560"/>
            <a:ext cx="54864" cy="502920"/>
          </a:xfrm>
          <a:prstGeom prst="rect">
            <a:avLst/>
          </a:prstGeom>
          <a:solidFill>
            <a:srgbClr val="E8740C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2267712"/>
            <a:ext cx="7909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74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CNF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" y="2542032"/>
            <a:ext cx="7909560" cy="64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conjunction of clauses:   (p ∨ q) ∧ (¬p ∨ r) ∧ (¬q ∨ ¬r)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2926080"/>
            <a:ext cx="8229600" cy="137160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301752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89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Worked Example:  Convert  (p → q) ∧ (q → r)  to CNF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0080" y="342900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7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 Eliminate → :   (¬p ∨ q) ∧ (¬q ∨ r)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27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 Already in CNF!  Two clauses: (¬p ∨ q) and (¬q ∨ r)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" y="44348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propositional formula can be converted to equisatisfiable CNF (Tseitin transformation).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SAT Problem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480060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CS292C · Formal Methods for Agentic Programming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412480" y="480060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96012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 </a:t>
            </a:r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propositional formula in CNF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 </a:t>
            </a:r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 + satisfying assignment,   or   UNSAT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2057400"/>
            <a:ext cx="8229600" cy="59436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2057400"/>
            <a:ext cx="54864" cy="594360"/>
          </a:xfrm>
          <a:prstGeom prst="rect">
            <a:avLst/>
          </a:prstGeom>
          <a:solidFill>
            <a:srgbClr val="CC3333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214884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C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NP-complete </a:t>
            </a:r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(Cook-Levin, 1971) — but modern solvers handle millions of variables in practice.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28803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089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gap between worst-case theory and practical performance is one of the</a:t>
            </a:r>
            <a:endParaRPr lang="en-US" sz="1400" dirty="0"/>
          </a:p>
          <a:p>
            <a:pPr indent="0" marL="0">
              <a:buNone/>
            </a:pPr>
            <a:r>
              <a:rPr lang="en-US" sz="1400" i="1" dirty="0">
                <a:solidFill>
                  <a:srgbClr val="0089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great success stories of computer science.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3566160"/>
            <a:ext cx="8229600" cy="59436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12" name="Shape 10"/>
          <p:cNvSpPr/>
          <p:nvPr/>
        </p:nvSpPr>
        <p:spPr>
          <a:xfrm>
            <a:off x="457200" y="3566160"/>
            <a:ext cx="54864" cy="594360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639312"/>
            <a:ext cx="7909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89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Used in: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85800" y="37947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verification (Intel, AMD)  ·  Compiler validation (alive2)  ·  Security (KLEE, angr)  ·  AWS policy checking (Zelkova)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SAT Solvers Work (High-Level)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480060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CS292C · Formal Methods for Agentic Programming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412480" y="480060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89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idea:  systematic search with smart pruning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8229600" cy="50292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371600"/>
            <a:ext cx="54864" cy="502920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444752"/>
            <a:ext cx="7909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89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Unit Propagation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1719072"/>
            <a:ext cx="7909560" cy="64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clause has one unassigned literal, it must be true → forced deductions cascade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011680"/>
            <a:ext cx="8229600" cy="50292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11" name="Shape 9"/>
          <p:cNvSpPr/>
          <p:nvPr/>
        </p:nvSpPr>
        <p:spPr>
          <a:xfrm>
            <a:off x="457200" y="2011680"/>
            <a:ext cx="54864" cy="502920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084832"/>
            <a:ext cx="7909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89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Branching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" y="2359152"/>
            <a:ext cx="7909560" cy="64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no more propagation is possible, pick a variable, guess a value, continue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2651760"/>
            <a:ext cx="8229600" cy="50292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15" name="Shape 13"/>
          <p:cNvSpPr/>
          <p:nvPr/>
        </p:nvSpPr>
        <p:spPr>
          <a:xfrm>
            <a:off x="457200" y="2651760"/>
            <a:ext cx="54864" cy="502920"/>
          </a:xfrm>
          <a:prstGeom prst="rect">
            <a:avLst/>
          </a:prstGeom>
          <a:solidFill>
            <a:srgbClr val="E8740C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2724912"/>
            <a:ext cx="7909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74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Conflict-Driven Learning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" y="2999232"/>
            <a:ext cx="7909560" cy="64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contradiction is found, analyze why and add a learned clause — never repeat the same mistake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3291840"/>
            <a:ext cx="8229600" cy="50292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19" name="Shape 17"/>
          <p:cNvSpPr/>
          <p:nvPr/>
        </p:nvSpPr>
        <p:spPr>
          <a:xfrm>
            <a:off x="457200" y="3291840"/>
            <a:ext cx="54864" cy="502920"/>
          </a:xfrm>
          <a:prstGeom prst="rect">
            <a:avLst/>
          </a:prstGeom>
          <a:solidFill>
            <a:srgbClr val="E8740C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3364992"/>
            <a:ext cx="7909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74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Non-Chronological Backtracking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0080" y="3639312"/>
            <a:ext cx="7909560" cy="64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Jump back to the root cause of a conflict, not just the most recent decision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4023360"/>
            <a:ext cx="8229600" cy="54864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406908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don’t need to build CDCL to use SAT/SMT for verification — treat the solver as a black box.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28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SAT Isn’t Enough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480060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5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CS292C · Formal Methods for Agentic Programming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412480" y="480060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5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3840480" cy="2194560"/>
          </a:xfrm>
          <a:prstGeom prst="rect">
            <a:avLst/>
          </a:prstGeom>
          <a:solidFill>
            <a:srgbClr val="223344"/>
          </a:solidFill>
          <a:ln w="19050">
            <a:solidFill>
              <a:srgbClr val="CC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37160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E874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 T O O L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164592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SAT can express: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2011680"/>
            <a:ext cx="3474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ABB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 ∨ ¬q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AABB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(a ∧ b) → c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i="1" dirty="0">
                <a:solidFill>
                  <a:srgbClr val="E874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Boolean constraints only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297680" y="2011680"/>
            <a:ext cx="548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4846320" y="1280160"/>
            <a:ext cx="4023360" cy="2194560"/>
          </a:xfrm>
          <a:prstGeom prst="rect">
            <a:avLst/>
          </a:prstGeom>
          <a:solidFill>
            <a:srgbClr val="223344"/>
          </a:solidFill>
          <a:ln w="19050">
            <a:solidFill>
              <a:srgbClr val="00897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0" y="137160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 S K I L L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029200" y="16459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Verification needs: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029200" y="2011680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ABB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+ y &gt; 10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AABB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= b  ⇒  f(a) = f(b)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AABB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select(store(A,i,v), i) = v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2011680" y="3749040"/>
            <a:ext cx="5120640" cy="502920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16" name="Text 14"/>
          <p:cNvSpPr/>
          <p:nvPr/>
        </p:nvSpPr>
        <p:spPr>
          <a:xfrm>
            <a:off x="2011680" y="3749040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SMT  =  SAT  +  Domain-Specific Theory Solvers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SMT Architecture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480060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CS292C · Formal Methods for Agentic Programming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412480" y="480060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2743200" y="1005840"/>
            <a:ext cx="3657600" cy="822960"/>
          </a:xfrm>
          <a:prstGeom prst="rect">
            <a:avLst/>
          </a:prstGeom>
          <a:solidFill>
            <a:srgbClr val="1B2838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0" y="100584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SAT Solver (CDCL)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97280" y="192024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Boolean assignment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0" y="192024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Theory conflicts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286000" y="1874520"/>
            <a:ext cx="0" cy="320040"/>
          </a:xfrm>
          <a:prstGeom prst="line">
            <a:avLst/>
          </a:prstGeom>
          <a:noFill/>
          <a:ln w="25400">
            <a:solidFill>
              <a:srgbClr val="00897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675120" y="1874520"/>
            <a:ext cx="0" cy="320040"/>
          </a:xfrm>
          <a:prstGeom prst="line">
            <a:avLst/>
          </a:prstGeom>
          <a:noFill/>
          <a:ln w="25400">
            <a:solidFill>
              <a:srgbClr val="CC333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2240280"/>
            <a:ext cx="8229600" cy="27432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22402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89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Theory Solvers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606040"/>
            <a:ext cx="1828800" cy="731520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260604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EUF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Solver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560320" y="2606040"/>
            <a:ext cx="1828800" cy="7315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6" name="Text 14"/>
          <p:cNvSpPr/>
          <p:nvPr/>
        </p:nvSpPr>
        <p:spPr>
          <a:xfrm>
            <a:off x="2560320" y="260604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LIA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Solver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663440" y="2606040"/>
            <a:ext cx="1828800" cy="7315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8" name="Text 16"/>
          <p:cNvSpPr/>
          <p:nvPr/>
        </p:nvSpPr>
        <p:spPr>
          <a:xfrm>
            <a:off x="4663440" y="260604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BV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Solver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766560" y="2606040"/>
            <a:ext cx="1828800" cy="731520"/>
          </a:xfrm>
          <a:prstGeom prst="rect">
            <a:avLst/>
          </a:prstGeom>
          <a:solidFill>
            <a:srgbClr val="CC3333"/>
          </a:solidFill>
          <a:ln/>
        </p:spPr>
      </p:sp>
      <p:sp>
        <p:nvSpPr>
          <p:cNvPr id="20" name="Text 18"/>
          <p:cNvSpPr/>
          <p:nvPr/>
        </p:nvSpPr>
        <p:spPr>
          <a:xfrm>
            <a:off x="6766560" y="260604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Array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Solver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3566160"/>
            <a:ext cx="8229600" cy="86868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22" name="Shape 20"/>
          <p:cNvSpPr/>
          <p:nvPr/>
        </p:nvSpPr>
        <p:spPr>
          <a:xfrm>
            <a:off x="457200" y="3566160"/>
            <a:ext cx="54864" cy="868680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3639312"/>
            <a:ext cx="7909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89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it works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40080" y="3913632"/>
            <a:ext cx="79095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SAT solver treats theory atoms as opaque propositions and proposes a Boolean assignment. Theory solvers check consistency. If inconsistent, they return a conflict clause. The SAT solver learns and backtracks.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Theory: Equality &amp; Uninterpreted Functions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480060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CS292C · Formal Methods for Agentic Programming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412480" y="480060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8229600" cy="54864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914400"/>
            <a:ext cx="54864" cy="548640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987552"/>
            <a:ext cx="7909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89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Signature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1261872"/>
            <a:ext cx="7909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Equality (=), uninterpreted function symbols f, g, ...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16459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89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axiom — Congruence: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914400" y="2011680"/>
            <a:ext cx="7315200" cy="594360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201168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27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 a = b   then   f(a) = f(b)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457200" y="2834640"/>
            <a:ext cx="8229600" cy="64008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13" name="Shape 11"/>
          <p:cNvSpPr/>
          <p:nvPr/>
        </p:nvSpPr>
        <p:spPr>
          <a:xfrm>
            <a:off x="457200" y="2834640"/>
            <a:ext cx="54864" cy="640080"/>
          </a:xfrm>
          <a:prstGeom prst="rect">
            <a:avLst/>
          </a:prstGeom>
          <a:solidFill>
            <a:srgbClr val="E8740C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907792"/>
            <a:ext cx="7909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74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 case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" y="3182112"/>
            <a:ext cx="7909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 away function implementations. Reason about when two calls must return the same value without knowing what the function computes.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611880"/>
            <a:ext cx="8229600" cy="54864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17" name="Shape 15"/>
          <p:cNvSpPr/>
          <p:nvPr/>
        </p:nvSpPr>
        <p:spPr>
          <a:xfrm>
            <a:off x="457200" y="3611880"/>
            <a:ext cx="54864" cy="548640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3685032"/>
            <a:ext cx="7909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89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Example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0080" y="3959352"/>
            <a:ext cx="7909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a = b, prove f(a) = f(b) — even though we don’t know what f does.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Theory: Linear Arithmetic (LIA / LRA)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480060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CS292C · Formal Methods for Agentic Programming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412480" y="480060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8229600" cy="54864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914400"/>
            <a:ext cx="54864" cy="548640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987552"/>
            <a:ext cx="7909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89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Signature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1261872"/>
            <a:ext cx="7909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+,  −,  &lt;,  ≤,  =,  integer/real constants and variables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600200"/>
            <a:ext cx="8229600" cy="50292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1600200"/>
            <a:ext cx="54864" cy="502920"/>
          </a:xfrm>
          <a:prstGeom prst="rect">
            <a:avLst/>
          </a:prstGeom>
          <a:solidFill>
            <a:srgbClr val="CC3333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1673352"/>
            <a:ext cx="7909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C33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Restriction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1947672"/>
            <a:ext cx="7909560" cy="64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multiplication of variables  (2·x is fine;  x·y is not)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331720"/>
            <a:ext cx="8229600" cy="128016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37744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89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Example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" y="269748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7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After a loop:  0 ≤ i ≤ 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27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Loop guard:    i &lt; 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27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Increment:     i’ = i + 1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27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Question:  is the updated i still ≤ n?  →  LIA decides.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3794760"/>
            <a:ext cx="8229600" cy="54864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17" name="Shape 15"/>
          <p:cNvSpPr/>
          <p:nvPr/>
        </p:nvSpPr>
        <p:spPr>
          <a:xfrm>
            <a:off x="457200" y="3794760"/>
            <a:ext cx="54864" cy="548640"/>
          </a:xfrm>
          <a:prstGeom prst="rect">
            <a:avLst/>
          </a:prstGeom>
          <a:solidFill>
            <a:srgbClr val="E8740C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3867912"/>
            <a:ext cx="7909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74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 case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0080" y="4142232"/>
            <a:ext cx="7909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 about loop bounds, array indices, counter variables, agent step counts.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Theory: Bitvectors (BV)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480060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CS292C · Formal Methods for Agentic Programming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412480" y="480060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8229600" cy="54864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914400"/>
            <a:ext cx="54864" cy="548640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987552"/>
            <a:ext cx="7909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89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Signature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1261872"/>
            <a:ext cx="7909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Fixed-width integers with bitwise operations: and, or, xor, shift, arithmetic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600200"/>
            <a:ext cx="8229600" cy="73152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1600200"/>
            <a:ext cx="54864" cy="731520"/>
          </a:xfrm>
          <a:prstGeom prst="rect">
            <a:avLst/>
          </a:prstGeom>
          <a:solidFill>
            <a:srgbClr val="E8740C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1673352"/>
            <a:ext cx="7909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74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Captures machine arithmetic faithfully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1947672"/>
            <a:ext cx="7909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Overflow, wraparound, sign extension — all the things that make C bugs subtle.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in 8-bit unsigned,  255 + 1 = 0  (wraparound). LIA would miss this.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468880"/>
            <a:ext cx="8229600" cy="50292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14" name="Shape 12"/>
          <p:cNvSpPr/>
          <p:nvPr/>
        </p:nvSpPr>
        <p:spPr>
          <a:xfrm>
            <a:off x="457200" y="2468880"/>
            <a:ext cx="54864" cy="502920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2542032"/>
            <a:ext cx="7909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89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 case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" y="2816352"/>
            <a:ext cx="7909560" cy="64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Verifying low-level code, compiler optimizations, cryptographic implementations.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Theory: Arrays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480060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CS292C · Formal Methods for Agentic Programming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412480" y="480060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8229600" cy="50292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914400"/>
            <a:ext cx="54864" cy="502920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987552"/>
            <a:ext cx="7909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89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Signature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1261872"/>
            <a:ext cx="7909560" cy="64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select(a, i)  (read)     store(a, i, v)  (write)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16002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89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Axioms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1920240"/>
            <a:ext cx="8229600" cy="1371600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1965960"/>
            <a:ext cx="7863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Read-after-write (same index):</a:t>
            </a:r>
            <a:endParaRPr lang="en-US" sz="1200" dirty="0"/>
          </a:p>
          <a:p>
            <a:pPr indent="0" marL="0">
              <a:buNone/>
            </a:pPr>
            <a:r>
              <a:rPr lang="en-US" sz="1600" dirty="0">
                <a:solidFill>
                  <a:srgbClr val="1A27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select(store(a, i, v), i) = v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Read-after-write (different index):</a:t>
            </a:r>
            <a:endParaRPr lang="en-US" sz="1200" dirty="0"/>
          </a:p>
          <a:p>
            <a:pPr indent="0" marL="0">
              <a:buNone/>
            </a:pPr>
            <a:r>
              <a:rPr lang="en-US" sz="1600" dirty="0">
                <a:solidFill>
                  <a:srgbClr val="1A27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 ≠ j  →  select(store(a, i, v), j) = select(a, j)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520440"/>
            <a:ext cx="8229600" cy="54864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13" name="Shape 11"/>
          <p:cNvSpPr/>
          <p:nvPr/>
        </p:nvSpPr>
        <p:spPr>
          <a:xfrm>
            <a:off x="457200" y="3520440"/>
            <a:ext cx="54864" cy="548640"/>
          </a:xfrm>
          <a:prstGeom prst="rect">
            <a:avLst/>
          </a:prstGeom>
          <a:solidFill>
            <a:srgbClr val="E8740C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593592"/>
            <a:ext cx="7909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74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 case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" y="3867912"/>
            <a:ext cx="7909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Modeling memory, heap, agent state dictionaries, environment key-value stores.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Choosing the Right Theory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480060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CS292C · Formal Methods for Agentic Programming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412480" y="480060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8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914400"/>
        </p:xfrm>
        <a:graphic>
          <a:graphicData uri="http://schemas.openxmlformats.org/drawingml/2006/table">
            <a:tbl>
              <a:tblPr/>
              <a:tblGrid>
                <a:gridCol w="182880"/>
                <a:gridCol w="4114800"/>
                <a:gridCol w="393192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You’re reasoning about…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 theory…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Program variables, arithmetic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LIA / LRA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Memory, dictionaries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Arrays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Unknown / abstracted functions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EUF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Machine-level operations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Bitvectors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Mix of the above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89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— Z3 combines transparently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3657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practice you write formulas with mixed theories — the solver orchestrates everything.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B28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Live Demo: Claude Code as Verifier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480060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5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CS292C · Formal Methods for Agentic Programming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412480" y="480060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5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8046720" cy="731520"/>
          </a:xfrm>
          <a:prstGeom prst="rect">
            <a:avLst/>
          </a:prstGeom>
          <a:solidFill>
            <a:srgbClr val="253548"/>
          </a:solidFill>
          <a:ln w="19050">
            <a:solidFill>
              <a:srgbClr val="00897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37160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Claude Code  +  Z3  =  Automated Program Verification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48640" y="2468880"/>
            <a:ext cx="365760" cy="365760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4688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97280" y="2468880"/>
            <a:ext cx="7498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Claude Code to build a VCG → Z3 verifier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2971800"/>
            <a:ext cx="365760" cy="36576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9718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97280" y="2971800"/>
            <a:ext cx="7498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A:  Run on a correct program → “verified”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3474720"/>
            <a:ext cx="365760" cy="365760"/>
          </a:xfrm>
          <a:prstGeom prst="rect">
            <a:avLst/>
          </a:prstGeom>
          <a:solidFill>
            <a:srgbClr val="CC3333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4747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97280" y="3474720"/>
            <a:ext cx="7498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B:  Introduce a subtle bug → counterexample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48640" y="3977640"/>
            <a:ext cx="365760" cy="365760"/>
          </a:xfrm>
          <a:prstGeom prst="rect">
            <a:avLst/>
          </a:prstGeom>
          <a:solidFill>
            <a:srgbClr val="E8740C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39776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97280" y="3977640"/>
            <a:ext cx="7498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Discussion:  Can we trust the agent’s encoding?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Demo Setup: The Prompt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480060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CS292C · Formal Methods for Agentic Programming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412480" y="480060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give Claude Code this task: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8229600" cy="1645920"/>
          </a:xfrm>
          <a:prstGeom prst="rect">
            <a:avLst/>
          </a:prstGeom>
          <a:solidFill>
            <a:srgbClr val="1B2838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417320"/>
            <a:ext cx="7680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89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</a:t>
            </a:r>
            <a:pPr indent="0" marL="0">
              <a:buNone/>
            </a:pPr>
            <a:r>
              <a:rPr lang="en-US" sz="1200" dirty="0">
                <a:solidFill>
                  <a:srgbClr val="CCDD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 a Python script using Z3 that verifies the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89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</a:t>
            </a:r>
            <a:pPr indent="0" marL="0">
              <a:buNone/>
            </a:pPr>
            <a:r>
              <a:rPr lang="en-US" sz="1200" dirty="0">
                <a:solidFill>
                  <a:srgbClr val="CCDD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following annotated program. Generate the verification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89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</a:t>
            </a:r>
            <a:pPr indent="0" marL="0">
              <a:buNone/>
            </a:pPr>
            <a:r>
              <a:rPr lang="en-US" sz="1200" dirty="0">
                <a:solidFill>
                  <a:srgbClr val="CCDD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conditions from Hoare-logic rules (VCG), encode them as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89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</a:t>
            </a:r>
            <a:pPr indent="0" marL="0">
              <a:buNone/>
            </a:pPr>
            <a:r>
              <a:rPr lang="en-US" sz="1200" dirty="0">
                <a:solidFill>
                  <a:srgbClr val="CCDD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Z3 formulas, and report whether each VC is valid.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89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</a:t>
            </a:r>
            <a:pPr indent="0" marL="0">
              <a:buNone/>
            </a:pPr>
            <a:r>
              <a:rPr lang="en-US" sz="1200" dirty="0">
                <a:solidFill>
                  <a:srgbClr val="CCDD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any VC is invalid, print a counterexample.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3200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89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 expect the agent to do: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3566160"/>
            <a:ext cx="8229600" cy="32004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3566160"/>
            <a:ext cx="54864" cy="320040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35661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Identify the three VCs  (init, preservation, postcondition)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931920"/>
            <a:ext cx="8229600" cy="32004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13" name="Shape 11"/>
          <p:cNvSpPr/>
          <p:nvPr/>
        </p:nvSpPr>
        <p:spPr>
          <a:xfrm>
            <a:off x="457200" y="3931920"/>
            <a:ext cx="54864" cy="320040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39319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Encode each as a Z3 formula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4297680"/>
            <a:ext cx="8229600" cy="32004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16" name="Shape 14"/>
          <p:cNvSpPr/>
          <p:nvPr/>
        </p:nvSpPr>
        <p:spPr>
          <a:xfrm>
            <a:off x="457200" y="4297680"/>
            <a:ext cx="54864" cy="320040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42976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Negate each and check for UNSAT / SAT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Demo A: The Correct Program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480060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CS292C · Formal Methods for Agentic Programming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412480" y="480060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4572000" cy="274320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960120"/>
            <a:ext cx="4206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89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Integer Square Root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1280160"/>
            <a:ext cx="42062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{x ≥ 0}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27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 := 0;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27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(r+1)*(r+1) ≤ x do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27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 := r + 1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{r*r ≤ x ∧ x &lt; (r+1)*(r+1)}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CC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Invariant: r ≥ 0 ∧ r*r ≤ x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303520" y="91440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89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VCs to check: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0" y="1325880"/>
            <a:ext cx="3474720" cy="640080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0" y="1325880"/>
            <a:ext cx="45720" cy="640080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0" y="134416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89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Init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486400" y="1527048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7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x≥0 ⇒ r≥0 ∧ r*r≤x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27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(with r=0)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303520" y="2103120"/>
            <a:ext cx="3474720" cy="640080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14" name="Shape 12"/>
          <p:cNvSpPr/>
          <p:nvPr/>
        </p:nvSpPr>
        <p:spPr>
          <a:xfrm>
            <a:off x="5303520" y="2103120"/>
            <a:ext cx="45720" cy="640080"/>
          </a:xfrm>
          <a:prstGeom prst="rect">
            <a:avLst/>
          </a:prstGeom>
          <a:solidFill>
            <a:srgbClr val="E8740C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0" y="212140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74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Preservation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486400" y="2304288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7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 ∧ (r+1)²≤x ⇒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27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I[(r+1)/r]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303520" y="2880360"/>
            <a:ext cx="3474720" cy="640080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18" name="Shape 16"/>
          <p:cNvSpPr/>
          <p:nvPr/>
        </p:nvSpPr>
        <p:spPr>
          <a:xfrm>
            <a:off x="5303520" y="2880360"/>
            <a:ext cx="45720" cy="6400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0" y="289864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Postcondition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486400" y="3081528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7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 ∧ (r+1)²&gt;x ⇒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27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r²≤x ∧ x&lt;(r+1)²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3886200"/>
            <a:ext cx="8229600" cy="50292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38862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Expected:  All three VCs return UNSAT  →  Program Verified  ✓</a:t>
            </a:r>
            <a:endParaRPr lang="en-US" sz="15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Demo A: Result — Verified!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480060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CS292C · Formal Methods for Agentic Programming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412480" y="480060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8229600" cy="2743200"/>
          </a:xfrm>
          <a:prstGeom prst="rect">
            <a:avLst/>
          </a:prstGeom>
          <a:solidFill>
            <a:srgbClr val="1B2838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005840"/>
            <a:ext cx="768096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C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python verify_isqrt.py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ABB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Checking VC 1 (Init: P =&gt; I) ...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6DD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Result: UNSAT  =&gt;  VC 1 is VALID  ✓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ABB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Checking VC 2 (Preservation: I^b =&gt; wp(C,I)) ...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6DD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Result: UNSAT  =&gt;  VC 2 is VALID  ✓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ABB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Checking VC 3 (Post: I^~b =&gt; Q) ...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6DD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Result: UNSAT  =&gt;  VC 3 is VALID  ✓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 VERIFICATION CONDITIONS PASSED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6DD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Program is correct with respect to its specification.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3840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applied VCG rules mechanically. The solver did the hard thinking. No human algebra.</a:t>
            </a:r>
            <a:endParaRPr lang="en-US" sz="13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Demo B: Introducing a Bug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480060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CS292C · Formal Methods for Agentic Programming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412480" y="480060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868680"/>
            <a:ext cx="54864" cy="365760"/>
          </a:xfrm>
          <a:prstGeom prst="rect">
            <a:avLst/>
          </a:prstGeom>
          <a:solidFill>
            <a:srgbClr val="CC3333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886968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C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Subtle change:  ≤  becomes  &lt;  in the loop guard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417320"/>
            <a:ext cx="4572000" cy="210312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508760"/>
            <a:ext cx="42062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{x ≥ 0}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27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 := 0;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27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(r+1)*(r+1) </a:t>
            </a:r>
            <a:pPr indent="0" marL="0">
              <a:buNone/>
            </a:pPr>
            <a:r>
              <a:rPr lang="en-US" sz="1400" b="1" dirty="0">
                <a:solidFill>
                  <a:srgbClr val="CC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 x</a:t>
            </a:r>
            <a:pPr indent="0" marL="0">
              <a:buNone/>
            </a:pPr>
            <a:r>
              <a:rPr lang="en-US" sz="1400" dirty="0">
                <a:solidFill>
                  <a:srgbClr val="1A27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do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27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 := r + 1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{r*r ≤ x ∧ x &lt; (r+1)*(r+1)}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303520" y="141732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89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happens: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303520" y="1691640"/>
            <a:ext cx="34747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x is a perfect square (e.g. x=4),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loop exits too early.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= 4, r = 1: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(r+1)² = 4 is not &lt; 4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loop exits with r = 1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(r+1)² = 4 = x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CC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violates x &lt; (r+1)²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794760"/>
            <a:ext cx="8229600" cy="502920"/>
          </a:xfrm>
          <a:prstGeom prst="rect">
            <a:avLst/>
          </a:prstGeom>
          <a:solidFill>
            <a:srgbClr val="CC3333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37947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postcondition VC should be  SAT  →  Counterexample found!</a:t>
            </a:r>
            <a:endParaRPr lang="en-US" sz="15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Demo B: Counterexample Found!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480060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CS292C · Formal Methods for Agentic Programming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412480" y="480060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8229600" cy="2468880"/>
          </a:xfrm>
          <a:prstGeom prst="rect">
            <a:avLst/>
          </a:prstGeom>
          <a:solidFill>
            <a:srgbClr val="1B2838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005840"/>
            <a:ext cx="76809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C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python verify_isqrt_buggy.py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6DD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Checking VC 1 (Init) ...  UNSAT  =&gt;  VALID  ✓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6DD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Checking VC 2 (Preservation) ...  UNSAT  =&gt;  VALID  ✓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ABB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Checking VC 3 (Post: I^~b =&gt; Q) ...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Result: SAT  =&gt;  VC 3 is INVALID  ✗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COUNTEREXAMPLE: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x = 4,  r = 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3566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C33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solver doesn’t just say “wrong” — it tells you exactly when and why.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39319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trace x=4, r=1 through the program by hand and confirm the bug.</a:t>
            </a:r>
            <a:endParaRPr lang="en-US" sz="13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Discussion: Trusting the Agent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480060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CS292C · Formal Methods for Agentic Programming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412480" y="480060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89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 just watched an agent do formal verification. Can we trust it?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8229600" cy="50292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417320"/>
            <a:ext cx="54864" cy="502920"/>
          </a:xfrm>
          <a:prstGeom prst="rect">
            <a:avLst/>
          </a:prstGeom>
          <a:solidFill>
            <a:srgbClr val="CC3333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490472"/>
            <a:ext cx="7909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C33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Wrong VC encoding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1764792"/>
            <a:ext cx="7909560" cy="64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translates Hoare logic to Z3 incorrectly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011680"/>
            <a:ext cx="8229600" cy="50292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11" name="Shape 9"/>
          <p:cNvSpPr/>
          <p:nvPr/>
        </p:nvSpPr>
        <p:spPr>
          <a:xfrm>
            <a:off x="457200" y="2011680"/>
            <a:ext cx="54864" cy="502920"/>
          </a:xfrm>
          <a:prstGeom prst="rect">
            <a:avLst/>
          </a:prstGeom>
          <a:solidFill>
            <a:srgbClr val="CC3333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084832"/>
            <a:ext cx="7909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C33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Missing VCs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" y="2359152"/>
            <a:ext cx="7909560" cy="64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skips a proof obligation (incomplete VCG)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2606040"/>
            <a:ext cx="8229600" cy="50292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15" name="Shape 13"/>
          <p:cNvSpPr/>
          <p:nvPr/>
        </p:nvSpPr>
        <p:spPr>
          <a:xfrm>
            <a:off x="457200" y="2606040"/>
            <a:ext cx="54864" cy="502920"/>
          </a:xfrm>
          <a:prstGeom prst="rect">
            <a:avLst/>
          </a:prstGeom>
          <a:solidFill>
            <a:srgbClr val="E8740C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2679192"/>
            <a:ext cx="7909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74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Wrong invariant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" y="2953512"/>
            <a:ext cx="7909560" cy="64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guesses an invariant that’s too weak or too strong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3291840"/>
            <a:ext cx="8229600" cy="50292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19" name="Shape 17"/>
          <p:cNvSpPr/>
          <p:nvPr/>
        </p:nvSpPr>
        <p:spPr>
          <a:xfrm>
            <a:off x="457200" y="3291840"/>
            <a:ext cx="54864" cy="50292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3364992"/>
            <a:ext cx="7909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to check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0080" y="3639312"/>
            <a:ext cx="7909560" cy="64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VCs are small, readable Z3 formulas — a human (or a second agent) can audit them.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3977640"/>
            <a:ext cx="8229600" cy="59436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4005072"/>
            <a:ext cx="78638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meta-question that drives the rest of this course:  </a:t>
            </a:r>
            <a:pPr algn="ctr" indent="0" marL="0">
              <a:buNone/>
            </a:pPr>
            <a:r>
              <a:rPr lang="en-US" sz="16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verifies the verifier?</a:t>
            </a:r>
            <a:endParaRPr lang="en-US" sz="13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VCG → SMT Pipeline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480060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CS292C · Formal Methods for Agentic Programming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412480" y="480060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1554480" cy="822960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1097280"/>
            <a:ext cx="1554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Annotated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Program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828800" y="1097280"/>
            <a:ext cx="228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2057400" y="1097280"/>
            <a:ext cx="1554480" cy="82296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9" name="Text 7"/>
          <p:cNvSpPr/>
          <p:nvPr/>
        </p:nvSpPr>
        <p:spPr>
          <a:xfrm>
            <a:off x="2057400" y="1097280"/>
            <a:ext cx="1554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VCG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11880" y="1097280"/>
            <a:ext cx="228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3840480" y="1097280"/>
            <a:ext cx="1554480" cy="82296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2" name="Text 10"/>
          <p:cNvSpPr/>
          <p:nvPr/>
        </p:nvSpPr>
        <p:spPr>
          <a:xfrm>
            <a:off x="3840480" y="1097280"/>
            <a:ext cx="1554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Logical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Formulas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394960" y="1097280"/>
            <a:ext cx="228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5623560" y="1097280"/>
            <a:ext cx="1554480" cy="822960"/>
          </a:xfrm>
          <a:prstGeom prst="rect">
            <a:avLst/>
          </a:prstGeom>
          <a:solidFill>
            <a:srgbClr val="1B2838"/>
          </a:solidFill>
          <a:ln/>
        </p:spPr>
      </p:sp>
      <p:sp>
        <p:nvSpPr>
          <p:cNvPr id="15" name="Text 13"/>
          <p:cNvSpPr/>
          <p:nvPr/>
        </p:nvSpPr>
        <p:spPr>
          <a:xfrm>
            <a:off x="5623560" y="1097280"/>
            <a:ext cx="1554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SMT Solver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(Z3)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178040" y="1097280"/>
            <a:ext cx="228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7406640" y="1097280"/>
            <a:ext cx="1554480" cy="82296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8" name="Text 16"/>
          <p:cNvSpPr/>
          <p:nvPr/>
        </p:nvSpPr>
        <p:spPr>
          <a:xfrm>
            <a:off x="7406640" y="1097280"/>
            <a:ext cx="1554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Verified /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Counterexample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2286000"/>
            <a:ext cx="8229600" cy="54864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20" name="Shape 18"/>
          <p:cNvSpPr/>
          <p:nvPr/>
        </p:nvSpPr>
        <p:spPr>
          <a:xfrm>
            <a:off x="457200" y="2286000"/>
            <a:ext cx="54864" cy="548640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2359152"/>
            <a:ext cx="7909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89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 agents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40080" y="2633472"/>
            <a:ext cx="7909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“program” is a tool-call sequence. The “specification” is a permission/safety policy. The pipeline is the same.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" y="3063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C33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Current limitations: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57200" y="3383280"/>
            <a:ext cx="3931920" cy="50292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25" name="Shape 23"/>
          <p:cNvSpPr/>
          <p:nvPr/>
        </p:nvSpPr>
        <p:spPr>
          <a:xfrm>
            <a:off x="457200" y="3383280"/>
            <a:ext cx="54864" cy="502920"/>
          </a:xfrm>
          <a:prstGeom prst="rect">
            <a:avLst/>
          </a:prstGeom>
          <a:solidFill>
            <a:srgbClr val="CC3333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3456432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C33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Undecidability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40080" y="3730752"/>
            <a:ext cx="3611880" cy="64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Nonlinear arithmetic, quantifiers over unbounded domains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754880" y="3383280"/>
            <a:ext cx="3931920" cy="50292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29" name="Shape 27"/>
          <p:cNvSpPr/>
          <p:nvPr/>
        </p:nvSpPr>
        <p:spPr>
          <a:xfrm>
            <a:off x="4754880" y="3383280"/>
            <a:ext cx="54864" cy="502920"/>
          </a:xfrm>
          <a:prstGeom prst="rect">
            <a:avLst/>
          </a:prstGeom>
          <a:solidFill>
            <a:srgbClr val="E8740C"/>
          </a:solidFill>
          <a:ln/>
        </p:spPr>
      </p:sp>
      <p:sp>
        <p:nvSpPr>
          <p:cNvPr id="30" name="Text 28"/>
          <p:cNvSpPr/>
          <p:nvPr/>
        </p:nvSpPr>
        <p:spPr>
          <a:xfrm>
            <a:off x="4937760" y="3456432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74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Scalability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937760" y="3730752"/>
            <a:ext cx="3611880" cy="64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programs produce large formulas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57200" y="4023360"/>
            <a:ext cx="3931920" cy="50292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33" name="Shape 31"/>
          <p:cNvSpPr/>
          <p:nvPr/>
        </p:nvSpPr>
        <p:spPr>
          <a:xfrm>
            <a:off x="457200" y="4023360"/>
            <a:ext cx="54864" cy="5029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4" name="Text 32"/>
          <p:cNvSpPr/>
          <p:nvPr/>
        </p:nvSpPr>
        <p:spPr>
          <a:xfrm>
            <a:off x="640080" y="4096512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Abstraction gap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40080" y="4370832"/>
            <a:ext cx="3611880" cy="64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reasoning not captured by symbolic formulas</a:t>
            </a:r>
            <a:endParaRPr lang="en-US" sz="1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Takeaways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480060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CS292C · Formal Methods for Agentic Programming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412480" y="480060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8229600" cy="438912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914400"/>
            <a:ext cx="54864" cy="438912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9601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89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05840" y="960120"/>
            <a:ext cx="7498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duality  φ valid ⟺ ¬φ unsat  bridges verification to solving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463040"/>
            <a:ext cx="8229600" cy="438912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1463040"/>
            <a:ext cx="54864" cy="438912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15087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89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05840" y="1508760"/>
            <a:ext cx="7498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 solvers decide propositional satisfiability — treat as a black box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011680"/>
            <a:ext cx="8229600" cy="438912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14" name="Shape 12"/>
          <p:cNvSpPr/>
          <p:nvPr/>
        </p:nvSpPr>
        <p:spPr>
          <a:xfrm>
            <a:off x="457200" y="2011680"/>
            <a:ext cx="54864" cy="43891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20574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05840" y="2057400"/>
            <a:ext cx="7498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SMT extends SAT with theories for integers, arrays, bitvectors, EUF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2560320"/>
            <a:ext cx="8229600" cy="438912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18" name="Shape 16"/>
          <p:cNvSpPr/>
          <p:nvPr/>
        </p:nvSpPr>
        <p:spPr>
          <a:xfrm>
            <a:off x="457200" y="2560320"/>
            <a:ext cx="54864" cy="438912"/>
          </a:xfrm>
          <a:prstGeom prst="rect">
            <a:avLst/>
          </a:prstGeom>
          <a:solidFill>
            <a:srgbClr val="E8740C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26060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74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05840" y="2606040"/>
            <a:ext cx="7498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VCG → SMT pipeline gives end-to-end automated verification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3108960"/>
            <a:ext cx="8229600" cy="438912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22" name="Shape 20"/>
          <p:cNvSpPr/>
          <p:nvPr/>
        </p:nvSpPr>
        <p:spPr>
          <a:xfrm>
            <a:off x="457200" y="3108960"/>
            <a:ext cx="54864" cy="43891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31546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005840" y="3154680"/>
            <a:ext cx="7498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→ UNSAT (verified);   Buggy → SAT + counterexample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57200" y="3657600"/>
            <a:ext cx="8229600" cy="438912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26" name="Shape 24"/>
          <p:cNvSpPr/>
          <p:nvPr/>
        </p:nvSpPr>
        <p:spPr>
          <a:xfrm>
            <a:off x="457200" y="3657600"/>
            <a:ext cx="54864" cy="438912"/>
          </a:xfrm>
          <a:prstGeom prst="rect">
            <a:avLst/>
          </a:prstGeom>
          <a:solidFill>
            <a:srgbClr val="CC3333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" y="37033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C33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005840" y="3703320"/>
            <a:ext cx="7498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verifies the agent doing the verification?  (rest of the course)</a:t>
            </a:r>
            <a:endParaRPr lang="en-US" sz="1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What’s Next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480060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CS292C · Formal Methods for Agentic Programming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412480" y="480060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4023360" cy="320040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914400"/>
            <a:ext cx="54864" cy="3200400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0058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Lecture 8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128016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89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Static Analysis: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0089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Dataflow to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0089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Skill Auditing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" y="2468880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 from exact solving to approximate analysis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 interpretation: precision vs termination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Taint analysis on SKILL.md for injection detection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663440" y="914400"/>
            <a:ext cx="4114800" cy="320040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11" name="Shape 9"/>
          <p:cNvSpPr/>
          <p:nvPr/>
        </p:nvSpPr>
        <p:spPr>
          <a:xfrm>
            <a:off x="4663440" y="914400"/>
            <a:ext cx="54864" cy="3200400"/>
          </a:xfrm>
          <a:prstGeom prst="rect">
            <a:avLst/>
          </a:prstGeom>
          <a:solidFill>
            <a:srgbClr val="E8740C"/>
          </a:solidFill>
          <a:ln/>
        </p:spPr>
      </p:sp>
      <p:sp>
        <p:nvSpPr>
          <p:cNvPr id="12" name="Text 10"/>
          <p:cNvSpPr/>
          <p:nvPr/>
        </p:nvSpPr>
        <p:spPr>
          <a:xfrm>
            <a:off x="4846320" y="100584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846320" y="128016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74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HW2 Out: Lecture 8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846320" y="1828800"/>
            <a:ext cx="37490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a VCG for IMP with Z3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SMT encoding of agent policies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Today’s demo is directly relevant —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getting comfortable with the Z3 Python API!</a:t>
            </a:r>
            <a:endParaRPr lang="en-US" sz="1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B28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solidFill>
            <a:srgbClr val="253548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457200"/>
            <a:ext cx="54864" cy="640080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5029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89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Propositional Logic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474720" y="50292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Syntax, semantics, satisfiability vs validity. The critical duality.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234440"/>
            <a:ext cx="8229600" cy="640080"/>
          </a:xfrm>
          <a:prstGeom prst="rect">
            <a:avLst/>
          </a:prstGeom>
          <a:solidFill>
            <a:srgbClr val="253548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1234440"/>
            <a:ext cx="54864" cy="640080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2801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89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SAT/SMT Solvers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474720" y="128016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Black-box SAT, theories (EUF, LIA, BV, Arrays), Z3 as the engine.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011680"/>
            <a:ext cx="8229600" cy="640080"/>
          </a:xfrm>
          <a:prstGeom prst="rect">
            <a:avLst/>
          </a:prstGeom>
          <a:solidFill>
            <a:srgbClr val="253548"/>
          </a:solidFill>
          <a:ln/>
        </p:spPr>
      </p:sp>
      <p:sp>
        <p:nvSpPr>
          <p:cNvPr id="12" name="Shape 10"/>
          <p:cNvSpPr/>
          <p:nvPr/>
        </p:nvSpPr>
        <p:spPr>
          <a:xfrm>
            <a:off x="457200" y="2011680"/>
            <a:ext cx="54864" cy="640080"/>
          </a:xfrm>
          <a:prstGeom prst="rect">
            <a:avLst/>
          </a:prstGeom>
          <a:solidFill>
            <a:srgbClr val="E8740C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20574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89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VCG → SMT Pipeline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474720" y="205740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Annotated programs → VCs → Z3 → verified or counterexample.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2788920"/>
            <a:ext cx="8229600" cy="640080"/>
          </a:xfrm>
          <a:prstGeom prst="rect">
            <a:avLst/>
          </a:prstGeom>
          <a:solidFill>
            <a:srgbClr val="253548"/>
          </a:solidFill>
          <a:ln/>
        </p:spPr>
      </p:sp>
      <p:sp>
        <p:nvSpPr>
          <p:cNvPr id="16" name="Shape 14"/>
          <p:cNvSpPr/>
          <p:nvPr/>
        </p:nvSpPr>
        <p:spPr>
          <a:xfrm>
            <a:off x="457200" y="2788920"/>
            <a:ext cx="54864" cy="640080"/>
          </a:xfrm>
          <a:prstGeom prst="rect">
            <a:avLst/>
          </a:prstGeom>
          <a:solidFill>
            <a:srgbClr val="CC3333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28346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89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Who Verifies the Verifier?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474720" y="283464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can do formal methods. But encoding errors are real.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3703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8 — Static Analysis: From Dataflow to Skill Auditing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39776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Subagent delegation · pipeline / coordinator / generator-critic / human-in-the-loop  ·  attention degradation and role structure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" y="480060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5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CS292C · Formal Methods for Agentic Programming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8412480" y="480060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5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CS292C Lecture 7 - SAT/SMT Solvers for Program Verification</dc:title>
  <dc:subject>PptxGenJS Presentation</dc:subject>
  <dc:creator>Yu Feng</dc:creator>
  <cp:lastModifiedBy>Yu Feng</cp:lastModifiedBy>
  <cp:revision>1</cp:revision>
  <dcterms:created xsi:type="dcterms:W3CDTF">2026-04-12T19:16:59Z</dcterms:created>
  <dcterms:modified xsi:type="dcterms:W3CDTF">2026-04-12T19:16:59Z</dcterms:modified>
</cp:coreProperties>
</file>