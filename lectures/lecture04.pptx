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000" y="1100000"/>
            <a:ext cx="1600000" cy="160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300">
                <a:solidFill>
                  <a:srgbClr val="0E7C7B"/>
                </a:solidFill>
                <a:latin typeface="Trebuchet MS"/>
              </a:rPr>
              <a:t>CS292C  · 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00000"/>
            <a:ext cx="58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Multi-Agent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00000"/>
            <a:ext cx="68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0000"/>
            <a:ext cx="68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&amp; Workflow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00000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0E7C7B"/>
                </a:solidFill>
                <a:latin typeface="Trebuchet MS"/>
              </a:rPr>
              <a:t>Lecture 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000000"/>
            <a:ext cx="182880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100000"/>
            <a:ext cx="813816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rebuchet MS"/>
              </a:rPr>
              <a:t>Yu Feng   ·   Spring 2026   ·   April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Recap — Lecture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WHERE WE LEFT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2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30000"/>
            <a:ext cx="841248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830000"/>
            <a:ext cx="54864" cy="82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955000"/>
            <a:ext cx="78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Trebuchet MS"/>
              </a:rPr>
              <a:t>SKILL.md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230000"/>
            <a:ext cx="78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Frontmatter metadata + progressive disclosure — skills are modular, discoverable, versionable.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25000"/>
            <a:ext cx="841248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25000"/>
            <a:ext cx="54864" cy="82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850000"/>
            <a:ext cx="78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GATE 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125000"/>
            <a:ext cx="78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Grounding · Action · Transfer · Exchange — four dimensions for classifying what a skill does.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20000"/>
            <a:ext cx="841248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620000"/>
            <a:ext cx="54864" cy="82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745000"/>
            <a:ext cx="78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Trebuchet MS"/>
              </a:rPr>
              <a:t>OpenClaw / ClawHub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20000"/>
            <a:ext cx="78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13,700+ community skills exposed through the ClawHub ecosystem.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15000"/>
            <a:ext cx="841248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15000"/>
            <a:ext cx="54864" cy="82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40000"/>
            <a:ext cx="78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Trebuchet MS"/>
              </a:rPr>
              <a:t>Key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915000"/>
            <a:ext cx="78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A single agent + a single skill can do a lot — but what happens when tasks exceed one agent's reach?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The Single-Agent Bottleneck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I. WHY MULTI-AGENT?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3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00000"/>
            <a:ext cx="4050000" cy="3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00000"/>
            <a:ext cx="54864" cy="350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960000"/>
            <a:ext cx="3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0E7C7B"/>
                </a:solidFill>
                <a:latin typeface="Trebuchet MS"/>
              </a:rPr>
              <a:t>ONE AGENT DOING EVERYTHING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50000"/>
            <a:ext cx="37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● 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00" y="1570000"/>
            <a:ext cx="34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Trebuchet MS"/>
              </a:rPr>
              <a:t>High-level design &amp;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770000"/>
            <a:ext cx="37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● 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000" y="1990000"/>
            <a:ext cx="34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Trebuchet MS"/>
              </a:rPr>
              <a:t>Writing the actual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190000"/>
            <a:ext cx="37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●  Code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00" y="2410000"/>
            <a:ext cx="34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Trebuchet MS"/>
              </a:rPr>
              <a:t>Catching bugs &amp; smells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610000"/>
            <a:ext cx="37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●  QA &amp;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000" y="2830000"/>
            <a:ext cx="34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Trebuchet MS"/>
              </a:rPr>
              <a:t>Verifying behavior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30000"/>
            <a:ext cx="37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● 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00" y="3250000"/>
            <a:ext cx="34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Trebuchet MS"/>
              </a:rPr>
              <a:t>Explaining what and why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50000" y="900000"/>
            <a:ext cx="4120000" cy="3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50000" y="900000"/>
            <a:ext cx="54864" cy="35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0000" y="960000"/>
            <a:ext cx="3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0392B"/>
                </a:solidFill>
                <a:latin typeface="Trebuchet MS"/>
              </a:rPr>
              <a:t>THE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0000" y="1400000"/>
            <a:ext cx="38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→  Context window is finite.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0000" y="1800000"/>
            <a:ext cx="38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→  Too many concerns to juggle at once.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0000" y="2200000"/>
            <a:ext cx="38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→  Coherence degrades over time.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0000" y="2600000"/>
            <a:ext cx="38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→  Early constraints get forgotten.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0000" y="3000000"/>
            <a:ext cx="38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→  Verification becomes nearly impossible.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Attention Degradation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I. WHY MULTI-AGENT?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4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900000"/>
            <a:ext cx="3400000" cy="23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00" y="1050000"/>
            <a:ext cx="34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0E7C7B"/>
                </a:solidFill>
                <a:latin typeface="Trebuchet M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" y="1400000"/>
            <a:ext cx="34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Georgia"/>
              </a:rPr>
              <a:t>~50K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" y="2550000"/>
            <a:ext cx="34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EDEFF3"/>
                </a:solidFill>
                <a:latin typeface="Trebuchet MS"/>
              </a:rPr>
              <a:t>tokens before attention</a:t>
            </a:r>
          </a:p>
          <a:p>
            <a:pPr algn="ctr"/>
            <a:r>
              <a:rPr sz="1100" b="0" i="1">
                <a:solidFill>
                  <a:srgbClr val="EDEFF3"/>
                </a:solidFill>
                <a:latin typeface="Trebuchet MS"/>
              </a:rPr>
              <a:t>to early instructions</a:t>
            </a:r>
          </a:p>
          <a:p>
            <a:pPr algn="ctr"/>
            <a:r>
              <a:rPr sz="1100" b="0" i="1">
                <a:solidFill>
                  <a:srgbClr val="EDEFF3"/>
                </a:solidFill>
                <a:latin typeface="Trebuchet MS"/>
              </a:rPr>
              <a:t>begins to degrade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000" y="900000"/>
            <a:ext cx="46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Trebuchet MS"/>
              </a:rPr>
              <a:t>As context fills…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0000" y="1210000"/>
            <a:ext cx="46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The model's attention to early instructions weakens, token by token.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0000" y="1680000"/>
            <a:ext cx="46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Trebuchet MS"/>
              </a:rPr>
              <a:t>Safety constraints slip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0000" y="1990000"/>
            <a:ext cx="46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Rules set at the very start are quietly deprioritized later in a long run.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0000" y="2460000"/>
            <a:ext cx="46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Trebuchet MS"/>
              </a:rPr>
              <a:t>A verification nightmare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0000" y="2770000"/>
            <a:ext cx="46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An agent that forgets a safety constraint mid-task cannot be trusted end-to-end.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00000"/>
            <a:ext cx="8412480" cy="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000000"/>
            <a:ext cx="54864" cy="62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00000"/>
            <a:ext cx="8000000" cy="6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E67E22"/>
                </a:solidFill>
                <a:latin typeface="Trebuchet MS"/>
              </a:rPr>
              <a:t>Key insight:  </a:t>
            </a:r>
            <a:r>
              <a:rPr sz="1200" b="0" i="0">
                <a:solidFill>
                  <a:srgbClr val="4A5568"/>
                </a:solidFill>
                <a:latin typeface="Trebuchet MS"/>
              </a:rPr>
              <a:t>Structured multi-agent decomposition is not just an efficiency trick — it is a </a:t>
            </a:r>
            <a:r>
              <a:rPr sz="1200" b="1" i="0">
                <a:solidFill>
                  <a:srgbClr val="1B2A4A"/>
                </a:solidFill>
                <a:latin typeface="Trebuchet MS"/>
              </a:rPr>
              <a:t>reliability mechanism.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The Case for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I. WHY MULTI-AGENT?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5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00000"/>
            <a:ext cx="2700000" cy="2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00000"/>
            <a:ext cx="54864" cy="270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5760" y="1130000"/>
            <a:ext cx="23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Trebuchet MS"/>
              </a:rPr>
              <a:t>Divide &amp; Conquer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60" y="1900000"/>
            <a:ext cx="2300000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Each agent gets a focused role with a smaller, more coherent context window.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5760" y="900000"/>
            <a:ext cx="2700000" cy="2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5760" y="900000"/>
            <a:ext cx="54864" cy="270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5760" y="1130000"/>
            <a:ext cx="23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Trebuchet MS"/>
              </a:rPr>
              <a:t>Separation of Concerns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5760" y="1900000"/>
            <a:ext cx="2300000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Planning vs. execution vs. evaluation — each agent has a bounded responsibility.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05760" y="900000"/>
            <a:ext cx="2700000" cy="2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05760" y="900000"/>
            <a:ext cx="54864" cy="2700000"/>
          </a:xfrm>
          <a:prstGeom prst="rect">
            <a:avLst/>
          </a:prstGeom>
          <a:solidFill>
            <a:srgbClr val="6C5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5760" y="1130000"/>
            <a:ext cx="23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C5B7B"/>
                </a:solidFill>
                <a:latin typeface="Trebuchet MS"/>
              </a:rPr>
              <a:t>Compositionality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5760" y="1900000"/>
            <a:ext cx="2300000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Each agent's role becomes a module with its own interface contract.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00000"/>
            <a:ext cx="841248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00000"/>
            <a:ext cx="54864" cy="7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00000"/>
            <a:ext cx="80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1B2A4A"/>
                </a:solidFill>
                <a:latin typeface="Trebuchet MS"/>
              </a:rPr>
              <a:t>Preview:  </a:t>
            </a:r>
            <a:r>
              <a:rPr sz="1200" b="0" i="0">
                <a:solidFill>
                  <a:srgbClr val="4A5568"/>
                </a:solidFill>
                <a:latin typeface="Trebuchet MS"/>
              </a:rPr>
              <a:t>Compositional verification (Lecture 6+) will let us reason about the whole system by reasoning about parts.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What Is a Subagent?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II. DELEGATION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6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70000"/>
            <a:ext cx="813816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Trebuchet MS"/>
              </a:rPr>
              <a:t>An agent spawned by a parent agent to handle a specific subtask. The parent provides the task description and constraints; the child returns a result.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850000"/>
            <a:ext cx="2200000" cy="9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0000" y="1850000"/>
            <a:ext cx="22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Parent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0000" y="1850000"/>
            <a:ext cx="2200000" cy="90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0000" y="1850000"/>
            <a:ext cx="22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Subagent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0" y="2130000"/>
            <a:ext cx="1100000" cy="18000"/>
          </a:xfrm>
          <a:prstGeom prst="rect">
            <a:avLst/>
          </a:prstGeom>
          <a:solidFill>
            <a:srgbClr val="8895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00000" y="2450000"/>
            <a:ext cx="1100000" cy="18000"/>
          </a:xfrm>
          <a:prstGeom prst="rect">
            <a:avLst/>
          </a:prstGeom>
          <a:solidFill>
            <a:srgbClr val="8895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0" y="1990000"/>
            <a:ext cx="11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4A5568"/>
                </a:solidFill>
                <a:latin typeface="Trebuchet MS"/>
              </a:rPr>
              <a:t>task + constraints 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0" y="2490000"/>
            <a:ext cx="11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4A5568"/>
                </a:solidFill>
                <a:latin typeface="Trebuchet MS"/>
              </a:rPr>
              <a:t>← 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00000"/>
            <a:ext cx="8412480" cy="11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400000"/>
            <a:ext cx="54864" cy="110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45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67E22"/>
                </a:solidFill>
                <a:latin typeface="Trebuchet MS"/>
              </a:rPr>
              <a:t>EXAMPLES IN THE WILD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770000"/>
            <a:ext cx="273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030000"/>
            <a:ext cx="273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Trebuchet MS"/>
              </a:rPr>
              <a:t>Agent tool for spawning focused subagents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4360" y="3770000"/>
            <a:ext cx="273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4360" y="4030000"/>
            <a:ext cx="273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Trebuchet MS"/>
              </a:rPr>
              <a:t>Background tasks for long-running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4360" y="3770000"/>
            <a:ext cx="273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Cursor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4360" y="4030000"/>
            <a:ext cx="273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Trebuchet MS"/>
              </a:rPr>
              <a:t>Multi-file edit agents operating in parallel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Role-Based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II. DELEGATION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7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70000"/>
            <a:ext cx="813816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A5568"/>
                </a:solidFill>
                <a:latin typeface="Trebuchet MS"/>
              </a:rPr>
              <a:t>Assign distinct roles, not just subtasks. Each role has a well-defined input/output contract.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50000"/>
            <a:ext cx="8412480" cy="5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50000"/>
            <a:ext cx="54864" cy="51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00000"/>
            <a:ext cx="22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Trebuchet MS"/>
              </a:rPr>
              <a:t>Planner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0000" y="1400000"/>
            <a:ext cx="57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Decomposes high-level goals into executable steps.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10000"/>
            <a:ext cx="8412480" cy="5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910000"/>
            <a:ext cx="54864" cy="51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960000"/>
            <a:ext cx="22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Trebuchet MS"/>
              </a:rPr>
              <a:t>Implementer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0000" y="1960000"/>
            <a:ext cx="57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Writes code or produces concrete artifacts.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70000"/>
            <a:ext cx="8412480" cy="5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470000"/>
            <a:ext cx="54864" cy="510000"/>
          </a:xfrm>
          <a:prstGeom prst="rect">
            <a:avLst/>
          </a:prstGeom>
          <a:solidFill>
            <a:srgbClr val="6C5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520000"/>
            <a:ext cx="22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6C5B7B"/>
                </a:solidFill>
                <a:latin typeface="Trebuchet MS"/>
              </a:rPr>
              <a:t>Reviewer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0000" y="2520000"/>
            <a:ext cx="57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Evaluates output against stated criteria.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30000"/>
            <a:ext cx="8412480" cy="5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030000"/>
            <a:ext cx="54864" cy="51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080000"/>
            <a:ext cx="22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Trebuchet MS"/>
              </a:rPr>
              <a:t>Tester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0000" y="3080000"/>
            <a:ext cx="57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Runs tests, checks assertions, reports failures.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90000"/>
            <a:ext cx="8412480" cy="5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590000"/>
            <a:ext cx="54864" cy="51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640000"/>
            <a:ext cx="22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Trebuchet MS"/>
              </a:rPr>
              <a:t>Researcher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0000" y="3640000"/>
            <a:ext cx="57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Gathers context, reads docs, surfaces precedent.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How Delegation Actually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II. DELEGATION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8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00000"/>
            <a:ext cx="841248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00000"/>
            <a:ext cx="54864" cy="70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2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Trebuchet MS"/>
              </a:rPr>
              <a:t>System prompts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29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Each subagent receives a focused system prompt defining its role and constraints.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60000"/>
            <a:ext cx="841248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660000"/>
            <a:ext cx="54864" cy="70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78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Trebuchet MS"/>
              </a:rPr>
              <a:t>Context passing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05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Parent decides what context to share — not everything, just what's relevant.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20000"/>
            <a:ext cx="841248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420000"/>
            <a:ext cx="54864" cy="700000"/>
          </a:xfrm>
          <a:prstGeom prst="rect">
            <a:avLst/>
          </a:prstGeom>
          <a:solidFill>
            <a:srgbClr val="6C5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4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C5B7B"/>
                </a:solidFill>
                <a:latin typeface="Trebuchet MS"/>
              </a:rPr>
              <a:t>Context 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81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Subagents don't see each other's full context — by design, for focus and safety.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80000"/>
            <a:ext cx="841248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180000"/>
            <a:ext cx="54864" cy="7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30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Trebuchet MS"/>
              </a:rPr>
              <a:t>The telephone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57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Information is inevitably lost across delegation boundaries — a key challenge.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Five Design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III.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9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70000"/>
            <a:ext cx="813816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A5568"/>
                </a:solidFill>
                <a:latin typeface="Trebuchet MS"/>
              </a:rPr>
              <a:t>Five canonical ways to orchestrate multiple agents — each with a formal analogy we will revisit.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50000"/>
            <a:ext cx="841248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50000"/>
            <a:ext cx="54864" cy="52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0000" y="1430000"/>
            <a:ext cx="380000" cy="3800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143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000" y="144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rebuchet MS"/>
              </a:rPr>
              <a:t>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00" y="1630000"/>
            <a:ext cx="7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Trebuchet MS"/>
              </a:rPr>
              <a:t>Formal analogy — Sequential composition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30000"/>
            <a:ext cx="841248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930000"/>
            <a:ext cx="54864" cy="52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0000" y="2010000"/>
            <a:ext cx="380000" cy="3800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201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000" y="202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rebuchet MS"/>
              </a:rPr>
              <a:t>Coordinator-Dispatcher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000" y="2210000"/>
            <a:ext cx="7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Trebuchet MS"/>
              </a:rPr>
              <a:t>Formal analogy — Parallel composition + join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10000"/>
            <a:ext cx="841248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10000"/>
            <a:ext cx="54864" cy="52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0000" y="2590000"/>
            <a:ext cx="380000" cy="3800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259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000" y="260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rebuchet MS"/>
              </a:rPr>
              <a:t>Generator-Critic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000" y="2790000"/>
            <a:ext cx="7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Trebuchet MS"/>
              </a:rPr>
              <a:t>Formal analogy — Iterative refinement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090000"/>
            <a:ext cx="841248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090000"/>
            <a:ext cx="54864" cy="52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0000" y="3170000"/>
            <a:ext cx="380000" cy="3800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317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000" y="318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rebuchet MS"/>
              </a:rPr>
              <a:t>Human-in-the-Loop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000" y="3370000"/>
            <a:ext cx="7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Trebuchet MS"/>
              </a:rPr>
              <a:t>Formal analogy — Oracle for undecidable properties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70000"/>
            <a:ext cx="841248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670000"/>
            <a:ext cx="54864" cy="52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00000" y="3750000"/>
            <a:ext cx="380000" cy="3800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37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000" y="376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rebuchet MS"/>
              </a:rPr>
              <a:t>Swarm / Handoff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000" y="3950000"/>
            <a:ext cx="7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Trebuchet MS"/>
              </a:rPr>
              <a:t>Formal analogy — Non-deterministic transitions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Pattern 1 —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III.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10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000" y="980000"/>
            <a:ext cx="2000000" cy="70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110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Agent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13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DEFF3"/>
                </a:solidFill>
                <a:latin typeface="Trebuchet MS"/>
              </a:rPr>
              <a:t>Write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000" y="1160000"/>
            <a:ext cx="39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8895A7"/>
                </a:solidFill>
                <a:latin typeface="Trebuchet MS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30000" y="980000"/>
            <a:ext cx="2000000" cy="70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0000" y="110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Agent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0000" y="13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DEFF3"/>
                </a:solidFill>
                <a:latin typeface="Trebuchet MS"/>
              </a:rPr>
              <a:t>Write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0000" y="1160000"/>
            <a:ext cx="39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8895A7"/>
                </a:solidFill>
                <a:latin typeface="Trebuchet MS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60000" y="980000"/>
            <a:ext cx="2000000" cy="70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0000" y="110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Agent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0000" y="13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DEFF3"/>
                </a:solidFill>
                <a:latin typeface="Trebuchet MS"/>
              </a:rPr>
              <a:t>Review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900000"/>
            <a:ext cx="841248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1900000"/>
            <a:ext cx="54864" cy="7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1900000"/>
            <a:ext cx="80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1B2A4A"/>
                </a:solidFill>
                <a:latin typeface="Trebuchet MS"/>
              </a:rPr>
              <a:t>Hoare-logic analogy:  </a:t>
            </a:r>
            <a:r>
              <a:rPr sz="1200" b="0" i="1">
                <a:solidFill>
                  <a:srgbClr val="4A5568"/>
                </a:solidFill>
                <a:latin typeface="Trebuchet MS"/>
              </a:rPr>
              <a:t>{ P }  S₁ ; S₂ ; S₃  { Q }   — verify the pipeline by verifying each stage.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800000"/>
            <a:ext cx="4050000" cy="1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800000"/>
            <a:ext cx="54864" cy="145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930000"/>
            <a:ext cx="38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7AE60"/>
                </a:solidFill>
                <a:latin typeface="Trebuchet MS"/>
              </a:rPr>
              <a:t>STRENGTHS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270000"/>
            <a:ext cx="3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✓  Simple, predictable data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690000"/>
            <a:ext cx="3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✓  Each stage verifiable in isolation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20000" y="2800000"/>
            <a:ext cx="4050000" cy="1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20000" y="2800000"/>
            <a:ext cx="54864" cy="145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0000" y="2930000"/>
            <a:ext cx="38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0392B"/>
                </a:solidFill>
                <a:latin typeface="Trebuchet MS"/>
              </a:rPr>
              <a:t>FAILURE MODES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0000" y="3270000"/>
            <a:ext cx="37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✗  Error propagation: garbage in → garbage 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0000" y="3690000"/>
            <a:ext cx="37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✗  No feedback loop to correct earlier stages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Pattern 2 — Coordinator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III.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11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0000" y="1725000"/>
            <a:ext cx="1700000" cy="65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0000" y="1725000"/>
            <a:ext cx="1700000" cy="6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Coordinator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000" y="1050000"/>
            <a:ext cx="1400000" cy="52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0000" y="1050000"/>
            <a:ext cx="140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0" y="1050000"/>
            <a:ext cx="1400000" cy="52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0" y="1050000"/>
            <a:ext cx="140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000" y="2750000"/>
            <a:ext cx="1400000" cy="52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0000" y="2750000"/>
            <a:ext cx="140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0" y="2750000"/>
            <a:ext cx="1400000" cy="52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0" y="2750000"/>
            <a:ext cx="140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50000"/>
            <a:ext cx="841248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50000"/>
            <a:ext cx="54864" cy="700000"/>
          </a:xfrm>
          <a:prstGeom prst="rect">
            <a:avLst/>
          </a:prstGeom>
          <a:solidFill>
            <a:srgbClr val="6C5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550000"/>
            <a:ext cx="80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6C5B7B"/>
                </a:solidFill>
                <a:latin typeface="Trebuchet MS"/>
              </a:rPr>
              <a:t>Parallel composition:  </a:t>
            </a:r>
            <a:r>
              <a:rPr sz="1200" b="0" i="1">
                <a:solidFill>
                  <a:srgbClr val="4A5568"/>
                </a:solidFill>
                <a:latin typeface="Trebuchet MS"/>
              </a:rPr>
              <a:t>dispatch( S₁ ‖ S₂ ‖ S₃ ) ; join   — workers run concurrently; coordinator reconciles results.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50000"/>
            <a:ext cx="813816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Trebuchet MS"/>
              </a:rPr>
              <a:t>✓  Parallelism, specialization, global context       ✗  Coordinator bottleneck, decomposition errors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Pattern 3 — Generator-Critic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III.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12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000" y="1000000"/>
            <a:ext cx="2200000" cy="80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1700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1450000"/>
            <a:ext cx="2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EDEFF3"/>
                </a:solidFill>
                <a:latin typeface="Trebuchet MS"/>
              </a:rPr>
              <a:t>Produces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0000" y="1000000"/>
            <a:ext cx="2200000" cy="80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0000" y="11700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Critic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0000" y="1450000"/>
            <a:ext cx="2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EDEFF3"/>
                </a:solidFill>
                <a:latin typeface="Trebuchet MS"/>
              </a:rPr>
              <a:t>Evaluates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0000" y="1130000"/>
            <a:ext cx="28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Trebuchet MS"/>
              </a:rPr>
              <a:t>output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0000" y="1480000"/>
            <a:ext cx="28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Trebuchet MS"/>
              </a:rPr>
              <a:t>← 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950000"/>
            <a:ext cx="813816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8895A7"/>
                </a:solidFill>
                <a:latin typeface="Trebuchet MS"/>
              </a:rPr>
              <a:t>iterate until the critic is satisfied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00000"/>
            <a:ext cx="8412480" cy="1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400000"/>
            <a:ext cx="54864" cy="1900000"/>
          </a:xfrm>
          <a:prstGeom prst="rect">
            <a:avLst/>
          </a:prstGeom>
          <a:solidFill>
            <a:srgbClr val="6C5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47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C5B7B"/>
                </a:solidFill>
                <a:latin typeface="Trebuchet MS"/>
              </a:rPr>
              <a:t>CASE STUDY — ANTHROPIC'S THREE-AGENT HARNESS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800000"/>
            <a:ext cx="80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Trebuchet MS"/>
              </a:rPr>
              <a:t>Planner  →  Generator  →  Evaluator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200000"/>
            <a:ext cx="80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Generator produces code in short “sprints.” Evaluator independently tests with</a:t>
            </a:r>
          </a:p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Playwright and scores on functionality, design, and craft. The single-agent museum</a:t>
            </a:r>
          </a:p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demo fails; the same task with a critic loop succeeds.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Pattern 4 — Human-in-the-Loop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III.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13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70000"/>
            <a:ext cx="813816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895A7"/>
                </a:solidFill>
                <a:latin typeface="Trebuchet MS"/>
              </a:rPr>
              <a:t>Approval granularity spectrum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1200000"/>
            <a:ext cx="2680000" cy="1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0000" y="1200000"/>
            <a:ext cx="54864" cy="145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000" y="1380000"/>
            <a:ext cx="232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Trebuchet MS"/>
              </a:rPr>
              <a:t>Per-Action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000" y="1840000"/>
            <a:ext cx="232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Approve every tool call.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0000" y="1200000"/>
            <a:ext cx="2680000" cy="1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0000" y="1200000"/>
            <a:ext cx="54864" cy="145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0000" y="1380000"/>
            <a:ext cx="232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Trebuchet MS"/>
              </a:rPr>
              <a:t>Per-Plan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0000" y="1840000"/>
            <a:ext cx="232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Approve the plan, then auto-execute.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60000" y="1200000"/>
            <a:ext cx="2680000" cy="1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60000" y="1200000"/>
            <a:ext cx="54864" cy="145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0000" y="1380000"/>
            <a:ext cx="232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Trebuchet MS"/>
              </a:rPr>
              <a:t>Exception-Only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0000" y="1840000"/>
            <a:ext cx="232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Auto-execute unless a safety rule triggers.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00000"/>
            <a:ext cx="841248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800000"/>
            <a:ext cx="54864" cy="15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86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2A4A"/>
                </a:solidFill>
                <a:latin typeface="Trebuchet MS"/>
              </a:rPr>
              <a:t>WHY AN ORACLE?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150000"/>
            <a:ext cx="8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Some properties are undecidable for automated tools: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430000"/>
            <a:ext cx="8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B2A4A"/>
                </a:solidFill>
                <a:latin typeface="Trebuchet MS"/>
              </a:rPr>
              <a:t>•  Intent alignment  </a:t>
            </a:r>
            <a:r>
              <a:rPr sz="1100" b="0" i="1">
                <a:solidFill>
                  <a:srgbClr val="4A5568"/>
                </a:solidFill>
                <a:latin typeface="Trebuchet MS"/>
              </a:rPr>
              <a:t>— “Is this what I actually wanted?”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700000"/>
            <a:ext cx="8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B2A4A"/>
                </a:solidFill>
                <a:latin typeface="Trebuchet MS"/>
              </a:rPr>
              <a:t>•  Aesthetic judgement  </a:t>
            </a:r>
            <a:r>
              <a:rPr sz="1100" b="0" i="1">
                <a:solidFill>
                  <a:srgbClr val="4A5568"/>
                </a:solidFill>
                <a:latin typeface="Trebuchet MS"/>
              </a:rPr>
              <a:t>— “Does this look right?”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970000"/>
            <a:ext cx="8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B2A4A"/>
                </a:solidFill>
                <a:latin typeface="Trebuchet MS"/>
              </a:rPr>
              <a:t>•  Business logic  </a:t>
            </a:r>
            <a:r>
              <a:rPr sz="1100" b="0" i="1">
                <a:solidFill>
                  <a:srgbClr val="4A5568"/>
                </a:solidFill>
                <a:latin typeface="Trebuchet MS"/>
              </a:rPr>
              <a:t>— “Is this appropriate for our users?”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Pattern 5 — Swarm / Handoff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III.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14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70000"/>
            <a:ext cx="813816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Trebuchet MS"/>
              </a:rPr>
              <a:t>Dynamic routing — no fixed topology. The “right” agent takes over based on expertise.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0000" y="1300000"/>
            <a:ext cx="1600000" cy="6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000" y="1300000"/>
            <a:ext cx="1600000" cy="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Triage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0000" y="1300000"/>
            <a:ext cx="1600000" cy="60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000" y="1300000"/>
            <a:ext cx="1600000" cy="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Billing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0000" y="1300000"/>
            <a:ext cx="1600000" cy="60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0000" y="1300000"/>
            <a:ext cx="1600000" cy="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Technical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0000" y="1300000"/>
            <a:ext cx="1600000" cy="6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0" y="1300000"/>
            <a:ext cx="1600000" cy="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Escalation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" y="2000000"/>
            <a:ext cx="82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8895A7"/>
                </a:solidFill>
                <a:latin typeface="Trebuchet MS"/>
              </a:rPr>
              <a:t>→   handoff happens at runtime based on the conversation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00000"/>
            <a:ext cx="8412480" cy="18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500000"/>
            <a:ext cx="54864" cy="1800000"/>
          </a:xfrm>
          <a:prstGeom prst="rect">
            <a:avLst/>
          </a:prstGeom>
          <a:solidFill>
            <a:srgbClr val="6C5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56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C5B7B"/>
                </a:solidFill>
                <a:latin typeface="Trebuchet MS"/>
              </a:rPr>
              <a:t>WHY THIS IS HARD TO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87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•  Non-deterministic choice — at each state, multiple agents could take over.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17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•  State management across handoffs is fragile — who owns the context?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47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•  Verification must consider all possible interleavings.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7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•  This is the state-explosion problem from model checking (Lecture 10).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Pattern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III.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15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50000"/>
            <a:ext cx="8412480" cy="42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000" y="950000"/>
            <a:ext cx="180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0000" y="950000"/>
            <a:ext cx="190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Topology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0000" y="950000"/>
            <a:ext cx="190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Strength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0000" y="950000"/>
            <a:ext cx="290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Formal analogy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70000"/>
            <a:ext cx="8412480" cy="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000" y="1370000"/>
            <a:ext cx="18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0000" y="1370000"/>
            <a:ext cx="1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A → B →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0000" y="1370000"/>
            <a:ext cx="1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Simplicity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0000" y="1370000"/>
            <a:ext cx="2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ourier New"/>
              </a:rPr>
              <a:t>{ P } S₁;S₂;S₃ { Q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930000"/>
            <a:ext cx="8412480" cy="560000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000" y="1930000"/>
            <a:ext cx="18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Coordinator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0000" y="1930000"/>
            <a:ext cx="1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Hub &lt;-&gt; Spokes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0000" y="1930000"/>
            <a:ext cx="1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Parallelism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0000" y="1930000"/>
            <a:ext cx="2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ourier New"/>
              </a:rPr>
              <a:t>S1 || S2 || S3 ; join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490000"/>
            <a:ext cx="8412480" cy="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0000" y="2490000"/>
            <a:ext cx="18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Gen-Critic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60000" y="2490000"/>
            <a:ext cx="1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G ↔ C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0000" y="2490000"/>
            <a:ext cx="1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Self-improvement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0000" y="2490000"/>
            <a:ext cx="2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ourier New"/>
              </a:rPr>
              <a:t>Iterative refinement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50000"/>
            <a:ext cx="8412480" cy="560000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0000" y="3050000"/>
            <a:ext cx="18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Human-in-Loop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60000" y="3050000"/>
            <a:ext cx="1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Agent ↔ Human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0000" y="3050000"/>
            <a:ext cx="1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Safety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0000" y="3050000"/>
            <a:ext cx="2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ourier New"/>
              </a:rPr>
              <a:t>Oracle for intent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10000"/>
            <a:ext cx="8412480" cy="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0000" y="3610000"/>
            <a:ext cx="18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Trebuchet MS"/>
              </a:rPr>
              <a:t>Swarm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60000" y="3610000"/>
            <a:ext cx="1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Dynamic mesh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0000" y="3610000"/>
            <a:ext cx="1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Flexibility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0000" y="3610000"/>
            <a:ext cx="2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ourier New"/>
              </a:rPr>
              <a:t>Non-det. transitions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500000"/>
            <a:ext cx="813816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895A7"/>
                </a:solidFill>
                <a:latin typeface="Trebuchet MS"/>
              </a:rPr>
              <a:t>Each pattern corresponds to a different proof rule we'll meet later in the course.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Mitigating Degradation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IV. REVISIT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16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50000"/>
            <a:ext cx="4050000" cy="2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50000"/>
            <a:ext cx="54864" cy="27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5760" y="1100000"/>
            <a:ext cx="36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0392B"/>
                </a:solidFill>
                <a:latin typeface="Trebuchet MS"/>
              </a:rPr>
              <a:t>SINGLE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60" y="153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•  Context fills with everything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760" y="193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•  Early instructions degrade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760" y="233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•  Safety constraints forgotten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760" y="273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•  Performance drops over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5760" y="950000"/>
            <a:ext cx="4050000" cy="2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45760" y="950000"/>
            <a:ext cx="54864" cy="270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5760" y="1100000"/>
            <a:ext cx="36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7AE60"/>
                </a:solidFill>
                <a:latin typeface="Trebuchet MS"/>
              </a:rPr>
              <a:t>MULTI-AGENT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5760" y="153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•  Each agent starts fresh &amp; focused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5760" y="193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•  Planner: just goal + 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5760" y="233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•  Implementer: just subtask +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5760" y="273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•  Reviewer: just code + criteria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00000"/>
            <a:ext cx="841248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800000"/>
            <a:ext cx="54864" cy="70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800000"/>
            <a:ext cx="80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E67E22"/>
                </a:solidFill>
                <a:latin typeface="Trebuchet MS"/>
              </a:rPr>
              <a:t>Empirical:  </a:t>
            </a:r>
            <a:r>
              <a:rPr sz="1200" b="0" i="0">
                <a:solidFill>
                  <a:srgbClr val="4A5568"/>
                </a:solidFill>
                <a:latin typeface="Trebuchet MS"/>
              </a:rPr>
              <a:t>Anthropic's long-running experiments show multi-agent harnesses dramatically outperform single-agent on complex tasks.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The Decomposition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IV. REVISIT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17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50000"/>
            <a:ext cx="4050000" cy="23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50000"/>
            <a:ext cx="54864" cy="235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5760" y="1100000"/>
            <a:ext cx="36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7AE60"/>
                </a:solidFill>
                <a:latin typeface="Trebuchet MS"/>
              </a:rPr>
              <a:t>MORE AGENTS  = 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60" y="155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✓  Less attention degradation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760" y="197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✓  Better focus per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760" y="239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✓  Modular, composable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5760" y="950000"/>
            <a:ext cx="4050000" cy="23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45760" y="950000"/>
            <a:ext cx="54864" cy="235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5760" y="1100000"/>
            <a:ext cx="36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0392B"/>
                </a:solidFill>
                <a:latin typeface="Trebuchet MS"/>
              </a:rPr>
              <a:t>BUT ALSO  =  OVERHEAD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5760" y="155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✗  More communication overhead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5760" y="197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✗  More information loss at 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5760" y="2390000"/>
            <a:ext cx="3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✗  Harder to coordinate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50000"/>
            <a:ext cx="841248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50000"/>
            <a:ext cx="54864" cy="75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550000"/>
            <a:ext cx="800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1B2A4A"/>
                </a:solidFill>
                <a:latin typeface="Trebuchet MS"/>
              </a:rPr>
              <a:t>Rule of thumb:  </a:t>
            </a:r>
            <a:r>
              <a:rPr sz="1200" b="0" i="0">
                <a:solidFill>
                  <a:srgbClr val="4A5568"/>
                </a:solidFill>
                <a:latin typeface="Trebuchet MS"/>
              </a:rPr>
              <a:t>If a single agent would need </a:t>
            </a:r>
            <a:r>
              <a:rPr sz="1200" b="1" i="0">
                <a:solidFill>
                  <a:srgbClr val="1B2A4A"/>
                </a:solidFill>
                <a:latin typeface="Trebuchet MS"/>
              </a:rPr>
              <a:t>&gt; 100K tokens of context</a:t>
            </a:r>
            <a:r>
              <a:rPr sz="1200" b="0" i="0">
                <a:solidFill>
                  <a:srgbClr val="4A5568"/>
                </a:solidFill>
                <a:latin typeface="Trebuchet MS"/>
              </a:rPr>
              <a:t>, decompose into multiple agents.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Connection to Formal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V. LOOKING AHEAD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18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70000"/>
            <a:ext cx="813816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A5568"/>
                </a:solidFill>
                <a:latin typeface="Trebuchet MS"/>
              </a:rPr>
              <a:t>Four bridges from today's engineering patterns to the formal machinery ahead.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50000"/>
            <a:ext cx="8412480" cy="6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50000"/>
            <a:ext cx="54864" cy="64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7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Trebuchet MS"/>
              </a:rPr>
              <a:t>Agents with defined roles 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3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Modular specification — each agent = a module with pre/postconditions.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50000"/>
            <a:ext cx="8412480" cy="6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050000"/>
            <a:ext cx="54864" cy="64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17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Trebuchet MS"/>
              </a:rPr>
              <a:t>Composing agents  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43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Compositional verification — reason about the whole by reasoning about parts.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50000"/>
            <a:ext cx="8412480" cy="6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50000"/>
            <a:ext cx="54864" cy="640000"/>
          </a:xfrm>
          <a:prstGeom prst="rect">
            <a:avLst/>
          </a:prstGeom>
          <a:solidFill>
            <a:srgbClr val="6C5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87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C5B7B"/>
                </a:solidFill>
                <a:latin typeface="Trebuchet MS"/>
              </a:rPr>
              <a:t>Subagent system prompt 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13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Specification — the prompt IS the spec; it defines expected behavior.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50000"/>
            <a:ext cx="8412480" cy="6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450000"/>
            <a:ext cx="54864" cy="64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57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Trebuchet MS"/>
              </a:rPr>
              <a:t>Multi-agent handoffs  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83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Trebuchet MS"/>
              </a:rPr>
              <a:t>Interface contracts — the output of one module must satisfy the next module's input.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V. LOOKING AHEAD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19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50000"/>
            <a:ext cx="841248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50000"/>
            <a:ext cx="54864" cy="720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0000" y="1090000"/>
            <a:ext cx="420000" cy="4200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00" y="1090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00" y="1090000"/>
            <a:ext cx="75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Trebuchet MS"/>
              </a:rPr>
              <a:t>Multi-agent orchestration is driven by attention degradation and separation of concerns.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30000"/>
            <a:ext cx="841248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730000"/>
            <a:ext cx="54864" cy="72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0000" y="1870000"/>
            <a:ext cx="420000" cy="42000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00" y="1870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000" y="1870000"/>
            <a:ext cx="75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Trebuchet MS"/>
              </a:rPr>
              <a:t>Five core patterns: pipeline, coordinator-dispatcher, generator-critic, human-in-the-loop, swarm.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10000"/>
            <a:ext cx="841248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510000"/>
            <a:ext cx="54864" cy="720000"/>
          </a:xfrm>
          <a:prstGeom prst="rect">
            <a:avLst/>
          </a:prstGeom>
          <a:solidFill>
            <a:srgbClr val="6C5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000" y="2650000"/>
            <a:ext cx="420000" cy="420000"/>
          </a:xfrm>
          <a:prstGeom prst="ellipse">
            <a:avLst/>
          </a:prstGeom>
          <a:solidFill>
            <a:srgbClr val="6C5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00" y="2650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000" y="2650000"/>
            <a:ext cx="75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Trebuchet MS"/>
              </a:rPr>
              <a:t>Each pattern maps onto a formal-methods analogy — sequential composition, parallel composition, refinement, oracle, non-determinism.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90000"/>
            <a:ext cx="841248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290000"/>
            <a:ext cx="54864" cy="72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0000" y="3430000"/>
            <a:ext cx="420000" cy="420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00" y="3430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000" y="3430000"/>
            <a:ext cx="75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Trebuchet MS"/>
              </a:rPr>
              <a:t>Structured roles mitigate attention degradation by giving each agent a focused context.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63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Trebuchet MS"/>
              </a:rPr>
              <a:t>Next: Lecture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0000" y="188000"/>
            <a:ext cx="20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 spc="150">
                <a:solidFill>
                  <a:srgbClr val="0E7C7B"/>
                </a:solidFill>
                <a:latin typeface="Trebuchet MS"/>
              </a:rPr>
              <a:t>V. LOOKING AHEAD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1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895A7"/>
                </a:solidFill>
                <a:latin typeface="Trebuchet MS"/>
              </a:rPr>
              <a:t>CS292C  ·  Lecture 4  ·  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4810000"/>
            <a:ext cx="14410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895A7"/>
                </a:solidFill>
                <a:latin typeface="Trebuchet MS"/>
              </a:rPr>
              <a:t>20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70000"/>
            <a:ext cx="813816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0E7C7B"/>
                </a:solidFill>
                <a:latin typeface="Trebuchet MS"/>
              </a:rPr>
              <a:t>From Agent Behavior to Formal 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2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•  Why agent behavior is hard to verify: non-determinism, side-effects, intent ambiguity.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•  Harness engineering — the industry's rediscovery of specifications and invariants.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6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•  Mapping today's orchestration patterns onto formal equivalents.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8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Trebuchet MS"/>
              </a:rPr>
              <a:t>•  Building the bridge to Hoare Logic (Lecture 6).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50000"/>
            <a:ext cx="841248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50000"/>
            <a:ext cx="54864" cy="70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50000"/>
            <a:ext cx="80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E67E22"/>
                </a:solidFill>
                <a:latin typeface="Trebuchet MS"/>
              </a:rPr>
              <a:t>HW1 reminder:  </a:t>
            </a:r>
            <a:r>
              <a:rPr sz="1200" b="0" i="0">
                <a:solidFill>
                  <a:srgbClr val="4A5568"/>
                </a:solidFill>
                <a:latin typeface="Trebuchet MS"/>
              </a:rPr>
              <a:t>Build &amp; Test an Agent Skill — due Lecture 6 (April 16).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50000"/>
            <a:ext cx="8412480" cy="11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50000"/>
            <a:ext cx="54864" cy="11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61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2A4A"/>
                </a:solidFill>
                <a:latin typeface="Trebuchet MS"/>
              </a:rPr>
              <a:t>SUGGESTED READINGS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900000"/>
            <a:ext cx="8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B2A4A"/>
                </a:solidFill>
                <a:latin typeface="Trebuchet MS"/>
              </a:rPr>
              <a:t>•  Anthropic (2026)   </a:t>
            </a:r>
            <a:r>
              <a:rPr sz="1100" b="0" i="1">
                <a:solidFill>
                  <a:srgbClr val="4A5568"/>
                </a:solidFill>
                <a:latin typeface="Trebuchet MS"/>
              </a:rPr>
              <a:t>Harness Design for Long-Running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140000"/>
            <a:ext cx="8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B2A4A"/>
                </a:solidFill>
                <a:latin typeface="Trebuchet MS"/>
              </a:rPr>
              <a:t>•  OpenAI (2026)   </a:t>
            </a:r>
            <a:r>
              <a:rPr sz="1100" b="0" i="1">
                <a:solidFill>
                  <a:srgbClr val="4A5568"/>
                </a:solidFill>
                <a:latin typeface="Trebuchet MS"/>
              </a:rPr>
              <a:t>Harness Engineering: Leveraging Codex in an Agent-First World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80000"/>
            <a:ext cx="8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B2A4A"/>
                </a:solidFill>
                <a:latin typeface="Trebuchet MS"/>
              </a:rPr>
              <a:t>•  Martin Fowler (2026)   </a:t>
            </a:r>
            <a:r>
              <a:rPr sz="1100" b="0" i="1">
                <a:solidFill>
                  <a:srgbClr val="4A5568"/>
                </a:solidFill>
                <a:latin typeface="Trebuchet MS"/>
              </a:rPr>
              <a:t>Harness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