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2" r:id="rId5"/>
    <p:sldId id="260" r:id="rId6"/>
    <p:sldId id="261" r:id="rId7"/>
    <p:sldId id="28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591"/>
  </p:normalViewPr>
  <p:slideViewPr>
    <p:cSldViewPr snapToGrid="0" snapToObjects="1">
      <p:cViewPr varScale="1">
        <p:scale>
          <a:sx n="120" d="100"/>
          <a:sy n="120" d="100"/>
        </p:scale>
        <p:origin x="184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49BE4-F530-C846-81E7-5BEF2314ECD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5503E-AF5C-B744-964F-B21BE1D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5503E-AF5C-B744-964F-B21BE1D103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31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DecoRect"/>
          <p:cNvSpPr/>
          <p:nvPr/>
        </p:nvSpPr>
        <p:spPr>
          <a:xfrm>
            <a:off x="6400000" y="1100000"/>
            <a:ext cx="1600000" cy="1600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spc="300">
                <a:solidFill>
                  <a:srgbClr val="0E7C7B"/>
                </a:solidFill>
                <a:latin typeface="Trebuchet MS"/>
              </a:defRPr>
            </a:pPr>
            <a:r>
              <a:t>CS292C  ·  FORMAL METHODS FOR AGENTIC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Hoare Logic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Triples for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0E7C7B"/>
                </a:solidFill>
                <a:latin typeface="Trebuchet MS"/>
              </a:defRPr>
            </a:pPr>
            <a:r>
              <a:t>Lecture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Trebuchet MS"/>
              </a:defRPr>
            </a:pPr>
            <a:r>
              <a:t>Yu Feng   ·   Spring 2026   ·   April 14</a:t>
            </a:r>
          </a:p>
        </p:txBody>
      </p:sp>
      <p:sp>
        <p:nvSpPr>
          <p:cNvPr id="903" name="TitleDivider"/>
          <p:cNvSpPr/>
          <p:nvPr/>
        </p:nvSpPr>
        <p:spPr>
          <a:xfrm>
            <a:off x="731520" y="3700000"/>
            <a:ext cx="182880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Recap — Lecture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Multi-Agent Orchestration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Five patterns: pipeline, coordinator-dispatcher, generator-critic, human-in-the-loop, swarm.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Formal Analogies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Sequential composition, parallel join, CEGAR, oracle, non-deterministic transitions.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Harness Engineering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Harness rules are specifications in disguise — invariants, pre/postconditions, VCs.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Key insight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Today we formalize this: Hoare Logic gives us the machinery to prove tool calls correct.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Why Reason Formally About Programs?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E7C7B"/>
                </a:solidFill>
                <a:latin typeface="Trebuchet MS"/>
              </a:defRPr>
            </a:pPr>
            <a:r>
              <a:t>Testing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Gives you confidence in your code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Checks specific inputs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Can miss corner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C0392B"/>
                </a:solidFill>
                <a:latin typeface="Trebuchet MS"/>
              </a:defRPr>
            </a:pPr>
            <a:r>
              <a:t>Proof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Gives you guarantees about correctness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Covers all possible inputs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Mathematically rigorous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2A4A"/>
                </a:solidFill>
                <a:latin typeface="Trebuchet MS"/>
              </a:defRPr>
            </a:pPr>
            <a:r>
              <a:t>But what does it mean to "prove" a program correct?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Trebuchet MS"/>
              </a:defRPr>
            </a:pPr>
            <a:r>
              <a:t>We need a logic for reasoning about programs.  Enter: Hoare Logic.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Enter: Hoare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E7C7B"/>
                </a:solidFill>
                <a:latin typeface="Trebuchet MS"/>
              </a:defRPr>
            </a:pPr>
            <a:r>
              <a:t>{ P }  C  { Q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568"/>
                </a:solidFill>
                <a:latin typeface="Trebuchet MS"/>
              </a:defRPr>
            </a:pPr>
            <a:r>
              <a:t>"If P holds before executing C, and C terminates, then Q will hold after."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dirty="0"/>
              <a:t>Origin          Developed by Tony Hoare in 1969 (Turing Award 1980)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dirty="0"/>
              <a:t>Purpose        Provides a formal system for reasoning about program correctness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dirty="0"/>
              <a:t>Core Concept  Uses "Hoare Triples" to express program specifications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 dirty="0"/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rPr dirty="0"/>
              <a:t>Agent connection:  P = context + environment state,  C = tool call,  Q = post-state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56882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Intuition Behind Hoare Triples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Precondition (P)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What must be true before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executing the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Code (C)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The program statements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to execute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Postcondition (Q)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What will be true after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execution completes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2A4A"/>
                </a:solidFill>
                <a:latin typeface="Consolas"/>
              </a:defRPr>
            </a:pPr>
            <a:r>
              <a:t>Example:    { x = 1 }   x := x + 1   { x = 2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5A7"/>
                </a:solidFill>
                <a:latin typeface="Trebuchet MS"/>
              </a:defRPr>
            </a:pPr>
            <a:r>
              <a:t>Partial Correctness Only — "If the program terminates, the postcondition holds."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What Hoare Logic Can't Do (Yet)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Doesn't Prove Termination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Cannot guarantee that a program will finish executing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Doesn't Check Runtime Errors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No protection against division by zero, null references, etc.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Partial Correctness Only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"If the program terminates, the postcondition holds"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For agents: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An agent reasoning loop may not terminate (keeps calling tools forever).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Hoare logic tells us: if it finishes, the result is correct — but not that it will finish.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IMP: Our Target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Expressions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e ::= n | x | e+e | e-e | e*e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Boolean Expressions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b ::= true | false | e=e | e&lt;e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  | ¬b | b∧b | b∨b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Statements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S ::= skip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| x := 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| S; 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| if b then S else 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| while b do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Why IMP?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 small imperative language with just enough structure to demonstrate all of Hoare Logic.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b="1">
                <a:solidFill>
                  <a:srgbClr val="1B2A4A"/>
                </a:solidFill>
              </a:rPr>
              <a:t>Every Hoare rule</a:t>
            </a:r>
            <a:r>
              <a:t> targets one of these statement forms.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Agent connection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Agent tool calls ≈ assignment.  Agent traces ≈ sequential composition.  Branching on observations ≈ conditionals.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Assignment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7C7B"/>
                </a:solidFill>
                <a:latin typeface="Consolas"/>
              </a:defRPr>
            </a:pPr>
            <a:r>
              <a:t>{ Q[x/E] }   x := E   { Q }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8895A7"/>
                </a:solidFill>
                <a:latin typeface="Trebuchet MS"/>
              </a:defRPr>
            </a:pPr>
            <a:r>
              <a:rPr lang="en-US" sz="1300" b="0">
                <a:solidFill>
                  <a:srgbClr val="8895A7"/>
                </a:solidFill>
                <a:latin typeface="Trebuchet MS"/>
              </a:rPr>
              <a:t>Q[x/E] means: replace all occurrences of x with E in 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To prove Q holds after x := E, check that Q holds with x replaced by E before the assignment.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1. Substitution — Replace all occurrences of x with E in Q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2. Backward Reasoning — Work backwards from desired postcondition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800" b="1">
                <a:solidFill>
                  <a:srgbClr val="1B2A4A"/>
                </a:solidFill>
                <a:latin typeface="Consolas"/>
              </a:defRPr>
            </a:pPr>
            <a:r>
              <a:t>Example:   { x = 1 }  x := x + 1  { x = 2 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Check: Q[x/(x+1)] = (x+1 = 2) = (x = 1)  ✓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Assignment Rule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7C7B"/>
                </a:solidFill>
                <a:latin typeface="Consolas"/>
              </a:defRPr>
            </a:pPr>
            <a:r>
              <a:t>{ y = 4 }   x := 4   { y = x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To verify using the assignment rule: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1.  Start with postcondition:  y = x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2.  Substitute x with 4:  y = 4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Trebuchet MS"/>
              </a:defRPr>
            </a:pPr>
            <a:r>
              <a:t>3.  This becomes our precondition:  y = 4  ✓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Consolas"/>
              </a:defRPr>
            </a:pPr>
            <a:r>
              <a:t>{ Q[x/E] } x := E { Q }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Consolas"/>
              </a:defRPr>
            </a:pPr>
            <a:r>
              <a:t>{ y = 4 }  x := 4  { y = x }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Calculated precondition matches given precondition — the triple is valid.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Can You Spot the Invalid Triple?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  <a:latin typeface="Consolas"/>
              </a:defRPr>
            </a:pPr>
            <a:r>
              <a:t>{ x = 0 }   x := x + 1   { x = 0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Trebuchet MS"/>
              </a:defRPr>
            </a:pPr>
            <a:r>
              <a:t>Problem:  This triple is invalid. Can you see why?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Assignment rule says precondition should be: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Consolas"/>
              </a:defRPr>
            </a:pPr>
            <a:r>
              <a:t>Q[x/(x+1)] = (x+1 = 0)  ⇒  x = −1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C0392B"/>
                </a:solidFill>
                <a:latin typeface="Trebuchet MS"/>
              </a:defRPr>
            </a:pPr>
            <a:r>
              <a:t>But given precondition is x = 0, not x = −1.  Contradiction!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Sequence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E7C7B"/>
                </a:solidFill>
                <a:latin typeface="Consolas"/>
              </a:defRPr>
            </a:pPr>
            <a:r>
              <a:t>{P} C₁ {Q}      {Q} C₂ {R}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Trebuchet MS"/>
              </a:defRPr>
            </a:pPr>
            <a:r>
              <a:t>─────────────────────────────────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0E7C7B"/>
                </a:solidFill>
                <a:latin typeface="Consolas"/>
              </a:defRPr>
            </a:pPr>
            <a:r>
              <a:t>{P}  C₁; C₂  {R}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Chain triples using intermediate postcondition Q as the precondition for the next command.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C0392B"/>
                </a:solidFill>
                <a:latin typeface="Trebuchet MS"/>
              </a:defRPr>
            </a:pPr>
            <a:r>
              <a:t>Agent analogy: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Tool call 1 produces state Q;  Tool call 2 consumes Q and produces R.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Each step in an agent trace is a sequential composition of Hoare triples.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Sequence Rule —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B2A4A"/>
                </a:solidFill>
                <a:latin typeface="Consolas"/>
              </a:defRPr>
            </a:pPr>
            <a:r>
              <a:t>Goal:  { true }  x := 5;  y := x + 2  { y = 7 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Working backward from postcondition: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                 { x+2 = 7 }    i.e.  { x = 5 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─────────────────────────────────────  [Assignment]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{ x = 5 }  y := x + 2  { y = 7 }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                 { 5 = 5 }    i.e.  { true 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─────────────────────────────────────  [Assignment]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{ true }  x := 5  { x = 5 }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  [Sequence]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Consolas"/>
              </a:defRPr>
            </a:pPr>
            <a:r>
              <a:t>{ true }  x := 5;  y := x + 2  { y = 7 }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Conditional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E7C7B"/>
                </a:solidFill>
                <a:latin typeface="Consolas"/>
              </a:defRPr>
            </a:pPr>
            <a:r>
              <a:t>{P ∧ b} C₁ {Q}      {P ∧ ¬b} C₂ {Q}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Trebuchet MS"/>
              </a:defRPr>
            </a:pPr>
            <a:r>
              <a:t>─────────────────────────────────────────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E7C7B"/>
                </a:solidFill>
                <a:latin typeface="Consolas"/>
              </a:defRPr>
            </a:pPr>
            <a:r>
              <a:t>{P}  if b then C₁ else C₂  {Q}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Both branches must establish the same postcondition Q.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C0392B"/>
                </a:solidFill>
                <a:latin typeface="Trebuchet MS"/>
              </a:defRPr>
            </a:pPr>
            <a:r>
              <a:t>Agent analogy: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"If the file has tests, run them; otherwise, generate stubs."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Both branches must leave the project in a valid state (same Q).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Conditional Rule —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onsolas"/>
              </a:defRPr>
            </a:pPr>
            <a:r>
              <a:t>{true}  if x &gt; 0 then y := x else y := −x  {y ≥ 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8595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True branch:  {x &gt; 0} ⇒ {x ≥ 0}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 [Assignment]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{x &gt; 0}  y := x  {y ≥ 0}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False branch:  {x ≤ 0} ⇒ {−x ≥ 0}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 [Assignment]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{x ≤ 0}  y := −x  {y ≥ 0}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 [Conditional]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Consolas"/>
              </a:defRPr>
            </a:pPr>
            <a:r>
              <a:t>{true}  if x &gt; 0 then y := x else y := −x  {y ≥ 0}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Skip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E7C7B"/>
                </a:solidFill>
                <a:latin typeface="Consolas"/>
              </a:defRPr>
            </a:pPr>
            <a:r>
              <a:t>{ P }  skip  { P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The skip command does nothing — the "no-op" of programming languages.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Whatever condition was true before remains true after.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Useful in proofs with empty code blocks or as placeholders in conditional branches.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Agent analogy:  An agent that observes but takes no action preserves the environment state.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Strengthening &amp; Weakening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rPr lang="en-US" sz="1400" b="0">
                <a:solidFill>
                  <a:srgbClr val="4A5568"/>
                </a:solidFill>
                <a:latin typeface="Trebuchet MS"/>
              </a:rPr>
              <a:t>The assignment rule computes a precise precondition — but it rarely matches the one you're given. These rules are the glue that lets real proofs compose.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Strengthen Precondition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P' ⇒ P      {P} C {Q}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E7C7B"/>
                </a:solidFill>
                <a:latin typeface="Consolas"/>
              </a:defRPr>
            </a:pPr>
            <a:r>
              <a:t>─────────────────────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{P'} C {Q}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More specific precondition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is always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Weaken Postcondition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{P} C {Q}      Q ⇒ Q'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─────────────────────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{P} C {Q'}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Less specific postcondition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is always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These rules are essential for composing derivations!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Strengthening —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Consolas"/>
              </a:defRPr>
            </a:pPr>
            <a:r>
              <a:t>Derive:   { z = 2 }  y := x  { y = x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Step 1:  Assignment rule gives precondition  x = x  (tautology)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Step 2:  { z = 2 } ⇒ { x = x }  since x = x is always true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8895A7"/>
                </a:solidFill>
                <a:latin typeface="Consolas"/>
              </a:defRPr>
            </a:pPr>
            <a:r>
              <a:t>                    (always true)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                 { x = x 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─────────────────────────────────  [Assignment]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{ x = x }  y := x  { y = x 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─────────────────────────────────  [Strengthening]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Consolas"/>
              </a:defRPr>
            </a:pPr>
            <a:r>
              <a:t>{ z = 2 }  y := x  { y = x }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Exercise (Try It Yourself)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IV.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7C7B"/>
                </a:solidFill>
                <a:latin typeface="Consolas"/>
              </a:defRPr>
            </a:pPr>
            <a:r>
              <a:t>{ x = 3 }   x := x + 1;  y := x   { y = 4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Trebuchet MS"/>
              </a:defRPr>
            </a:pPr>
            <a:r>
              <a:t>Question 1:  What is the intermediate assertion?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Trebuchet MS"/>
              </a:defRPr>
            </a:pPr>
            <a:r>
              <a:t>Question 2:  What rule(s) apply?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Trebuchet MS"/>
              </a:defRPr>
            </a:pPr>
            <a:r>
              <a:t>Question 3:  Write the full derivation tree.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Exercise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II. PROOF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5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1B2A4A"/>
                </a:solidFill>
                <a:latin typeface="Consolas"/>
              </a:defRPr>
            </a:pPr>
            <a:r>
              <a:t>Goal:  { x = 3 }  x := x + 1;  y := x  { y = 4 }</a:t>
            </a:r>
          </a:p>
          <a:p>
            <a:pPr algn="ctr">
              <a:spcAft>
                <a:spcPts val="100"/>
              </a:spcAft>
              <a:defRPr sz="1300" b="0">
                <a:solidFill>
                  <a:srgbClr val="8895A7"/>
                </a:solidFill>
                <a:latin typeface="Trebuchet MS"/>
              </a:defRPr>
            </a:pPr>
            <a:r>
              <a:t>Rules: Assignment (×2) + Sequence   ·   Intermediate assertion: {x = 4}</a:t>
            </a:r>
          </a:p>
        </p:txBody>
      </p:sp>
      <p:sp>
        <p:nvSpPr>
          <p:cNvPr id="10" name="TextBox 5b"/>
          <p:cNvSpPr txBox="1"/>
          <p:nvPr/>
        </p:nvSpPr>
        <p:spPr>
          <a:xfrm>
            <a:off x="457200" y="1700000"/>
            <a:ext cx="40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Working backward (WP):</a:t>
            </a:r>
          </a:p>
          <a:p>
            <a:pPr algn="l">
              <a:spcAft>
                <a:spcPts val="1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Step 1:  wp of y := x,  Q = {y = 4}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0E7C7B"/>
                </a:solidFill>
                <a:latin typeface="Consolas"/>
              </a:defRPr>
            </a:pPr>
            <a:r>
              <a:t>  Q[y/x] = {x = 4}</a:t>
            </a:r>
          </a:p>
          <a:p>
            <a:pPr algn="l">
              <a:spcAft>
                <a:spcPts val="1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Step 2:  wp of x := x+1,  Q = {x = 4}</a:t>
            </a:r>
          </a:p>
          <a:p>
            <a:pPr algn="l">
              <a:spcAft>
                <a:spcPts val="100"/>
              </a:spcAft>
              <a:defRPr sz="1300" b="0">
                <a:solidFill>
                  <a:srgbClr val="0E7C7B"/>
                </a:solidFill>
                <a:latin typeface="Consolas"/>
              </a:defRPr>
            </a:pPr>
            <a:r>
              <a:t>  Q[x/(x+1)] = {x+1 = 4} = {x = 3}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1700000"/>
            <a:ext cx="40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Bonus — Strengthening: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Step 1:  Assignment gives  x = x  (tautology)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Step 2:  { z = 2 } ⇒ { x = x }  (always true)</a:t>
            </a:r>
          </a:p>
          <a:p>
            <a:pPr algn="l">
              <a:spcAft>
                <a:spcPts val="100"/>
              </a:spcAft>
              <a:defRPr sz="1200" b="0">
                <a:solidFill>
                  <a:srgbClr val="8895A7"/>
                </a:solidFill>
                <a:latin typeface="Consolas"/>
              </a:defRPr>
            </a:pPr>
            <a:r>
              <a:t>  { x = x }  y := x  { y = x }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8895A7"/>
                </a:solidFill>
                <a:latin typeface="Consolas"/>
              </a:defRPr>
            </a:pPr>
            <a:r>
              <a:t>────────────────────────  [Strengthening]</a:t>
            </a:r>
          </a:p>
          <a:p>
            <a:pPr algn="l">
              <a:spcAft>
                <a:spcPts val="100"/>
              </a:spcAft>
              <a:defRPr sz="1300" b="1">
                <a:solidFill>
                  <a:srgbClr val="C0392B"/>
                </a:solidFill>
                <a:latin typeface="Consolas"/>
              </a:defRPr>
            </a:pPr>
            <a:r>
              <a:t>  { z = 2 }  y := x  { y = x }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Trebuchet MS"/>
              </a:defRPr>
            </a:pPr>
            <a:r>
              <a:t>Hoare Triples for Agent Tool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III. AGENT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7C7B"/>
                </a:solidFill>
                <a:latin typeface="Consolas"/>
              </a:defRPr>
            </a:pPr>
            <a:r>
              <a:t>{ path ∈ allowed_dirs ∧ user_approved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Consolas"/>
              </a:defRPr>
            </a:pPr>
            <a:r>
              <a:t>write(path, content)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7C7B"/>
                </a:solidFill>
                <a:latin typeface="Consolas"/>
              </a:defRPr>
            </a:pPr>
            <a:r>
              <a:t>{ file_exists(path) ∧ file_content(path) = content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Every tool call in an agent trace is a Hoare triple: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P  =  context window + environment state  (what the agent knows + what exists)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  =  AgentDecide(tool_call)  (the effectful command)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Q  =  post-state  (updated environment after the tool executes)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An agent trace is a sequence of Hoare triples composed via the sequence rule.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Agent Trace = Sequential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III. AGENT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8595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Example: Agent fixes a bug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{file_exists("auth.py")}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read("auth.py")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{context contains auth.py source}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edit("auth.py", fix_patch)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{auth.py contains fix}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bash("python -m pytest")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{tests_pass}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4A5568"/>
                </a:solidFill>
                <a:latin typeface="Trebuchet MS"/>
              </a:defRPr>
            </a:pPr>
            <a:r>
              <a:t>Three tool calls → three Hoare triples → composed via the sequence rule.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The intermediate assertions are the "glue" between steps.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Conditional Rule for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III. AGENT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SKILL.md branching: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"If the project has existing tests, run them.  Otherwise, generate test stubs."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{P ∧ tests_exist}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bash("pytest")                         →  {test_results_available}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Consolas"/>
              </a:defRPr>
            </a:pPr>
            <a:r>
              <a:t>{P ∧ ¬tests_exist}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   generate_stubs(); bash("pytest")       →  {test_results_available}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Both branches establish the same postcondition: test results are available.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This is exactly the conditional rule applied to agent behavior.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Soundness &amp; Completeness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V. METATHEORY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⊨ {P} S {Q}   — the triple is valid (true semantically)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⊢ {P} S {Q}   — the triple is provable in our proof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0000"/>
            <a:ext cx="396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Soundness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If  ⊢ {P} S {Q},  then  ⊨ {P} S {Q}</a:t>
            </a:r>
          </a:p>
          <a:p>
            <a:pPr algn="l">
              <a:spcAft>
                <a:spcPts val="200"/>
              </a:spcAft>
              <a:defRPr sz="1300" b="0" i="1">
                <a:solidFill>
                  <a:srgbClr val="4A5568"/>
                </a:solidFill>
                <a:latin typeface="Trebuchet MS"/>
              </a:defRPr>
            </a:pPr>
            <a:r>
              <a:t>"Everything we can prove is actually true."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0" y="2050000"/>
            <a:ext cx="396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Completeness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If  ⊨ {P} S {Q},  then  ⊢ {P} S {Q}</a:t>
            </a:r>
          </a:p>
          <a:p>
            <a:pPr algn="l">
              <a:spcAft>
                <a:spcPts val="200"/>
              </a:spcAft>
              <a:defRPr sz="1300" b="0" i="1">
                <a:solidFill>
                  <a:srgbClr val="4A5568"/>
                </a:solidFill>
                <a:latin typeface="Trebuchet MS"/>
              </a:defRPr>
            </a:pPr>
            <a:r>
              <a:t>"Everything that is true can be proved."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0000"/>
            <a:ext cx="82296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8895A7"/>
                </a:solidFill>
                <a:latin typeface="Trebuchet MS"/>
              </a:defRPr>
            </a:pPr>
            <a:r>
              <a:t>Hoare logic for IMP is both sound and complete (relative to the assertion language).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rPr lang="en-US" sz="1200" b="0">
                <a:solidFill>
                  <a:srgbClr val="4A5568"/>
                </a:solidFill>
                <a:latin typeface="Trebuchet MS"/>
              </a:rPr>
              <a:t>• Why soundness matters: every triple we derive is actually true — our proofs can be trusted.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rPr lang="en-US" sz="1200" b="0">
                <a:solidFill>
                  <a:srgbClr val="4A5568"/>
                </a:solidFill>
                <a:latin typeface="Trebuchet MS"/>
              </a:rPr>
              <a:t>• Why completeness matters: if a triple is semantically valid, our system can always find a proof.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rPr lang="en-US" sz="1200" b="0">
                <a:solidFill>
                  <a:srgbClr val="4A5568"/>
                </a:solidFill>
                <a:latin typeface="Trebuchet MS"/>
              </a:rPr>
              <a:t>• "Relative to the assertion language": completeness holds only if assertions are expressive enough. Full completeness is impossible (Gödel).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IV.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Forgetting Substitution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Always apply the substitution rule correctly — work backwards from Q.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Skipping Intermediate Assertions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Each step in a sequence needs a proper assertion connecting it to the next.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Misapplying the Assignment Rule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Remember: it works backwards from the postcondition, not forwards.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Confusing Strengthen vs. Weaken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Strengthen preconditions (make more specific), weaken postconditions (make less specific).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3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Hoare Logic in the Wild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V. METATHEORY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Verified Kernels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seL4 microkernel — formal verification guarantees security properties.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Smart Contract Verification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Formal methods prevent costly vulnerabilities where code is immutable after deployment.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Industrial Tools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Why3, Dafny, Viper, Frama-C implement Hoare Logic principles for real-world systems.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Agent Harnesses (2025–2026)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Sprint contracts, golden principles, tool policies — all Hoare triples in disguise.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Key Takeaways &amp; 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spc="150">
                <a:solidFill>
                  <a:srgbClr val="0E7C7B"/>
                </a:solidFill>
                <a:latin typeface="Trebuchet M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5  ·  Hoare Logic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Today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1.  Hoare triples  {P} C {Q}  for IMP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2.  Rules: assignment, sequence, conditional, skip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3.  Strengthen / weaken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4.  Agent reinterpretation: tool calls as Hoare triples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5.  Soundness &amp; completeness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rPr lang="en-US" sz="1300" b="0">
                <a:solidFill>
                  <a:srgbClr val="4A5568"/>
                </a:solidFill>
                <a:latin typeface="Trebuchet MS"/>
              </a:rPr>
              <a:t>Can you write a Hoare triple for a while loop? You can’t — not without knowing how many times it runs. Loop invariants solve this, and that’s where we’re headed.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Next: Lecture 6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Hoare Logic II — VCG and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Weakest Preconditions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Loop invariants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Verification 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   generation (VCG)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Dijkstra’s wp calculus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Automating proofs with Z3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HW1 Due:  April 16 (Lecture 6)  —  Build &amp; Test an Agent Skill</a:t>
            </a:r>
          </a:p>
        </p:txBody>
      </p:sp>
      <p:sp>
        <p:nvSpPr>
          <p:cNvPr id="901" name="FooterSep"/>
          <p:cNvSpPr/>
          <p:nvPr/>
        </p:nvSpPr>
        <p:spPr>
          <a:xfrm>
            <a:off x="502920" y="4570000"/>
            <a:ext cx="8138160" cy="9525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09C46F-9544-E641-B6B7-F2A52E7B674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f1515bb-f6a2-45a8-8e35-29ce0f4823c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2772</Words>
  <Application>Microsoft Macintosh PowerPoint</Application>
  <PresentationFormat>On-screen Show (16:9)</PresentationFormat>
  <Paragraphs>378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FENG</cp:lastModifiedBy>
  <cp:revision>2</cp:revision>
  <dcterms:created xsi:type="dcterms:W3CDTF">2013-01-27T09:14:16Z</dcterms:created>
  <dcterms:modified xsi:type="dcterms:W3CDTF">2026-04-15T01:00:38Z</dcterms:modified>
  <cp:category/>
</cp:coreProperties>
</file>