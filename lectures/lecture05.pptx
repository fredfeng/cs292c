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thumbnail" Target="docProps/thumbnail.jpeg"/>
  <Relationship Id="rId3" Type="http://schemas.openxmlformats.org/package/2006/relationships/metadata/core-properties" Target="docProps/core.xml"/>
  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r:id="rId7" id="256"/>
    <p:sldId r:id="rId8" id="257"/>
    <p:sldId r:id="rId9" id="258"/>
    <p:sldId r:id="rId10" id="259"/>
    <p:sldId r:id="rId11" id="260"/>
    <p:sldId r:id="rId12" id="261"/>
    <p:sldId r:id="rId32" id="281"/>
    <p:sldId r:id="rId13" id="262"/>
    <p:sldId r:id="rId14" id="263"/>
    <p:sldId r:id="rId15" id="264"/>
    <p:sldId r:id="rId16" id="265"/>
    <p:sldId r:id="rId17" id="266"/>
    <p:sldId r:id="rId18" id="267"/>
    <p:sldId r:id="rId19" id="268"/>
    <p:sldId r:id="rId20" id="269"/>
    <p:sldId r:id="rId21" id="270"/>
    <p:sldId r:id="rId22" id="271"/>
    <p:sldId r:id="rId26" id="272"/>
    <p:sldId r:id="rId31" id="273"/>
    <p:sldId r:id="rId23" id="274"/>
    <p:sldId r:id="rId24" id="275"/>
    <p:sldId r:id="rId25" id="276"/>
    <p:sldId r:id="rId27" id="277"/>
    <p:sldId r:id="rId28" id="278"/>
    <p:sldId r:id="rId29" id="279"/>
    <p:sldId r:id="rId30" id="28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printerSettings" Target="printerSettings/printerSettings1.bin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  <Relationship Id="rId6" Type="http://schemas.openxmlformats.org/officeDocument/2006/relationships/tableStyles" Target="tableStyles.xml"/>
  <Relationship Id="rId7" Type="http://schemas.openxmlformats.org/officeDocument/2006/relationships/slide" Target="slides/slide1.xml"/>
  <Relationship Id="rId8" Type="http://schemas.openxmlformats.org/officeDocument/2006/relationships/slide" Target="slides/slide2.xml"/>
  <Relationship Id="rId9" Type="http://schemas.openxmlformats.org/officeDocument/2006/relationships/slide" Target="slides/slide3.xml"/>
  <Relationship Id="rId10" Type="http://schemas.openxmlformats.org/officeDocument/2006/relationships/slide" Target="slides/slide4.xml"/>
  <Relationship Id="rId11" Type="http://schemas.openxmlformats.org/officeDocument/2006/relationships/slide" Target="slides/slide5.xml"/>
  <Relationship Id="rId12" Type="http://schemas.openxmlformats.org/officeDocument/2006/relationships/slide" Target="slides/slide6.xml"/>
  <Relationship Id="rId13" Type="http://schemas.openxmlformats.org/officeDocument/2006/relationships/slide" Target="slides/slide7.xml"/>
  <Relationship Id="rId14" Type="http://schemas.openxmlformats.org/officeDocument/2006/relationships/slide" Target="slides/slide8.xml"/>
  <Relationship Id="rId15" Type="http://schemas.openxmlformats.org/officeDocument/2006/relationships/slide" Target="slides/slide9.xml"/>
  <Relationship Id="rId16" Type="http://schemas.openxmlformats.org/officeDocument/2006/relationships/slide" Target="slides/slide10.xml"/>
  <Relationship Id="rId17" Type="http://schemas.openxmlformats.org/officeDocument/2006/relationships/slide" Target="slides/slide11.xml"/>
  <Relationship Id="rId18" Type="http://schemas.openxmlformats.org/officeDocument/2006/relationships/slide" Target="slides/slide12.xml"/>
  <Relationship Id="rId19" Type="http://schemas.openxmlformats.org/officeDocument/2006/relationships/slide" Target="slides/slide13.xml"/>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  <Relationship Id="rId28" Type="http://schemas.openxmlformats.org/officeDocument/2006/relationships/slide" Target="slides/slide22.xml"/>
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<Relationship Id="rId32" Type="http://schemas.openxmlformats.org/officeDocument/2006/relationships/slide" Target="slides/slide26.xml"/>
</Relationships>
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5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6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7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8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9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10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1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9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10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1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1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1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1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1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1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1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1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19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20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2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2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2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2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2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_rels/slide2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2" name="DecoRect"/>
          <p:cNvSpPr/>
          <p:nvPr/>
        </p:nvSpPr>
        <p:spPr>
          <a:xfrm>
            <a:off x="6400000" y="1100000"/>
            <a:ext cx="1600000" cy="160000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spc="300">
                <a:solidFill>
                  <a:srgbClr val="0E7C7B"/>
                </a:solidFill>
                <a:latin typeface="Trebuchet MS"/>
              </a:defRPr>
            </a:pPr>
            <a:r>
              <a:t>CS292C  ·  FORMAL METHODS FOR AGENTIC PROGRAMMING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Trebuchet MS"/>
              </a:defRPr>
            </a:pPr>
            <a:r>
              <a:t>Hoare Logic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Trebuchet MS"/>
              </a:defRPr>
            </a:pPr>
            <a:r>
              <a:t>Triples for Programs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Trebuchet MS"/>
              </a:defRPr>
            </a:pPr>
            <a:r>
              <a:t>and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0E7C7B"/>
                </a:solidFill>
                <a:latin typeface="Trebuchet MS"/>
              </a:defRPr>
            </a:pPr>
            <a:r>
              <a:t>Lecture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Trebuchet MS"/>
              </a:defRPr>
            </a:pPr>
            <a:r>
              <a:t>Yu Feng   ·   Spring 2026   ·   April 14</a:t>
            </a:r>
          </a:p>
        </p:txBody>
      </p:sp>
      <p:sp>
        <p:nvSpPr>
          <p:cNvPr id="903" name="TitleDivider"/>
          <p:cNvSpPr/>
          <p:nvPr/>
        </p:nvSpPr>
        <p:spPr>
          <a:xfrm>
            <a:off x="731520" y="3700000"/>
            <a:ext cx="182880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Recap — Lecture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WHERE WE LEFT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Multi-Agent Orchestration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Five patterns: pipeline, coordinator-dispatcher, generator-critic, human-in-the-loop, swarm.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Formal Analogies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Sequential composition, parallel join, CEGAR, oracle, non-deterministic transitions.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Harness Engineering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Harness rules are specifications in disguise — invariants, pre/postconditions, VCs.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Key insight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Today we formalize this: Hoare Logic gives us the machinery to prove tool calls correct.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Why Reason Formally About Programs?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I.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3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E7C7B"/>
                </a:solidFill>
                <a:latin typeface="Trebuchet MS"/>
              </a:defRPr>
            </a:pPr>
            <a:r>
              <a:t>Testing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Gives you confidence in your code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Checks specific inputs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Can miss corner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18872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C0392B"/>
                </a:solidFill>
                <a:latin typeface="Trebuchet MS"/>
              </a:defRPr>
            </a:pPr>
            <a:r>
              <a:t>Proof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Gives you guarantees about correctness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Covers all possible inputs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Mathematically rigorous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17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B2A4A"/>
                </a:solidFill>
                <a:latin typeface="Trebuchet MS"/>
              </a:defRPr>
            </a:pPr>
            <a:r>
              <a:t>But what does it mean to "prove" a program correct?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Trebuchet MS"/>
              </a:defRPr>
            </a:pPr>
            <a:r>
              <a:t>We need a logic for reasoning about programs.  Enter: Hoare Logic.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Enter: Hoare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I.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4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1887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E7C7B"/>
                </a:solidFill>
                <a:latin typeface="Trebuchet MS"/>
              </a:defRPr>
            </a:pPr>
            <a:r>
              <a:t>{ P }  C  { Q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A5568"/>
                </a:solidFill>
                <a:latin typeface="Trebuchet MS"/>
              </a:defRPr>
            </a:pPr>
            <a:r>
              <a:t>"If P holds before executing C, and C terminates, then Q will hold after."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Origin          Developed by Tony Hoare in 1969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Purpose        Provides a formal system for reasoning about program correctness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Core Concept  Uses "Hoare Triples" to express program specifications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Agent connection:  P = context + environment state,  C = tool call,  Q = post-state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Intuition Behind Hoare Triples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I.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5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E7C7B"/>
                </a:solidFill>
                <a:latin typeface="Trebuchet MS"/>
              </a:defRPr>
            </a:pPr>
            <a:r>
              <a:t>Precondition (P)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What must be true before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executing the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Code (C)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The program statements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to execute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1887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E7C7B"/>
                </a:solidFill>
                <a:latin typeface="Trebuchet MS"/>
              </a:defRPr>
            </a:pPr>
            <a:r>
              <a:t>Postcondition (Q)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What will be true after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execution completes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2A4A"/>
                </a:solidFill>
                <a:latin typeface="Consolas"/>
              </a:defRPr>
            </a:pPr>
            <a:r>
              <a:t>Example:    { x = 1 }   x := x + 1   { x = 2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5A7"/>
                </a:solidFill>
                <a:latin typeface="Trebuchet MS"/>
              </a:defRPr>
            </a:pPr>
            <a:r>
              <a:t>Partial Correctness Only — "If the program terminates, the postcondition holds."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What Hoare Logic Can't Do (Yet)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I.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6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Doesn't Prove Termination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Cannot guarantee that a program will finish executing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Doesn't Check Runtime Errors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No protection against division by zero, null references, etc.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Partial Correctness Only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"If the program terminates, the postcondition holds"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For agents: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An agent reasoning loop may not terminate (keeps calling tools forever).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Hoare logic tells us: if it finishes, the result is correct — but not that it will finish.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Assignment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II. PROOF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8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72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E7C7B"/>
                </a:solidFill>
                <a:latin typeface="Consolas"/>
              </a:defRPr>
            </a:pPr>
            <a:r>
              <a:t>{ Q[x/E] }   x := E   { Q }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8895A7"/>
                </a:solidFill>
                <a:latin typeface="Trebuchet MS"/>
              </a:defRPr>
            </a:pPr>
            <a:r>
              <a:rPr lang="en-US" sz="1300" b="0">
                <a:solidFill>
                  <a:srgbClr val="8895A7"/>
                </a:solidFill>
                <a:latin typeface="Trebuchet MS"/>
              </a:rPr>
              <a:t>Q[x/E] means: replace all occurrences of x with E in Q.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To prove Q holds after x := E, check that Q holds with x replaced by E before the assignment.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1. Substitution — Replace all occurrences of x with E in Q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2. Backward Reasoning — Work backwards from desired postcondition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800" b="1">
                <a:solidFill>
                  <a:srgbClr val="1B2A4A"/>
                </a:solidFill>
                <a:latin typeface="Consolas"/>
              </a:defRPr>
            </a:pPr>
            <a:r>
              <a:t>Example:   { x = 1 }  x := x + 1  { x = 2 }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0E7C7B"/>
                </a:solidFill>
                <a:latin typeface="Consolas"/>
              </a:defRPr>
            </a:pPr>
            <a:r>
              <a:t>Check: Q[x/(x+1)] = (x+1 = 2) = (x = 1)  ✓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Assignment Rule — 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II. PROOF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9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E7C7B"/>
                </a:solidFill>
                <a:latin typeface="Consolas"/>
              </a:defRPr>
            </a:pPr>
            <a:r>
              <a:t>{ y = 4 }   x := 4   { y = x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To verify using the assignment rule: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1.  Start with postcondition:  y = x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2.  Substitute x with 4:  y = 4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0E7C7B"/>
                </a:solidFill>
                <a:latin typeface="Trebuchet MS"/>
              </a:defRPr>
            </a:pPr>
            <a:r>
              <a:t>3.  This becomes our precondition:  y = 4  ✓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Consolas"/>
              </a:defRPr>
            </a:pPr>
            <a:r>
              <a:t>{ Q[x/E] } x := E { Q }</a:t>
            </a:r>
          </a:p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Consolas"/>
              </a:defRPr>
            </a:pPr>
            <a:r>
              <a:t>{ y = 4 }  x := 4  { y = x }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Calculated precondition matches given precondition — the triple is valid.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Can You Spot the Invalid Triple?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II. PROOF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10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0392B"/>
                </a:solidFill>
                <a:latin typeface="Consolas"/>
              </a:defRPr>
            </a:pPr>
            <a:r>
              <a:t>{ x = 0 }   x := x + 1   { x = 0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Trebuchet MS"/>
              </a:defRPr>
            </a:pPr>
            <a:r>
              <a:t>Problem:  This triple is invalid. Can you see why?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Assignment rule says precondition should be:</a:t>
            </a:r>
          </a:p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Consolas"/>
              </a:defRPr>
            </a:pPr>
            <a:r>
              <a:t>Q[x/(x+1)] = (x+1 = 0)  ⇒  x = −1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C0392B"/>
                </a:solidFill>
                <a:latin typeface="Trebuchet MS"/>
              </a:defRPr>
            </a:pPr>
            <a:r>
              <a:t>But given precondition is x = 0, not x = −1.  Contradiction!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Sequence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II. PROOF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11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0E7C7B"/>
                </a:solidFill>
                <a:latin typeface="Consolas"/>
              </a:defRPr>
            </a:pPr>
            <a:r>
              <a:t>{P} C₁ {Q}      {Q} C₂ {R}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0E7C7B"/>
                </a:solidFill>
                <a:latin typeface="Trebuchet MS"/>
              </a:defRPr>
            </a:pPr>
            <a:r>
              <a:t>─────────────────────────────────</a:t>
            </a:r>
          </a:p>
          <a:p>
            <a:pPr algn="l">
              <a:spcAft>
                <a:spcPts val="400"/>
              </a:spcAft>
              <a:defRPr sz="2200" b="1">
                <a:solidFill>
                  <a:srgbClr val="0E7C7B"/>
                </a:solidFill>
                <a:latin typeface="Consolas"/>
              </a:defRPr>
            </a:pPr>
            <a:r>
              <a:t>{P}  C₁; C₂  {R}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Chain triples using intermediate postcondition Q as the precondition for the next command.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500" b="1">
                <a:solidFill>
                  <a:srgbClr val="C0392B"/>
                </a:solidFill>
                <a:latin typeface="Trebuchet MS"/>
              </a:defRPr>
            </a:pPr>
            <a:r>
              <a:t>Agent analogy: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Tool call 1 produces state Q;  Tool call 2 consumes Q and produces R.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Each step in an agent trace is a sequential composition of Hoare triples.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Sequence Rule — Derivation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II. PROOF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12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B2A4A"/>
                </a:solidFill>
                <a:latin typeface="Consolas"/>
              </a:defRPr>
            </a:pPr>
            <a:r>
              <a:t>Goal:  { true }  x := 5;  y := x + 2  { y = 7 }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Working backward from postcondition: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                 { x+2 = 7 }    i.e.  { x = 5 }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895A7"/>
                </a:solidFill>
                <a:latin typeface="Consolas"/>
              </a:defRPr>
            </a:pPr>
            <a:r>
              <a:t>─────────────────────────────────────  [Assignment]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0E7C7B"/>
                </a:solidFill>
                <a:latin typeface="Consolas"/>
              </a:defRPr>
            </a:pPr>
            <a:r>
              <a:t>{ x = 5 }  y := x + 2  { y = 7 }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                 { 5 = 5 }    i.e.  { true }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895A7"/>
                </a:solidFill>
                <a:latin typeface="Consolas"/>
              </a:defRPr>
            </a:pPr>
            <a:r>
              <a:t>─────────────────────────────────────  [Assignment]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0E7C7B"/>
                </a:solidFill>
                <a:latin typeface="Consolas"/>
              </a:defRPr>
            </a:pPr>
            <a:r>
              <a:t>{ true }  x := 5  { x = 5 }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200" b="0">
                <a:solidFill>
                  <a:srgbClr val="8895A7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──────────────────────────────────────────────────  [Sequence]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C0392B"/>
                </a:solidFill>
                <a:latin typeface="Consolas"/>
              </a:defRPr>
            </a:pPr>
            <a:r>
              <a:t>{ true }  x := 5;  y := x + 2  { y = 7 }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Conditional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II. PROOF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13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E7C7B"/>
                </a:solidFill>
                <a:latin typeface="Consolas"/>
              </a:defRPr>
            </a:pPr>
            <a:r>
              <a:t>{P ∧ b} C₁ {Q}      {P ∧ ¬b} C₂ {Q}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0E7C7B"/>
                </a:solidFill>
                <a:latin typeface="Trebuchet MS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 algn="l">
              <a:spcAft>
                <a:spcPts val="400"/>
              </a:spcAft>
              <a:defRPr sz="2000" b="1">
                <a:solidFill>
                  <a:srgbClr val="0E7C7B"/>
                </a:solidFill>
                <a:latin typeface="Consolas"/>
              </a:defRPr>
            </a:pPr>
            <a:r>
              <a:t>{P}  if b then C₁ else C₂  {Q}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Both branches must establish the same postcondition Q.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500" b="1">
                <a:solidFill>
                  <a:srgbClr val="C0392B"/>
                </a:solidFill>
                <a:latin typeface="Trebuchet MS"/>
              </a:defRPr>
            </a:pPr>
            <a:r>
              <a:t>Agent analogy: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"If the file has tests, run them; otherwise, generate stubs."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Both branches must leave the project in a valid state (same Q).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Conditional Rule —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II. PROOF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14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  <a:latin typeface="Consolas"/>
              </a:defRPr>
            </a:pPr>
            <a:r>
              <a:t>{true}  if x &gt; 0 then y := x else y := −x  {y ≥ 0}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737360"/>
            <a:ext cx="8595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True branch:  {x &gt; 0} ⇒ {x ≥ 0}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895A7"/>
                </a:solidFill>
                <a:latin typeface="Consolas"/>
              </a:defRPr>
            </a:pPr>
            <a:r>
              <a:t>──────────────────────────── [Assignment]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0E7C7B"/>
                </a:solidFill>
                <a:latin typeface="Consolas"/>
              </a:defRPr>
            </a:pPr>
            <a:r>
              <a:t>{x &gt; 0}  y := x  {y ≥ 0}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False branch:  {x ≤ 0} ⇒ {−x ≥ 0}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895A7"/>
                </a:solidFill>
                <a:latin typeface="Consolas"/>
              </a:defRPr>
            </a:pPr>
            <a:r>
              <a:t>──────────────────────────── [Assignment]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0E7C7B"/>
                </a:solidFill>
                <a:latin typeface="Consolas"/>
              </a:defRPr>
            </a:pPr>
            <a:r>
              <a:t>{x ≤ 0}  y := −x  {y ≥ 0}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200" b="0">
                <a:solidFill>
                  <a:srgbClr val="8895A7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────────────────────────────────────────────── [Conditional]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C0392B"/>
                </a:solidFill>
                <a:latin typeface="Consolas"/>
              </a:defRPr>
            </a:pPr>
            <a:r>
              <a:t>{true}  if x &gt; 0 then y := x else y := −x  {y ≥ 0}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Skip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II. PROOF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15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71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E7C7B"/>
                </a:solidFill>
                <a:latin typeface="Consolas"/>
              </a:defRPr>
            </a:pPr>
            <a:r>
              <a:t>{ P }  skip  { P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The skip command does nothing — the "no-op" of programming languages.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Whatever condition was true before remains true after.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Useful in proofs with empty code blocks or as placeholders in conditional branches.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Agent analogy:  An agent that observes but takes no action preserves the environment state.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Strengthening &amp; Weakening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II. PROOF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16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rPr lang="en-US" sz="1400" b="0">
                <a:solidFill>
                  <a:srgbClr val="4A5568"/>
                </a:solidFill>
                <a:latin typeface="Trebuchet MS"/>
              </a:rPr>
              <a:t>The assignment rule computes a precise precondition — but it rarely matches the one you're given. These rules are the glue that lets real proofs compose.</a:t>
            </a:r>
          </a:p>
          <a:p>
            <a:pPr algn="l">
              <a:spcAft>
                <a:spcPts val="400"/>
              </a:spcAft>
              <a:defRPr sz="1800" b="1">
                <a:solidFill>
                  <a:srgbClr val="0E7C7B"/>
                </a:solidFill>
                <a:latin typeface="Trebuchet MS"/>
              </a:defRPr>
            </a:pPr>
            <a:r>
              <a:t>Strengthen Precondition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P' ⇒ P      {P} C {Q}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0E7C7B"/>
                </a:solidFill>
                <a:latin typeface="Consolas"/>
              </a:defRPr>
            </a:pPr>
            <a:r>
              <a:t>─────────────────────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{P'} C {Q}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More specific precondition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is always valid.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0972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Weaken Postcondition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{P} C {Q}      Q ⇒ Q'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C0392B"/>
                </a:solidFill>
                <a:latin typeface="Consolas"/>
              </a:defRPr>
            </a:pPr>
            <a:r>
              <a:t>─────────────────────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{P} C {Q'}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Less specific postcondition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is always valid.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These rules are essential for composing derivations!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75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Strengthening — 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II. PROOF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17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00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2A4A"/>
                </a:solidFill>
                <a:latin typeface="Consolas"/>
              </a:defRPr>
            </a:pPr>
            <a:r>
              <a:t>Derive:   { z = 2 }  y := x  { y = x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Step 1:  Assignment rule gives precondition  x = x  (tautology)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Step 2:  { z = 2 } ⇒ { x = x }  since x = x is always true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300" b="0">
                <a:solidFill>
                  <a:srgbClr val="8895A7"/>
                </a:solidFill>
                <a:latin typeface="Consolas"/>
              </a:defRPr>
            </a:pPr>
            <a:r>
              <a:t xml:space="preserve">                    (always true)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                 { x = x }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895A7"/>
                </a:solidFill>
                <a:latin typeface="Consolas"/>
              </a:defRPr>
            </a:pPr>
            <a:r>
              <a:t>─────────────────────────────────  [Assignment]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0E7C7B"/>
                </a:solidFill>
                <a:latin typeface="Consolas"/>
              </a:defRPr>
            </a:pPr>
            <a:r>
              <a:t>{ x = x }  y := x  { y = x }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8895A7"/>
                </a:solidFill>
                <a:latin typeface="Consolas"/>
              </a:defRPr>
            </a:pPr>
            <a:r>
              <a:t>─────────────────────────────────  [Strengthening]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C0392B"/>
                </a:solidFill>
                <a:latin typeface="Consolas"/>
              </a:defRPr>
            </a:pPr>
            <a:r>
              <a:t>{ z = 2 }  y := x  { y = x }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4A"/>
                </a:solidFill>
                <a:latin typeface="Trebuchet MS"/>
              </a:defRPr>
            </a:pPr>
            <a:r>
              <a:t>Hoare Triples for Agent Tool Calls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III. AGENT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20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E7C7B"/>
                </a:solidFill>
                <a:latin typeface="Consolas"/>
              </a:defRPr>
            </a:pPr>
            <a:r>
              <a:t>{ path ∈ allowed_dirs ∧ user_approved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0392B"/>
                </a:solidFill>
                <a:latin typeface="Consolas"/>
              </a:defRPr>
            </a:pPr>
            <a:r>
              <a:t>write(path, content)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E7C7B"/>
                </a:solidFill>
                <a:latin typeface="Consolas"/>
              </a:defRPr>
            </a:pPr>
            <a:r>
              <a:t>{ file_exists(path) ∧ file_content(path) = content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Every tool call in an agent trace is a Hoare triple: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P  =  context window + environment state  (what the agent knows + what exists)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C  =  AgentDecide(tool_call)  (the effectful command)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Q  =  post-state  (updated environment after the tool executes)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An agent trace is a sequence of Hoare triples composed via the sequence rule.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Agent Trace = Sequential 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III. AGENT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21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97280"/>
            <a:ext cx="8595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Example: Agent fixes a bug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0E7C7B"/>
                </a:solidFill>
                <a:latin typeface="Consolas"/>
              </a:defRPr>
            </a:pPr>
            <a:r>
              <a:t>{file_exists("auth.py")}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read("auth.py")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0E7C7B"/>
                </a:solidFill>
                <a:latin typeface="Consolas"/>
              </a:defRPr>
            </a:pPr>
            <a:r>
              <a:t>{context contains auth.py source}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edit("auth.py", fix_patch)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0E7C7B"/>
                </a:solidFill>
                <a:latin typeface="Consolas"/>
              </a:defRPr>
            </a:pPr>
            <a:r>
              <a:t>{auth.py contains fix}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bash("python -m pytest")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0E7C7B"/>
                </a:solidFill>
                <a:latin typeface="Consolas"/>
              </a:defRPr>
            </a:pPr>
            <a:r>
              <a:t>{tests_pass}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1">
                <a:solidFill>
                  <a:srgbClr val="4A5568"/>
                </a:solidFill>
                <a:latin typeface="Trebuchet MS"/>
              </a:defRPr>
            </a:pPr>
            <a:r>
              <a:t>Three tool calls → three Hoare triples → composed via the sequence rule.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The intermediate assertions are the "glue" between steps.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Conditional Rule for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III. AGENT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22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SKILL.md branching: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"If the project has existing tests, run them.  Otherwise, generate test stubs."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0E7C7B"/>
                </a:solidFill>
                <a:latin typeface="Consolas"/>
              </a:defRPr>
            </a:pPr>
            <a:r>
              <a:t>{P ∧ tests_exist}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bash("pytest")                         →  {test_results_available}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0E7C7B"/>
                </a:solidFill>
                <a:latin typeface="Consolas"/>
              </a:defRPr>
            </a:pPr>
            <a:r>
              <a:t>{P ∧ ¬tests_exist}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generate_stubs(); bash("pytest")       →  {test_results_available}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Both branches establish the same postcondition: test results are available.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This is exactly the conditional rule applied to agent behavior.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Exercise (Try It Yourself)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IV.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18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E7C7B"/>
                </a:solidFill>
                <a:latin typeface="Consolas"/>
              </a:defRPr>
            </a:pPr>
            <a:r>
              <a:t>{ x = 3 }   x := x + 1;  y := x   { y = 4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B2A4A"/>
                </a:solidFill>
                <a:latin typeface="Trebuchet MS"/>
              </a:defRPr>
            </a:pPr>
            <a:r>
              <a:t>Question 1:  What is the intermediate assertion?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1B2A4A"/>
                </a:solidFill>
                <a:latin typeface="Trebuchet MS"/>
              </a:defRPr>
            </a:pPr>
            <a:r>
              <a:t>Question 2:  What rule(s) apply?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1B2A4A"/>
                </a:solidFill>
                <a:latin typeface="Trebuchet MS"/>
              </a:defRPr>
            </a:pPr>
            <a:r>
              <a:t>Question 3:  Write the full derivation tree.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Soundness &amp;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V. METATHEORY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23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⊨ {P} S {Q}   — the triple is valid (true semantically)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⊢ {P} S {Q}   — the triple is provable in our proof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0000"/>
            <a:ext cx="396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0E7C7B"/>
                </a:solidFill>
                <a:latin typeface="Trebuchet MS"/>
              </a:defRPr>
            </a:pPr>
            <a:r>
              <a:t>Soundness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If  ⊢ {P} S {Q},  then  ⊨ {P} S {Q}</a:t>
            </a:r>
          </a:p>
          <a:p>
            <a:pPr algn="l">
              <a:spcAft>
                <a:spcPts val="200"/>
              </a:spcAft>
              <a:defRPr sz="1300" b="0" i="1">
                <a:solidFill>
                  <a:srgbClr val="4A5568"/>
                </a:solidFill>
                <a:latin typeface="Trebuchet MS"/>
              </a:defRPr>
            </a:pPr>
            <a:r>
              <a:t>"Everything we can prove is actually true."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0000" y="2050000"/>
            <a:ext cx="396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Completeness</a:t>
            </a:r>
          </a:p>
          <a:p>
            <a:pPr algn="l">
              <a:spcAft>
                <a:spcPts val="2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If  ⊨ {P} S {Q},  then  ⊢ {P} S {Q}</a:t>
            </a:r>
          </a:p>
          <a:p>
            <a:pPr algn="l">
              <a:spcAft>
                <a:spcPts val="200"/>
              </a:spcAft>
              <a:defRPr sz="1300" b="0" i="1">
                <a:solidFill>
                  <a:srgbClr val="4A5568"/>
                </a:solidFill>
                <a:latin typeface="Trebuchet MS"/>
              </a:defRPr>
            </a:pPr>
            <a:r>
              <a:t>"Everything that is true can be proved."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0000"/>
            <a:ext cx="82296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0">
                <a:solidFill>
                  <a:srgbClr val="8895A7"/>
                </a:solidFill>
                <a:latin typeface="Trebuchet MS"/>
              </a:defRPr>
            </a:pPr>
            <a:r>
              <a:t>Hoare logic for IMP is both sound and complete (relative to the assertion language).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rPr lang="en-US" sz="1200" b="0">
                <a:solidFill>
                  <a:srgbClr val="4A5568"/>
                </a:solidFill>
                <a:latin typeface="Trebuchet MS"/>
              </a:rPr>
              <a:t>• Why soundness matters: every triple we derive is actually true — our proofs can be trusted.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rPr lang="en-US" sz="1200" b="0">
                <a:solidFill>
                  <a:srgbClr val="4A5568"/>
                </a:solidFill>
                <a:latin typeface="Trebuchet MS"/>
              </a:rPr>
              <a:t>• Why completeness matters: if a triple is semantically valid, our system can always find a proof.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Trebuchet MS"/>
              </a:defRPr>
            </a:pPr>
            <a:r>
              <a:rPr lang="en-US" sz="1200" b="0">
                <a:solidFill>
                  <a:srgbClr val="4A5568"/>
                </a:solidFill>
                <a:latin typeface="Trebuchet MS"/>
              </a:rPr>
              <a:t>• "Relative to the assertion language": completeness holds only if assertions are expressive enough. Full completeness is impossible (Gödel).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IV.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24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Forgetting Substitution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Always apply the substitution rule correctly — work backwards from Q.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Skipping Intermediate Assertions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Each step in a sequence needs a proper assertion connecting it to the next.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Misapplying the Assignment Rule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Remember: it works backwards from the postcondition, not forwards.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Confusing Strengthen vs. Weaken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Strengthen preconditions (make more specific), weaken postconditions (make less specific).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3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Hoare Logic in the Wild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V. METATHEORY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25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Verified Kernels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seL4 microkernel — formal verification guarantees security properties.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Smart Contract Verification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Formal methods prevent costly vulnerabilities where code is immutable after deployment.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Industrial Tools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Why3, Dafny, Viper, Frama-C implement Hoare Logic principles for real-world systems.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Agent Harnesses (2025–2026)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Sprint contracts, golden principles, tool policies — all Hoare triples in disguise.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72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Key Takeaways &amp; What’s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26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00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Today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1.  Hoare triples  {P} C {Q}  for IMP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2.  Rules: assignment, sequence, conditional, skip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3.  Strengthen / weaken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4.  Agent reinterpretation: tool calls as Hoare triples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5.  Soundness &amp; completeness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rPr lang="en-US" sz="1300" b="0">
                <a:solidFill>
                  <a:srgbClr val="4A5568"/>
                </a:solidFill>
                <a:latin typeface="Trebuchet MS"/>
              </a:rPr>
              <a:t>Can you write a Hoare triple for a while loop? You can’t — not without knowing how many times it runs. Loop invariants solve this, and that’s where we’re headed.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00584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Next: Lecture 6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Hoare Logic II — VCG and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Weakest Preconditions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Loop invariants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Verification condition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 xml:space="preserve">   generation (VCG)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Dijkstra’s wp calculus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Automating proofs with Z3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HW1 Due:  April 16 (Lecture 6)  —  Build &amp; Test an Agent Skill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75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Exercise —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II. PROOF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19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50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1B2A4A"/>
                </a:solidFill>
                <a:latin typeface="Consolas"/>
              </a:defRPr>
            </a:pPr>
            <a:r>
              <a:t>Goal:  { x = 3 }  x := x + 1;  y := x  { y = 4 }</a:t>
            </a:r>
          </a:p>
          <a:p>
            <a:pPr algn="ctr">
              <a:spcAft>
                <a:spcPts val="100"/>
              </a:spcAft>
              <a:defRPr sz="1300" b="0">
                <a:solidFill>
                  <a:srgbClr val="8895A7"/>
                </a:solidFill>
                <a:latin typeface="Trebuchet MS"/>
              </a:defRPr>
            </a:pPr>
            <a:r>
              <a:t>Rules: Assignment (×2) + Sequence   ·   Intermediate assertion: {x = 4}</a:t>
            </a:r>
          </a:p>
        </p:txBody>
      </p:sp>
      <p:sp>
        <p:nvSpPr>
          <p:cNvPr id="10" name="TextBox 5b"/>
          <p:cNvSpPr txBox="1"/>
          <p:nvPr/>
        </p:nvSpPr>
        <p:spPr>
          <a:xfrm>
            <a:off x="457200" y="1700000"/>
            <a:ext cx="40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Working backward (WP):</a:t>
            </a:r>
          </a:p>
          <a:p>
            <a:pPr algn="l">
              <a:spcAft>
                <a:spcPts val="1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Step 1:  wp of y := x,  Q = {y = 4}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0E7C7B"/>
                </a:solidFill>
                <a:latin typeface="Consolas"/>
              </a:defRPr>
            </a:pPr>
            <a:r>
              <a:t xml:space="preserve">  Q[y/x] = {x = 4}</a:t>
            </a:r>
          </a:p>
          <a:p>
            <a:pPr algn="l">
              <a:spcAft>
                <a:spcPts val="1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Step 2:  wp of x := x+1,  Q = {x = 4}</a:t>
            </a:r>
          </a:p>
          <a:p>
            <a:pPr algn="l">
              <a:spcAft>
                <a:spcPts val="100"/>
              </a:spcAft>
              <a:defRPr sz="1300" b="0">
                <a:solidFill>
                  <a:srgbClr val="0E7C7B"/>
                </a:solidFill>
                <a:latin typeface="Consolas"/>
              </a:defRPr>
            </a:pPr>
            <a:r>
              <a:t xml:space="preserve">  Q[x/(x+1)] = {x+1 = 4} = {x = 3} 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000" y="1700000"/>
            <a:ext cx="40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Bonus — Strengthening: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Step 1:  Assignment gives  x = x  (tautology)</a:t>
            </a:r>
          </a:p>
          <a:p>
            <a:pPr algn="l">
              <a:spcAft>
                <a:spcPts val="3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Step 2:  { z = 2 } ⇒ { x = x }  (always true)</a:t>
            </a:r>
          </a:p>
          <a:p>
            <a:pPr algn="l">
              <a:spcAft>
                <a:spcPts val="100"/>
              </a:spcAft>
              <a:defRPr sz="1200" b="0">
                <a:solidFill>
                  <a:srgbClr val="8895A7"/>
                </a:solidFill>
                <a:latin typeface="Consolas"/>
              </a:defRPr>
            </a:pPr>
            <a:r>
              <a:t xml:space="preserve">  { x = x }  y := x  { y = x }</a:t>
            </a:r>
          </a:p>
          <a:p>
            <a:pPr algn="l">
              <a:spcAft>
                <a:spcPts val="100"/>
              </a:spcAft>
              <a:defRPr sz="1100" b="0">
                <a:solidFill>
                  <a:srgbClr val="8895A7"/>
                </a:solidFill>
                <a:latin typeface="Consolas"/>
              </a:defRPr>
            </a:pPr>
            <a:r>
              <a:t>────────────────────────  [Strengthening]</a:t>
            </a:r>
          </a:p>
          <a:p>
            <a:pPr algn="l">
              <a:spcAft>
                <a:spcPts val="100"/>
              </a:spcAft>
              <a:defRPr sz="1300" b="1">
                <a:solidFill>
                  <a:srgbClr val="C0392B"/>
                </a:solidFill>
                <a:latin typeface="Consolas"/>
              </a:defRPr>
            </a:pPr>
            <a:r>
              <a:t xml:space="preserve">  { z = 2 }  y := x  { y = x }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8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2A4A"/>
                </a:solidFill>
                <a:latin typeface="Trebuchet MS"/>
              </a:defRPr>
            </a:pPr>
            <a:r>
              <a:t>IMP: Our Target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spc="150">
                <a:solidFill>
                  <a:srgbClr val="0E7C7B"/>
                </a:solidFill>
                <a:latin typeface="Trebuchet MS"/>
              </a:defRPr>
            </a:pPr>
            <a:r>
              <a:t>I.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5  ·  Hoare Logic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7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Expressions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e ::= n | x | e+e | e-e | e*e</a:t>
            </a:r>
          </a:p>
          <a:p>
            <a:pPr algn="l">
              <a:spcAft>
                <a:spcPts val="2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Boolean Expressions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b ::= true | false | e=e | e&lt;e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  | ¬b | b∧b | b∨b</a:t>
            </a:r>
          </a:p>
          <a:p>
            <a:pPr algn="l">
              <a:spcAft>
                <a:spcPts val="2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Statements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S ::= skip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| x := 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| S; 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| if b then S else 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 xml:space="preserve">   | while b do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960120"/>
            <a:ext cx="3840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Why IMP?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A small imperative language with just enough structure to demonstrate all of Hoare Logic.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rPr b="1">
                <a:solidFill>
                  <a:srgbClr val="1B2A4A"/>
                </a:solidFill>
              </a:rPr>
              <a:t>Every Hoare rule</a:t>
            </a:r>
            <a:r>
              <a:t xml:space="preserve"> targets one of these statement forms.</a:t>
            </a:r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Agent connection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Agent tool calls ≈ assignment.  Agent traces ≈ sequential composition.  Branching on observations ≈ conditionals.</a:t>
            </a:r>
          </a:p>
        </p:txBody>
      </p:sp>
      <p:sp>
        <p:nvSpPr>
          <p:cNvPr id="901" name="FooterSep"/>
          <p:cNvSpPr/>
          <p:nvPr/>
        </p:nvSpPr>
        <p:spPr>
          <a:xfrm>
            <a:off x="502920" y="4570000"/>
            <a:ext cx="8138160" cy="9525"/>
          </a:xfrm>
          <a:prstGeom prst="rect">
            <a:avLst/>
          </a:prstGeom>
          <a:solidFill>
            <a:srgbClr val="EDEF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