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82" r:id="rId33"/>
    <p:sldId id="283" r:id="rId34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E7C7B"/>
                </a:solidFill>
                <a:latin typeface="Trebuchet MS"/>
              </a:defRPr>
            </a:pPr>
            <a:r>
              <a:t>CS292C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4400" b="1">
                <a:solidFill>
                  <a:srgbClr val="1B2A4A"/>
                </a:solidFill>
                <a:latin typeface="Georgia"/>
              </a:defRPr>
            </a:pPr>
            <a:r>
              <a:t>Lightweight Trace</a:t>
            </a:r>
          </a:p>
          <a:p>
            <a:pPr algn="l">
              <a:spcAft>
                <a:spcPts val="300"/>
              </a:spcAft>
              <a:defRPr sz="4400" b="1">
                <a:solidFill>
                  <a:srgbClr val="1B2A4A"/>
                </a:solidFill>
                <a:latin typeface="Georgia"/>
              </a:defRPr>
            </a:pPr>
            <a:r>
              <a:t>Verification for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42032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5C7A"/>
                </a:solidFill>
                <a:latin typeface="Trebuchet MS"/>
              </a:defRPr>
            </a:pPr>
            <a:r>
              <a:t>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18688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Lecture 10  ·  April 30, 2026  ·  Last class before midterm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538728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5A7"/>
                </a:solidFill>
                <a:latin typeface="Trebuchet MS"/>
              </a:defRPr>
            </a:pPr>
            <a:r>
              <a:t>Yu Feng  ·  UC Santa Barbara  ·  Department of Computer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Recap — The Formal Methods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77824"/>
            <a:ext cx="795527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Hoare Logic (Lec 5–6)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{P} C {Q} triples, loop invariants, VCG, weakest preconditions. Proves individual steps correct.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SAT/SMT Solvers (Lec 7)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Propositional logic, CNF, DPLL/CDCL, Z3. Automates discharging verification conditions.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Static Analysis (Lec 8–9)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Abstract interpretation, dataflow, taint tracking, Datalog, points-to analysis. Analyzes code without running it.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E67E22"/>
                </a:solidFill>
                <a:latin typeface="Trebuchet MS"/>
              </a:defRPr>
            </a:pPr>
            <a:r>
              <a:t>What's missing?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All three reason about programs or formulas. None directly reason about execution traces — the sequence of actions an agent actually takes at runtime.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Today’s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731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DAFAF"/>
                </a:solidFill>
                <a:latin typeface="Georgia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44168"/>
            <a:ext cx="37673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B2A4A"/>
                </a:solidFill>
                <a:latin typeface="Trebuchet MS"/>
              </a:defRPr>
            </a:pPr>
            <a:r>
              <a:t>Agent Traces as Sequences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709928"/>
            <a:ext cx="37673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4A5568"/>
                </a:solidFill>
                <a:latin typeface="Trebuchet MS"/>
              </a:defRPr>
            </a:pPr>
            <a:r>
              <a:t>What is a trace? Formalizing tool-call sequences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51176"/>
            <a:ext cx="731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DAFAF"/>
                </a:solidFill>
                <a:latin typeface="Georgia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962656"/>
            <a:ext cx="37673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B2A4A"/>
                </a:solidFill>
                <a:latin typeface="Trebuchet MS"/>
              </a:defRPr>
            </a:pPr>
            <a:r>
              <a:t>Trace Properties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3328416"/>
            <a:ext cx="37673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4A5568"/>
                </a:solidFill>
                <a:latin typeface="Trebuchet MS"/>
              </a:defRPr>
            </a:pPr>
            <a:r>
              <a:t>Safety, liveness, and fairness — as Python predicates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932688"/>
            <a:ext cx="731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DAFAF"/>
                </a:solidFill>
                <a:latin typeface="Georgia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8032" y="1344168"/>
            <a:ext cx="37673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B2A4A"/>
                </a:solidFill>
                <a:latin typeface="Trebuchet MS"/>
              </a:defRPr>
            </a:pPr>
            <a:r>
              <a:t>Runtime Monitors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2" y="1709928"/>
            <a:ext cx="37673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4A5568"/>
                </a:solidFill>
                <a:latin typeface="Trebuchet MS"/>
              </a:defRPr>
            </a:pPr>
            <a:r>
              <a:t>DFA-based monitors that watch agent behavior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551176"/>
            <a:ext cx="731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DAFAF"/>
                </a:solidFill>
                <a:latin typeface="Georgia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8032" y="2962656"/>
            <a:ext cx="37673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B2A4A"/>
                </a:solidFill>
                <a:latin typeface="Trebuchet MS"/>
              </a:defRPr>
            </a:pPr>
            <a:r>
              <a:t>Bounded Trace Verification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8032" y="3328416"/>
            <a:ext cx="37673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4A5568"/>
                </a:solidFill>
                <a:latin typeface="Trebuchet MS"/>
              </a:defRPr>
            </a:pPr>
            <a:r>
              <a:t>Connecting traces back to Z3 / SMT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85876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DAFAF"/>
                </a:solidFill>
                <a:latin typeface="Georgia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8587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B2A4A"/>
                </a:solidFill>
                <a:latin typeface="Trebuchet MS"/>
              </a:defRPr>
            </a:pPr>
            <a:r>
              <a:t>Midterm Preview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206240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4A5568"/>
                </a:solidFill>
                <a:latin typeface="Trebuchet MS"/>
              </a:defRPr>
            </a:pPr>
            <a:r>
              <a:t>What to expect on May 5 — format, coverage, sample questions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I. AGENT TRACES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Georgia"/>
              </a:defRPr>
            </a:pPr>
            <a:r>
              <a:t>What Is a Trace?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An agent trace is a finite sequence of observed events: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ctr">
              <a:spcAft>
                <a:spcPts val="300"/>
              </a:spcAft>
              <a:defRPr sz="2000" b="1">
                <a:solidFill>
                  <a:srgbClr val="1B2A4A"/>
                </a:solidFill>
                <a:latin typeface="Georgia"/>
              </a:defRPr>
            </a:pPr>
            <a:r>
              <a:t>τ = ⟨ e₁, e₂, e₃, …, eₙ ⟩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where each eᵢ is a tool call with: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•  tool name     (read_file, bash, write, …)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•  arguments     (path, command, content, …)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•  result        (success/failure + output)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•  timestamp     (ordering)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0E7C7B"/>
                </a:solidFill>
                <a:latin typeface="Trebuchet MS"/>
              </a:defRPr>
            </a:pPr>
            <a:r>
              <a:t>No Kripke structures.  No temporal operators.  Just a log.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You already generated traces in HW1 when you ran your skill and recorded what happened.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I. AGENT TRACES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A Concrete Agent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00" b="1">
                <a:solidFill>
                  <a:srgbClr val="1B2A4A"/>
                </a:solidFill>
                <a:latin typeface="Trebuchet MS"/>
              </a:defRPr>
            </a:pPr>
            <a:r>
              <a:t>Agent task: "Fix the bug in auth.py and make sure tests pass"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050" b="0">
                <a:solidFill>
                  <a:srgbClr val="4A5568"/>
                </a:solidFill>
                <a:latin typeface="Courier New"/>
              </a:defRPr>
            </a:pPr>
            <a:r>
              <a:t>trace = [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4A5568"/>
                </a:solidFill>
                <a:latin typeface="Courier New"/>
              </a:defRPr>
            </a:pPr>
            <a:r>
              <a:t>  { tool: "read_file",  args: {path: "auth.py"} },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4A5568"/>
                </a:solidFill>
                <a:latin typeface="Courier New"/>
              </a:defRPr>
            </a:pPr>
            <a:r>
              <a:t>  { tool: "read_file",  args: {path: "test_auth.py"} },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4A5568"/>
                </a:solidFill>
                <a:latin typeface="Courier New"/>
              </a:defRPr>
            </a:pPr>
            <a:r>
              <a:t>  { tool: "edit_file",  args: {path: "auth.py", ...} },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4A5568"/>
                </a:solidFill>
                <a:latin typeface="Courier New"/>
              </a:defRPr>
            </a:pPr>
            <a:r>
              <a:t>  { tool: "bash",       args: {cmd: "pytest"} },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4A5568"/>
                </a:solidFill>
                <a:latin typeface="Courier New"/>
              </a:defRPr>
            </a:pPr>
            <a:r>
              <a:t>]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Questions we want to answer about this trace: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0E7C7B"/>
                </a:solidFill>
                <a:latin typeface="Trebuchet MS"/>
              </a:defRPr>
            </a:pPr>
            <a:r>
              <a:t>•  Did the agent stay in the sandbox?  (safety)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0E7C7B"/>
                </a:solidFill>
                <a:latin typeface="Trebuchet MS"/>
              </a:defRPr>
            </a:pPr>
            <a:r>
              <a:t>•  Did the agent eventually run tests?  (liveness)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0E7C7B"/>
                </a:solidFill>
                <a:latin typeface="Trebuchet MS"/>
              </a:defRPr>
            </a:pPr>
            <a:r>
              <a:t>•  Did reads happen before writes?  (ordering)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I. AGENT TRACES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Why Traces, Not Programs?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3931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50" b="1">
                <a:solidFill>
                  <a:srgbClr val="6C5B7B"/>
                </a:solidFill>
                <a:latin typeface="Trebuchet MS"/>
              </a:defRPr>
            </a:pPr>
            <a:r>
              <a:t>Static Analysis / VCG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Reasons about source code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Before execution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Sound: covers all paths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67E22"/>
                </a:solidFill>
                <a:latin typeface="Trebuchet MS"/>
              </a:defRPr>
            </a:pPr>
            <a:r>
              <a:t>•  But: agents have no fixed source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E67E22"/>
                </a:solidFill>
                <a:latin typeface="Trebuchet MS"/>
              </a:defRPr>
            </a:pPr>
            <a:r>
              <a:t>    — the LLM decides at runtime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1051560"/>
            <a:ext cx="3931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Trace Verification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Reasons about observed behavior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During or after execution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Complete: sees what actually happened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0E7C7B"/>
                </a:solidFill>
                <a:latin typeface="Trebuchet MS"/>
              </a:defRPr>
            </a:pPr>
            <a:r>
              <a:t>•  Practical for non-deterministic agents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0E7C7B"/>
                </a:solidFill>
                <a:latin typeface="Trebuchet MS"/>
              </a:defRPr>
            </a:pPr>
            <a:r>
              <a:t>    — check the trace, not the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4747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50" b="1">
                <a:solidFill>
                  <a:srgbClr val="E67E22"/>
                </a:solidFill>
                <a:latin typeface="Trebuchet MS"/>
              </a:defRPr>
            </a:pPr>
            <a:r>
              <a:t>Key insight: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An LLM agent has no fixed control flow graph. But every run produces a concrete trace we can check.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II. TRACE PROPERTIES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Safety: "Nothing Bad Ever Happens"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A safety property asserts that every event in the trace satisfies a predicate.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def check_sandbox(trace, sandbox_dir):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    for event in trace: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        if event.tool in ("write", "edit_file"):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            assert event.args.path.startswith(sandbox_dir)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ctr">
              <a:spcAft>
                <a:spcPts val="300"/>
              </a:spcAft>
              <a:defRPr sz="1400" b="1">
                <a:solidFill>
                  <a:srgbClr val="1B2A4A"/>
                </a:solidFill>
                <a:latin typeface="Georgia"/>
              </a:defRPr>
            </a:pPr>
            <a:r>
              <a:t>Formally:  ∀i ∈ [1..n].  φ(eᵢ)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This is the same property from Lecture 5 (the four levels of rigor), now as a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runtime check. No temporal logic needed — just a for-loop over the trace.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Examples:  no writes outside sandbox, no network calls, no secret exfiltration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II. TRACE PROPERTIES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Liveness: "Something Good Eventually Happens"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A liveness property asserts that some desired event appears in the trace.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def check_tests_ran(trace):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    assert any(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        e.tool == "bash" and "pytest" in e.args.cmd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        for e in trace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    )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ctr">
              <a:spcAft>
                <a:spcPts val="300"/>
              </a:spcAft>
              <a:defRPr sz="1400" b="1">
                <a:solidFill>
                  <a:srgbClr val="1B2A4A"/>
                </a:solidFill>
                <a:latin typeface="Georgia"/>
              </a:defRPr>
            </a:pPr>
            <a:r>
              <a:t>Formally:  ∃i ∈ [1..n].  ψ(eᵢ)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E67E22"/>
                </a:solidFill>
                <a:latin typeface="Trebuchet MS"/>
              </a:defRPr>
            </a:pPr>
            <a:r>
              <a:t>Caveat:  We can only check liveness after the trace completes (or at timeout).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For agents, timeout-based liveness is practical: "if the agent hasn't run tests within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20 tool calls, flag it."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II. TRACE PROPERTIES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Ordering: "A Before B"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Many agent properties are about ordering: read before write, lint before commit, etc.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def check_read_before_write(trace, path):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    first_write = next(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        (i for i, e in enumerate(trace)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         if e.tool == "write" and e.args.path == path),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        None)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    if first_write is not None: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        assert any(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            e.tool == "read_file" and e.args.path == path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            for e in trace[:first_write])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ctr">
              <a:spcAft>
                <a:spcPts val="300"/>
              </a:spcAft>
              <a:defRPr sz="1400" b="1">
                <a:solidFill>
                  <a:srgbClr val="1B2A4A"/>
                </a:solidFill>
                <a:latin typeface="Georgia"/>
              </a:defRPr>
            </a:pPr>
            <a:r>
              <a:t>Formally:  ∀j. write(eⱼ) → ∃i &lt; j. read(eᵢ)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II. TRACE PROPERTIES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The Agent Trace Property Zoo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Safety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4A5568"/>
                </a:solidFill>
                <a:latin typeface="Trebuchet MS"/>
              </a:defRPr>
            </a:pPr>
            <a:r>
              <a:t>•  No file writes outside sandbox            •  No secret in tool arguments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4A5568"/>
                </a:solidFill>
                <a:latin typeface="Trebuchet MS"/>
              </a:defRPr>
            </a:pPr>
            <a:r>
              <a:t>•  No network calls to external hosts         •  No rm -rf without confirmation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Liveness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4A5568"/>
                </a:solidFill>
                <a:latin typeface="Trebuchet MS"/>
              </a:defRPr>
            </a:pPr>
            <a:r>
              <a:t>•  Tests are eventually run                   •  User prompt is eventually answered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4A5568"/>
                </a:solidFill>
                <a:latin typeface="Trebuchet MS"/>
              </a:defRPr>
            </a:pPr>
            <a:r>
              <a:t>•  Modified files are eventually saved         •  Errors are eventually handled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Ordering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4A5568"/>
                </a:solidFill>
                <a:latin typeface="Trebuchet MS"/>
              </a:defRPr>
            </a:pPr>
            <a:r>
              <a:t>•  Read before write for every file            •  Lint before commit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4A5568"/>
                </a:solidFill>
                <a:latin typeface="Trebuchet MS"/>
              </a:defRPr>
            </a:pPr>
            <a:r>
              <a:t>•  Backup before destructive operation         •  Plan before execute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6C5B7B"/>
                </a:solidFill>
                <a:latin typeface="Trebuchet MS"/>
              </a:defRPr>
            </a:pPr>
            <a:r>
              <a:t>Quantitative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4A5568"/>
                </a:solidFill>
                <a:latin typeface="Trebuchet MS"/>
              </a:defRPr>
            </a:pPr>
            <a:r>
              <a:t>•  ≤ k tool calls total (budget)               •  ≤ m bash calls (risk budget)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1">
                <a:solidFill>
                  <a:srgbClr val="E67E22"/>
                </a:solidFill>
                <a:latin typeface="Trebuchet MS"/>
              </a:defRPr>
            </a:pPr>
            <a:r>
              <a:t>All of these are just predicates over a list.  No special logic required.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II. TRACE PROPERTIES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The Theory Beneath (One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In classical model checking, these properties have names from temporal logic: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1B2A4A"/>
                </a:solidFill>
                <a:latin typeface="Courier New"/>
              </a:defRPr>
            </a:pPr>
            <a:r>
              <a:t>Safety     ≡  G(φ)     "globally φ"        = ∀i. φ(eᵢ)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1B2A4A"/>
                </a:solidFill>
                <a:latin typeface="Courier New"/>
              </a:defRPr>
            </a:pPr>
            <a:r>
              <a:t>Liveness   ≡  F(ψ)     "eventually ψ"     = ∃i. ψ(eᵢ)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1B2A4A"/>
                </a:solidFill>
                <a:latin typeface="Courier New"/>
              </a:defRPr>
            </a:pPr>
            <a:r>
              <a:t>Ordering   ≡  G(α → F(β))                  = response pattern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LTL (Linear Temporal Logic) and CTL are the full formalisms.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Classical model checking explores all possible traces via state-space search.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E67E22"/>
                </a:solidFill>
                <a:latin typeface="Trebuchet MS"/>
              </a:defRPr>
            </a:pPr>
            <a:r>
              <a:t>The problem: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State explosion.  An agent with 50 tools and 20 steps has 50²⁰ possible traces.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Classical model checking doesn’t scale to real agents.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Our approach:  Check the actual trace at runtime, not all possible traces upfront.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Same properties, practical cost: O(trace length).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III. RUNTIME MONITORS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Georgia"/>
              </a:defRPr>
            </a:pPr>
            <a:r>
              <a:t>Runtime Monitors: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A runtime monitor sits between the agent and its tools: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ctr">
              <a:spcAft>
                <a:spcPts val="300"/>
              </a:spcAft>
              <a:defRPr sz="1300" b="1">
                <a:solidFill>
                  <a:srgbClr val="1B2A4A"/>
                </a:solidFill>
                <a:latin typeface="Courier New"/>
              </a:defRPr>
            </a:pPr>
            <a:r>
              <a:t>  Agent  ───  tool_call  ───▶  Monitor  ───  allow/deny  ───▶  Tool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Before each tool call executes, the monitor: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1.  Observes the event (tool name + arguments)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2.  Updates its internal state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3.  Decides: allow, deny, or alert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This is exactly what Claude Code’s permission system does.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And what you tested in HW1 when you checked safety properties on your skill’s traces.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III. RUNTIME MONITORS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Monitors as DFAs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A safety monitor is a deterministic finite automaton (DFA):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ctr">
              <a:spcAft>
                <a:spcPts val="300"/>
              </a:spcAft>
              <a:defRPr sz="1600" b="1">
                <a:solidFill>
                  <a:srgbClr val="1B2A4A"/>
                </a:solidFill>
                <a:latin typeface="Georgia"/>
              </a:defRPr>
            </a:pPr>
            <a:r>
              <a:t>M = (Q, Σ, δ, q₀, F)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0">
                <a:solidFill>
                  <a:srgbClr val="4A5568"/>
                </a:solidFill>
                <a:latin typeface="Courier New"/>
              </a:defRPr>
            </a:pPr>
            <a:r>
              <a:t>Q   = monitor states</a:t>
            </a:r>
          </a:p>
          <a:p>
            <a:pPr algn="l">
              <a:spcAft>
                <a:spcPts val="300"/>
              </a:spcAft>
              <a:defRPr sz="1150" b="0">
                <a:solidFill>
                  <a:srgbClr val="4A5568"/>
                </a:solidFill>
                <a:latin typeface="Courier New"/>
              </a:defRPr>
            </a:pPr>
            <a:r>
              <a:t>Σ   = set of possible events (tool calls)</a:t>
            </a:r>
          </a:p>
          <a:p>
            <a:pPr algn="l">
              <a:spcAft>
                <a:spcPts val="300"/>
              </a:spcAft>
              <a:defRPr sz="1150" b="0">
                <a:solidFill>
                  <a:srgbClr val="4A5568"/>
                </a:solidFill>
                <a:latin typeface="Courier New"/>
              </a:defRPr>
            </a:pPr>
            <a:r>
              <a:t>δ   = transition function (state × event → state)</a:t>
            </a:r>
          </a:p>
          <a:p>
            <a:pPr algn="l">
              <a:spcAft>
                <a:spcPts val="300"/>
              </a:spcAft>
              <a:defRPr sz="1150" b="0">
                <a:solidFill>
                  <a:srgbClr val="4A5568"/>
                </a:solidFill>
                <a:latin typeface="Courier New"/>
              </a:defRPr>
            </a:pPr>
            <a:r>
              <a:t>q₀  = initial state</a:t>
            </a:r>
          </a:p>
          <a:p>
            <a:pPr algn="l">
              <a:spcAft>
                <a:spcPts val="300"/>
              </a:spcAft>
              <a:defRPr sz="1150" b="0">
                <a:solidFill>
                  <a:srgbClr val="4A5568"/>
                </a:solidFill>
                <a:latin typeface="Courier New"/>
              </a:defRPr>
            </a:pPr>
            <a:r>
              <a:t>F   = accepting (safe) states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C0392B"/>
                </a:solidFill>
                <a:latin typeface="Trebuchet MS"/>
              </a:defRPr>
            </a:pPr>
            <a:r>
              <a:t>If the DFA ever reaches a reject state → halt the agent.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You already know DFAs from undergrad theory of computation.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This is the same thing, applied to agent tool-call sequences.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III. RUNTIME MONITORS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Example: Sandbox Monitor DFA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States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  q₀ = OK  (accepting)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C0392B"/>
                </a:solidFill>
                <a:latin typeface="Courier New"/>
              </a:defRPr>
            </a:pPr>
            <a:r>
              <a:t>  q₁ = VIOLATION  (rejecting)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Transitions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4A5568"/>
                </a:solidFill>
                <a:latin typeface="Courier New"/>
              </a:defRPr>
            </a:pPr>
            <a:r>
              <a:t>  q₀ ── write(path ∈ sandbox) ──▶ q₀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C0392B"/>
                </a:solidFill>
                <a:latin typeface="Courier New"/>
              </a:defRPr>
            </a:pPr>
            <a:r>
              <a:t>  q₀ ── write(path ∉ sandbox) ──▶ q₁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4A5568"/>
                </a:solidFill>
                <a:latin typeface="Courier New"/>
              </a:defRPr>
            </a:pPr>
            <a:r>
              <a:t>  q₀ ── read(*) ──▶ q₀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4A5568"/>
                </a:solidFill>
                <a:latin typeface="Courier New"/>
              </a:defRPr>
            </a:pPr>
            <a:r>
              <a:t>  q₀ ── bash(*) ──▶ q₀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C0392B"/>
                </a:solidFill>
                <a:latin typeface="Courier New"/>
              </a:defRPr>
            </a:pPr>
            <a:r>
              <a:t>  q₁ ── * ──▶ q₁  (absorbing)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00584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50" b="1">
                <a:solidFill>
                  <a:srgbClr val="1B2A4A"/>
                </a:solidFill>
                <a:latin typeface="Trebuchet MS"/>
              </a:defRPr>
            </a:pPr>
            <a:r>
              <a:t>In Python: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state = "OK"</a:t>
            </a:r>
          </a:p>
          <a:p>
            <a:pPr algn="l">
              <a:spcAft>
                <a:spcPts val="300"/>
              </a:spcAft>
              <a:defRPr sz="2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def monitor(event):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global state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if state == "VIOLATION":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C0392B"/>
                </a:solidFill>
                <a:latin typeface="Courier New"/>
              </a:defRPr>
            </a:pPr>
            <a:r>
              <a:t>    return DENY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if is_write(event):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  if not in_sandbox(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      event.path):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C0392B"/>
                </a:solidFill>
                <a:latin typeface="Courier New"/>
              </a:defRPr>
            </a:pPr>
            <a:r>
              <a:t>      state = "VIOLATION"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C0392B"/>
                </a:solidFill>
                <a:latin typeface="Courier New"/>
              </a:defRPr>
            </a:pPr>
            <a:r>
              <a:t>      return DENY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0E7C7B"/>
                </a:solidFill>
                <a:latin typeface="Courier New"/>
              </a:defRPr>
            </a:pPr>
            <a:r>
              <a:t>  return ALLOW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III. RUNTIME MONITORS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A More Interesting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1B2A4A"/>
                </a:solidFill>
                <a:latin typeface="Trebuchet MS"/>
              </a:defRPr>
            </a:pPr>
            <a:r>
              <a:t>Policy: "The agent must read a file before editing it."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States (per file path):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  UNREAD      — file has not been read yet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  READ        — file has been read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C0392B"/>
                </a:solidFill>
                <a:latin typeface="Courier New"/>
              </a:defRPr>
            </a:pPr>
            <a:r>
              <a:t>  VIOLATION   — edit attempted without prior read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Transitions: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  UNREAD  ── read(path)  ──▶ READ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C0392B"/>
                </a:solidFill>
                <a:latin typeface="Courier New"/>
              </a:defRPr>
            </a:pPr>
            <a:r>
              <a:t>  UNREAD  ── edit(path)  ──▶ VIOLATION  (reject!)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0E7C7B"/>
                </a:solidFill>
                <a:latin typeface="Courier New"/>
              </a:defRPr>
            </a:pPr>
            <a:r>
              <a:t>  READ    ── edit(path)  ──▶ READ  (allowed)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This is an ordering property encoded as a DFA — one automaton instance per tracked file.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E67E22"/>
                </a:solidFill>
                <a:latin typeface="Trebuchet MS"/>
              </a:defRPr>
            </a:pPr>
            <a:r>
              <a:t>Claude Code actually enforces this: you must Read before Edit.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III. RUNTIME MONITORS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Composing Monitors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Real agents need multiple policies simultaneously: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M₁:  Sandbox monitor        (no writes outside project)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M₂:  Read-before-edit        (ordering)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M₃:  Tool budget              (≤ 30 tool calls)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M₄:  No secret exfiltration   (no API keys in bash args)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0E7C7B"/>
                </a:solidFill>
                <a:latin typeface="Trebuchet MS"/>
              </a:defRPr>
            </a:pPr>
            <a:r>
              <a:t>Composition is simple:  run all monitors in parallel.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def composed_monitor(event):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Courier New"/>
              </a:defRPr>
            </a:pPr>
            <a:r>
              <a:t>    return all(m(event) == ALLOW for m in monitors)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DFA theory:  the product automaton of k DFAs with states n₁..nₖ has ∏ nᵢ states.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E67E22"/>
                </a:solidFill>
                <a:latin typeface="Trebuchet MS"/>
              </a:defRPr>
            </a:pPr>
            <a:r>
              <a:t>For simple monitors (2–3 states each), this is tiny. No state explosion.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III. RUNTIME MONITORS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Five Levels of Rigor (Revisited)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From Lecture 5, we had four levels. Now we add a fifth: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1. Informal Rule      "Don’t modify files outside the project"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2. Test Harness        assert path.startswith(PROJECT_DIR)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3. Hoare Triple        {path ∈ subdirs(PROJECT)} write {Q}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4. Temporal Logic      G(write → path ∈ subdirs(...))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1">
                <a:solidFill>
                  <a:srgbClr val="0E7C7B"/>
                </a:solidFill>
                <a:latin typeface="Courier New"/>
              </a:defRPr>
            </a:pPr>
            <a:r>
              <a:t>5. Runtime Monitor     DFA with reject state on violation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E67E22"/>
                </a:solidFill>
                <a:latin typeface="Trebuchet MS"/>
              </a:defRPr>
            </a:pPr>
            <a:r>
              <a:t>Level 5 is the only one that runs during execution and can stop the agent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E67E22"/>
                </a:solidFill>
                <a:latin typeface="Trebuchet MS"/>
              </a:defRPr>
            </a:pPr>
            <a:r>
              <a:t>before damage occurs. The others verify before or after.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IV. BOUNDED TRACE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Georgia"/>
              </a:defRPr>
            </a:pPr>
            <a:r>
              <a:t>Connecting Traces to SMT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Runtime monitors check one trace at a time. Can we do better?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0E7C7B"/>
                </a:solidFill>
                <a:latin typeface="Trebuchet MS"/>
              </a:defRPr>
            </a:pPr>
            <a:r>
              <a:t>Bounded trace verification: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Unroll the trace to length k, encode as an SMT formula, and ask Z3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whether any trace of length ≤ k can violate the property.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This connects model checking (traces) back to SAT/SMT (Lecture 7).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1B2A4A"/>
                </a:solidFill>
                <a:latin typeface="Trebuchet MS"/>
              </a:defRPr>
            </a:pPr>
            <a:r>
              <a:t>Key idea: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Each step i has a symbolic state sᵢ and a symbolic action aᵢ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Transition relation: sᵢ₊₁ = T(sᵢ, aᵢ)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Property φ: assert φ(sᵢ) at every step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Ask Z3: ∃ a₁..aₖ.  ¬φ(sⱼ) for some j?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0E7C7B"/>
                </a:solidFill>
                <a:latin typeface="Trebuchet MS"/>
              </a:defRPr>
            </a:pPr>
            <a:r>
              <a:t>If SAT → counterexample trace.  If UNSAT → safe up to k steps.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IV. BOUNDED TRACE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Z3 Encoding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50" b="0">
                <a:solidFill>
                  <a:srgbClr val="1B2A4A"/>
                </a:solidFill>
                <a:latin typeface="Courier New"/>
              </a:defRPr>
            </a:pPr>
            <a:r>
              <a:t>from z3 import *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050" b="0">
                <a:solidFill>
                  <a:srgbClr val="8A95A7"/>
                </a:solidFill>
                <a:latin typeface="Courier New"/>
              </a:defRPr>
            </a:pPr>
            <a:r>
              <a:t># Symbolic trace of length 3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1B2A4A"/>
                </a:solidFill>
                <a:latin typeface="Courier New"/>
              </a:defRPr>
            </a:pPr>
            <a:r>
              <a:t>Tool = Datatype("Tool")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1B2A4A"/>
                </a:solidFill>
                <a:latin typeface="Courier New"/>
              </a:defRPr>
            </a:pPr>
            <a:r>
              <a:t>Tool.declare("read"); Tool.declare("write"); Tool.declare("bash")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1B2A4A"/>
                </a:solidFill>
                <a:latin typeface="Courier New"/>
              </a:defRPr>
            </a:pPr>
            <a:r>
              <a:t>Tool = Tool.create()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050" b="0">
                <a:solidFill>
                  <a:srgbClr val="1B2A4A"/>
                </a:solidFill>
                <a:latin typeface="Courier New"/>
              </a:defRPr>
            </a:pPr>
            <a:r>
              <a:t>actions = [Const(f"a{i}", Tool) for i in range(3)]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1B2A4A"/>
                </a:solidFill>
                <a:latin typeface="Courier New"/>
              </a:defRPr>
            </a:pPr>
            <a:r>
              <a:t>in_sandbox = [Bool(f"sandbox_{i}") for i in range(3)]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050" b="0">
                <a:solidFill>
                  <a:srgbClr val="1B2A4A"/>
                </a:solidFill>
                <a:latin typeface="Courier New"/>
              </a:defRPr>
            </a:pPr>
            <a:r>
              <a:t>s = Solver()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8A95A7"/>
                </a:solidFill>
                <a:latin typeface="Courier New"/>
              </a:defRPr>
            </a:pPr>
            <a:r>
              <a:t># Safety: writes must be in sandbox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1B2A4A"/>
                </a:solidFill>
                <a:latin typeface="Courier New"/>
              </a:defRPr>
            </a:pPr>
            <a:r>
              <a:t>for i in range(3):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1B2A4A"/>
                </a:solidFill>
                <a:latin typeface="Courier New"/>
              </a:defRPr>
            </a:pPr>
            <a:r>
              <a:t>    s.add(Implies(actions[i] == Tool.write, in_sandbox[i]))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8A95A7"/>
                </a:solidFill>
                <a:latin typeface="Courier New"/>
              </a:defRPr>
            </a:pPr>
            <a:r>
              <a:t># Try to find a violation</a:t>
            </a:r>
          </a:p>
          <a:p>
            <a:pPr algn="l">
              <a:spcAft>
                <a:spcPts val="300"/>
              </a:spcAft>
              <a:defRPr sz="1050" b="0">
                <a:solidFill>
                  <a:srgbClr val="1B2A4A"/>
                </a:solidFill>
                <a:latin typeface="Courier New"/>
              </a:defRPr>
            </a:pPr>
            <a:r>
              <a:t>s.add(Not(And([...]))  # negate the property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IV. BOUNDED TRACE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Bounded vs. Runtime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3931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Runtime Monitor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Checks one actual trace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O(n) per trace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Can stop agent in real time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67E22"/>
                </a:solidFill>
                <a:latin typeface="Trebuchet MS"/>
              </a:defRPr>
            </a:pPr>
            <a:r>
              <a:t>•  Misses traces not taken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Use for: production guardrails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1051560"/>
            <a:ext cx="3931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50" b="1">
                <a:solidFill>
                  <a:srgbClr val="6C5B7B"/>
                </a:solidFill>
                <a:latin typeface="Trebuchet MS"/>
              </a:defRPr>
            </a:pPr>
            <a:r>
              <a:t>Bounded Verification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Checks all traces up to length k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NP-hard (but Z3 is good at it)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Finds bugs before deployment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E67E22"/>
                </a:solidFill>
                <a:latin typeface="Trebuchet MS"/>
              </a:defRPr>
            </a:pPr>
            <a:r>
              <a:t>•  Incomplete beyond k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1">
                <a:solidFill>
                  <a:srgbClr val="6C5B7B"/>
                </a:solidFill>
                <a:latin typeface="Trebuchet MS"/>
              </a:defRPr>
            </a:pPr>
            <a:r>
              <a:t>Use for: skill auditing, HW2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661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50" b="1">
                <a:solidFill>
                  <a:srgbClr val="E67E22"/>
                </a:solidFill>
                <a:latin typeface="Trebuchet MS"/>
              </a:defRPr>
            </a:pPr>
            <a:r>
              <a:t>In practice, use both: bounded verification at development time, runtime monitors in production.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V. THE 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Georgia"/>
              </a:defRPr>
            </a:pPr>
            <a:r>
              <a:t>The Four Pillars, Connected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Hoare Logic (Lec 5–6)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Proves individual tool calls correct:  {P} tool_call {Q}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SAT/SMT (Lec 7)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Automates discharging VCs + encodes permission policies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Static Analysis (Lec 8–9)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Analyzes skill code for taint, data flow, and pointer relations without running it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E67E22"/>
                </a:solidFill>
                <a:latin typeface="Trebuchet MS"/>
              </a:defRPr>
            </a:pPr>
            <a:r>
              <a:t>Trace Verification (Today)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Checks that the agent’s actual behavior satisfies safety, liveness, and ordering properties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1B2A4A"/>
                </a:solidFill>
                <a:latin typeface="Trebuchet MS"/>
              </a:defRPr>
            </a:pPr>
            <a:r>
              <a:t>Together they cover the full lifecycle: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design time (Hoare) → build time (static analysis) → audit time (SMT) → run time (monitors)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V. THE 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Four Levels of Agent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Step-Level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Each tool call satisfies its pre/postcondition.  (Hoare triples)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Skill-Level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A complete skill satisfies its contract.  (VCG + static analysis)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E67E22"/>
                </a:solidFill>
                <a:latin typeface="Trebuchet MS"/>
              </a:defRPr>
            </a:pPr>
            <a:r>
              <a:t>Trace-Level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An execution trace satisfies safety/liveness/ordering.  (Runtime monitors, today)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6C5B7B"/>
                </a:solidFill>
                <a:latin typeface="Trebuchet MS"/>
              </a:defRPr>
            </a:pPr>
            <a:r>
              <a:t>System-Level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All possible traces of a multi-agent system satisfy a property.  (Full model checking — aspirational)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1">
                <a:solidFill>
                  <a:srgbClr val="1B2A4A"/>
                </a:solidFill>
                <a:latin typeface="Trebuchet MS"/>
              </a:defRPr>
            </a:pPr>
            <a:r>
              <a:t>This course focuses on step, skill, and trace levels — the practical ones.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System-level is active research (and connects to Part III &amp; IV of the course).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Design a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1B2A4A"/>
                </a:solidFill>
                <a:latin typeface="Trebuchet MS"/>
              </a:defRPr>
            </a:pPr>
            <a:r>
              <a:t>Policy:  "An agent must not call bash after reading a file containing secrets."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4A5568"/>
                </a:solidFill>
                <a:latin typeface="Trebuchet MS"/>
              </a:defRPr>
            </a:pPr>
            <a:r>
              <a:t>Question 1:  What are the DFA states?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4A5568"/>
                </a:solidFill>
                <a:latin typeface="Trebuchet MS"/>
              </a:defRPr>
            </a:pPr>
            <a:r>
              <a:t>Question 2:  What are the transitions?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4A5568"/>
                </a:solidFill>
                <a:latin typeface="Trebuchet MS"/>
              </a:defRPr>
            </a:pPr>
            <a:r>
              <a:t>Question 3:  What is the reject state?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4A5568"/>
                </a:solidFill>
                <a:latin typeface="Trebuchet MS"/>
              </a:defRPr>
            </a:pPr>
            <a:r>
              <a:t>Question 4:  How would you classify this property?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8A95A7"/>
                </a:solidFill>
                <a:latin typeface="Trebuchet MS"/>
              </a:defRPr>
            </a:pPr>
            <a:r>
              <a:t>  (safety / liveness / ordering)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4A5568"/>
                </a:solidFill>
                <a:latin typeface="Trebuchet MS"/>
              </a:defRPr>
            </a:pPr>
            <a:r>
              <a:t>Question 5:  Write the monitor as a Python function.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E67E22"/>
                </a:solidFill>
                <a:latin typeface="Trebuchet MS"/>
              </a:defRPr>
            </a:pPr>
            <a:r>
              <a:t>Try this on paper before we discuss.  (5 minutes)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VI. MIDTERM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Midterm — May 5, In-Class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Format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Closed-book, closed-note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110 minutes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Mix of short answer, derivations,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   and design questions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50" b="1">
                <a:solidFill>
                  <a:srgbClr val="0E7C7B"/>
                </a:solidFill>
                <a:latin typeface="Trebuchet MS"/>
              </a:defRPr>
            </a:pPr>
            <a:r>
              <a:t>Coverage (Lectures 1–10)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Agentic programming concepts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Skills, MCP, multi-agent patterns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Hoare logic + VCG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SAT/SMT (not solver internals)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Static analysis + Datalog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Trace properties + monitors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100584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50" b="1">
                <a:solidFill>
                  <a:srgbClr val="E67E22"/>
                </a:solidFill>
                <a:latin typeface="Trebuchet MS"/>
              </a:defRPr>
            </a:pPr>
            <a:r>
              <a:t>Sample Question Types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1.  Derive a Hoare logic proof tree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2.  Compute wp for an IMP program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3.  Write a Z3 encoding for a policy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4.  Write Datalog rules for an analysis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5.  Design a DFA monitor for a property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6.  Classify properties (safety/liveness)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7.  Explain when each technique applies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No memorization of algorithms.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Focus on understanding and applying.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5DAFAF"/>
                </a:solidFill>
                <a:latin typeface="Trebuchet MS"/>
              </a:defRPr>
            </a:pPr>
            <a:r>
              <a:t>1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Agent traces are sequences of tool-call events — no special formalism needed to work with them.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5DAFAF"/>
                </a:solidFill>
                <a:latin typeface="Trebuchet MS"/>
              </a:defRPr>
            </a:pPr>
            <a:r>
              <a:t>2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Safety (∀i), liveness (∃i), and ordering (∀j.∃i&lt;j) cover most agent properties, expressed as Python predicates.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5DAFAF"/>
                </a:solidFill>
                <a:latin typeface="Trebuchet MS"/>
              </a:defRPr>
            </a:pPr>
            <a:r>
              <a:t>3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Runtime monitors are DFAs that consume trace events and reject on violation — O(n), composable, deployable.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5DAFAF"/>
                </a:solidFill>
                <a:latin typeface="Trebuchet MS"/>
              </a:defRPr>
            </a:pPr>
            <a:r>
              <a:t>4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Bounded trace verification encodes traces as SMT, connecting model checking back to Z3.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5DAFAF"/>
                </a:solidFill>
                <a:latin typeface="Trebuchet MS"/>
              </a:defRPr>
            </a:pPr>
            <a:r>
              <a:t>5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The four pillars (Hoare, SMT, static analysis, traces) cover the full agent lifecycle.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What’s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C0392B"/>
                </a:solidFill>
                <a:latin typeface="Trebuchet MS"/>
              </a:defRPr>
            </a:pPr>
            <a:r>
              <a:t>Midterm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May 5 (Lecture 11)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Covers Lectures 1–10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Closed-book, in-class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00600" y="82296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After Midterm: Part III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Security of Agentic Systems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Threat landscape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Skill supply-chain attacks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Permission escalation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Fuzzing agent 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2004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E67E22"/>
                </a:solidFill>
                <a:latin typeface="Trebuchet MS"/>
              </a:defRPr>
            </a:pPr>
            <a:r>
              <a:t>HW2 Due: May 5 (same day as midterm)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Implement a VCG for IMP with Z3 + SMT encoding of agent permission policies.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Study tip:  Review the exercises from each lecture.  If you can do those, you’re ready.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IV. BOUNDED TRACE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Example: Permission Escalation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00" b="1">
                <a:solidFill>
                  <a:srgbClr val="1B2A4A"/>
                </a:solidFill>
                <a:latin typeface="Trebuchet MS"/>
              </a:defRPr>
            </a:pPr>
            <a:r>
              <a:t>Can an agent chain 3 tool calls to escalate from USER to ROOT?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from z3 import *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USER, ADMIN, ROOT = 0, 1, 2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READ, SUDO, EDIT_CFG = 0, 1, 2</a:t>
            </a:r>
          </a:p>
          <a:p>
            <a:pPr algn="l">
              <a:spcAft>
                <a:spcPts val="300"/>
              </a:spcAft>
              <a:defRPr sz="2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perm = [Int(f"perm_{i}") for i in range(4)]   # perm at each step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act  = [Int(f"act_{i}")  for i in range(3)]   # 3 actions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s = Solver()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s.add(perm[0] == USER)                         # start unprivileged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for i in range(3):                             # encode transitions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  s.add(And(act[i] &gt;= 0, act[i] &lt;= 2))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  s.add(perm[i+1] ==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    If(act[i]==READ, perm[i],                # read: no change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    If(act[i]==EDIT_CFG,                     # edit_config: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       If(perm[i]==USER, ADMIN, perm[i]),     #   USER → ADMIN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       If(perm[i]==ADMIN, ROOT, perm[i]))))   # sudo: ADMIN → ROOT</a:t>
            </a:r>
          </a:p>
          <a:p>
            <a:pPr algn="l">
              <a:spcAft>
                <a:spcPts val="300"/>
              </a:spcAft>
              <a:defRPr sz="2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000" b="0">
                <a:solidFill>
                  <a:srgbClr val="C0392B"/>
                </a:solidFill>
                <a:latin typeface="Courier New"/>
              </a:defRPr>
            </a:pPr>
            <a:r>
              <a:t>s.add(perm[3] == ROOT)                         # goal: reach ROOT</a:t>
            </a:r>
          </a:p>
          <a:p>
            <a:pPr algn="l">
              <a:spcAft>
                <a:spcPts val="300"/>
              </a:spcAft>
              <a:defRPr sz="1000" b="1">
                <a:solidFill>
                  <a:srgbClr val="0E7C7B"/>
                </a:solidFill>
                <a:latin typeface="Courier New"/>
              </a:defRPr>
            </a:pPr>
            <a:r>
              <a:t>print(s.check())   # sat!</a:t>
            </a:r>
          </a:p>
          <a:p>
            <a:pPr algn="l">
              <a:spcAft>
                <a:spcPts val="300"/>
              </a:spcAft>
              <a:defRPr sz="1000" b="1">
                <a:solidFill>
                  <a:srgbClr val="0E7C7B"/>
                </a:solidFill>
                <a:latin typeface="Courier New"/>
              </a:defRPr>
            </a:pPr>
            <a:r>
              <a:t>print(s.model())   # act_0=EDIT_CFG, act_1=SUDO, act_2=READ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1">
                <a:solidFill>
                  <a:srgbClr val="E67E22"/>
                </a:solidFill>
                <a:latin typeface="Trebuchet MS"/>
              </a:defRPr>
            </a:pPr>
            <a:r>
              <a:t>→ Z3 found a 2-step escalation path.  A monitor should block edit_config for USER.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7C7B"/>
                </a:solidFill>
                <a:latin typeface="Trebuchet MS"/>
              </a:defRPr>
            </a:pPr>
            <a:r>
              <a:t>IV. BOUNDED TRACE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Example: Proving Read-Before-Write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56048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CS292C · Formal Methods for Agentic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8A95A7"/>
                </a:solidFill>
                <a:latin typeface="Trebuchet MS"/>
              </a:defRPr>
            </a:pPr>
            <a: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Can any 4-step trace write a file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without reading it first?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from z3 import *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K = 4; READ, WRITE, BASH = 0, 1, 2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act  = [Int(f"a{i}") for i in range(K)]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file = [Int(f"f{i}") for i in range(K)]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s = Solver()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for i in range(K):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s.add(And(act[i]&gt;=0, act[i]&lt;=2))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s.add(And(file[i]&gt;=0, file[i]&lt;=2))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960120"/>
            <a:ext cx="3840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A95A7"/>
                </a:solidFill>
                <a:latin typeface="Courier New"/>
              </a:defRPr>
            </a:pPr>
            <a:r>
              <a:t># Find: write with no prior read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bad = BoolVal(False)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for j in range(K):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prior = Or(*[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  And(act[i]==READ,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      file[i]==file[j])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  for i in range(j)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]) if j &gt; 0 else False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bad = Or(bad,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  And(act[j]==WRITE,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        Not(prior)))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C0392B"/>
                </a:solidFill>
                <a:latin typeface="Courier New"/>
              </a:defRPr>
            </a:pPr>
            <a:r>
              <a:t>s.add(bad)</a:t>
            </a:r>
          </a:p>
          <a:p>
            <a:pPr algn="l">
              <a:spcAft>
                <a:spcPts val="300"/>
              </a:spcAft>
              <a:defRPr sz="2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000" b="1">
                <a:solidFill>
                  <a:srgbClr val="0E7C7B"/>
                </a:solidFill>
                <a:latin typeface="Courier New"/>
              </a:defRPr>
            </a:pPr>
            <a:r>
              <a:t>print(s.check())  # sat!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1B2A4A"/>
                </a:solidFill>
                <a:latin typeface="Courier New"/>
              </a:defRPr>
            </a:pPr>
            <a:r>
              <a:t>m = s.model()</a:t>
            </a:r>
          </a:p>
          <a:p>
            <a:pPr algn="l">
              <a:spcAft>
                <a:spcPts val="300"/>
              </a:spcAft>
              <a:defRPr sz="1000" b="1">
                <a:solidFill>
                  <a:srgbClr val="E67E22"/>
                </a:solidFill>
                <a:latin typeface="Courier New"/>
              </a:defRPr>
            </a:pPr>
            <a:r>
              <a:t># a0=WRITE, f0=1</a:t>
            </a:r>
          </a:p>
          <a:p>
            <a:pPr algn="l">
              <a:spcAft>
                <a:spcPts val="300"/>
              </a:spcAft>
              <a:defRPr sz="1000" b="1">
                <a:solidFill>
                  <a:srgbClr val="E67E22"/>
                </a:solidFill>
                <a:latin typeface="Courier New"/>
              </a:defRPr>
            </a:pPr>
            <a:r>
              <a:t># → writes file 1 at step 0</a:t>
            </a:r>
          </a:p>
          <a:p>
            <a:pPr algn="l">
              <a:spcAft>
                <a:spcPts val="300"/>
              </a:spcAft>
              <a:defRPr sz="1000" b="1">
                <a:solidFill>
                  <a:srgbClr val="E67E22"/>
                </a:solidFill>
                <a:latin typeface="Courier New"/>
              </a:defRPr>
            </a:pPr>
            <a:r>
              <a:t>#   without any prior read!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Fix: add monitor that rejects</a:t>
            </a:r>
          </a:p>
          <a:p>
            <a:pPr algn="l">
              <a:spcAft>
                <a:spcPts val="300"/>
              </a:spcAft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writes to unread files.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