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4" r:id="rId15"/>
    <p:sldId id="285" r:id="rId16"/>
    <p:sldId id="271" r:id="rId17"/>
    <p:sldId id="272" r:id="rId18"/>
    <p:sldId id="273" r:id="rId19"/>
    <p:sldId id="286" r:id="rId20"/>
    <p:sldId id="291" r:id="rId21"/>
    <p:sldId id="290" r:id="rId22"/>
    <p:sldId id="275" r:id="rId23"/>
    <p:sldId id="276" r:id="rId24"/>
    <p:sldId id="277" r:id="rId25"/>
    <p:sldId id="278" r:id="rId26"/>
    <p:sldId id="292" r:id="rId27"/>
    <p:sldId id="280" r:id="rId28"/>
    <p:sldId id="281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23"/>
  </p:normalViewPr>
  <p:slideViewPr>
    <p:cSldViewPr snapToGrid="0" snapToObjects="1">
      <p:cViewPr varScale="1">
        <p:scale>
          <a:sx n="120" d="100"/>
          <a:sy n="120" d="100"/>
        </p:scale>
        <p:origin x="184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Trebuchet MS"/>
              </a:defRPr>
            </a:pPr>
            <a:r>
              <a:t>CS292C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4400" b="1">
                <a:solidFill>
                  <a:srgbClr val="1B2A4A"/>
                </a:solidFill>
                <a:latin typeface="Georgia"/>
              </a:defRPr>
            </a:pPr>
            <a:r>
              <a:t>Lightweight Trace</a:t>
            </a:r>
          </a:p>
          <a:p>
            <a:pPr algn="l">
              <a:spcAft>
                <a:spcPts val="300"/>
              </a:spcAft>
              <a:defRPr sz="4400" b="1">
                <a:solidFill>
                  <a:srgbClr val="1B2A4A"/>
                </a:solidFill>
                <a:latin typeface="Georgia"/>
              </a:defRPr>
            </a:pPr>
            <a:r>
              <a:t>Verification for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42032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C7A"/>
                </a:solidFill>
                <a:latin typeface="Trebuchet MS"/>
              </a:defRPr>
            </a:pPr>
            <a:r>
              <a:t>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1868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Trebuchet MS"/>
              </a:defRPr>
            </a:pPr>
            <a:r>
              <a:t>Lecture 10  ·  April 30, 2026  ·  Last class before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53872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A7"/>
                </a:solidFill>
                <a:latin typeface="Trebuchet MS"/>
              </a:defRPr>
            </a:pPr>
            <a:r>
              <a:t>Yu Feng  ·  UC Santa Barbara  · 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Recap — The Formal Methods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79552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Hoare Logic (Lec 5–6)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{P} C {Q} triples, loop invariants, VCG, weakest preconditions. Proves individual steps correct.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SAT/SMT Solvers (Lec 7)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Propositional logic, CNF, DPLL/CDCL, Z3. Automates discharging verification conditions.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Static Analysis (Lec 8–9)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Abstract interpretation, dataflow, taint tracking, Datalog, points-to analysis. Analyzes code without running it.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What's missing?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All three reason about programs or formulas. None directly reason about execution traces — the sequence of actions an agent actually takes at runtime.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Today’s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DAFA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3767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Trebuchet MS"/>
              </a:defRPr>
            </a:pPr>
            <a:r>
              <a:t>Agent Traces as 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09928"/>
            <a:ext cx="3767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What is a trace? Formalizing tool-call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DAFA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962656"/>
            <a:ext cx="3767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Trebuchet MS"/>
              </a:defRPr>
            </a:pPr>
            <a:r>
              <a:t>Trace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328416"/>
            <a:ext cx="3767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Safety, liveness, and fairness — as Python predicates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93268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DAFA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344168"/>
            <a:ext cx="3767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Trebuchet MS"/>
              </a:defRPr>
            </a:pPr>
            <a:r>
              <a:t>Runtime Monitors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709928"/>
            <a:ext cx="3767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DFA-based monitors that watch agent behavior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5117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DAFA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962656"/>
            <a:ext cx="3767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Trebuchet MS"/>
              </a:defRPr>
            </a:pPr>
            <a:r>
              <a:t>Bounded Trace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328416"/>
            <a:ext cx="3767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Connecting traces back to Z3 / SMT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587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DAFAF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58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1B2A4A"/>
                </a:solidFill>
                <a:latin typeface="Trebuchet MS"/>
              </a:defRPr>
            </a:pPr>
            <a:r>
              <a:t>Midterm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What to expect on May 5 — format, coverage, sample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I. AGENT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Georgia"/>
              </a:defRPr>
            </a:pPr>
            <a:r>
              <a:t>What Is a Trace?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An agent trace is a finite sequence of observed events: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ctr">
              <a:spcAft>
                <a:spcPts val="300"/>
              </a:spcAft>
              <a:defRPr sz="2000" b="1">
                <a:solidFill>
                  <a:srgbClr val="1B2A4A"/>
                </a:solidFill>
                <a:latin typeface="Georgia"/>
              </a:defRPr>
            </a:pPr>
            <a:r>
              <a:t>τ = ⟨ e₁, e₂, e₃, …, eₙ ⟩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where each eᵢ is a tool call with: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•  tool name     (read_file, bash, write, …)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•  arguments     (path, command, content, …)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•  result        (success/failure + output)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•  timestamp     (ordering)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0E7C7B"/>
                </a:solidFill>
                <a:latin typeface="Trebuchet MS"/>
              </a:defRPr>
            </a:pPr>
            <a:r>
              <a:t>No Kripke structures.  No temporal operators.  Just a log.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 already generated traces in HW1 when you ran your skill and recorded what happened.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I. AGENT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A Concrete Agent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Agent task: "Fix the bug in auth.py and make sure tests pass"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Courier New"/>
              </a:defRPr>
            </a:pPr>
            <a:r>
              <a:t>trace = [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Courier New"/>
              </a:defRPr>
            </a:pPr>
            <a:r>
              <a:t>  { tool: "read_file",  args: {path: "auth.py"} },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Courier New"/>
              </a:defRPr>
            </a:pPr>
            <a:r>
              <a:t>  { tool: "read_file",  args: {path: "test_auth.py"} },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Courier New"/>
              </a:defRPr>
            </a:pPr>
            <a:r>
              <a:t>  { tool: "edit_file",  args: {path: "auth.py", ...} },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Courier New"/>
              </a:defRPr>
            </a:pPr>
            <a:r>
              <a:t>  { tool: "bash",       args: {cmd: "pytest"} },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Courier New"/>
              </a:defRPr>
            </a:pPr>
            <a:r>
              <a:t>]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Questions we want to answer about this trace: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0E7C7B"/>
                </a:solidFill>
                <a:latin typeface="Trebuchet MS"/>
              </a:defRPr>
            </a:pPr>
            <a:r>
              <a:t>•  Did the agent stay in the sandbox?  (safety)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0E7C7B"/>
                </a:solidFill>
                <a:latin typeface="Trebuchet MS"/>
              </a:defRPr>
            </a:pPr>
            <a:r>
              <a:t>•  Did the agent eventually run tests?  (liveness)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0E7C7B"/>
                </a:solidFill>
                <a:latin typeface="Trebuchet MS"/>
              </a:defRPr>
            </a:pPr>
            <a:r>
              <a:t>•  Did reads happen before writes?  (ordering)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I. AGENT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Why Traces, Not Programs?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6C5B7B"/>
                </a:solidFill>
                <a:latin typeface="Trebuchet MS"/>
              </a:defRPr>
            </a:pPr>
            <a:r>
              <a:t>Static Analysis / VCG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Reasons about source code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Before execution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Sound: covers all paths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67E22"/>
                </a:solidFill>
                <a:latin typeface="Trebuchet MS"/>
              </a:defRPr>
            </a:pPr>
            <a:r>
              <a:t>•  But: agents have no fixed source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E67E22"/>
                </a:solidFill>
                <a:latin typeface="Trebuchet MS"/>
              </a:defRPr>
            </a:pPr>
            <a:r>
              <a:t>    — the LLM decides at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05156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Trace Verification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Reasons about observed behavior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During or after execution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Complete: sees what actually happened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0E7C7B"/>
                </a:solidFill>
                <a:latin typeface="Trebuchet MS"/>
              </a:defRPr>
            </a:pPr>
            <a:r>
              <a:t>•  Practical for non-deterministic agents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0E7C7B"/>
                </a:solidFill>
                <a:latin typeface="Trebuchet MS"/>
              </a:defRPr>
            </a:pPr>
            <a:r>
              <a:t>    — check the trace, not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74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Key insight: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An LLM agent has no fixed control flow graph. But every run produces a concrete trace we can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II. TRACE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Safety: "Nothing Bad Ever Happens"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 safety property asserts that every event in the trace satisfies a predicate.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def check_sandbox(trace, sandbox_dir):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for event in trace: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if event.tool in ("write", "edit_file"):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    assert event.args.path.startswith(sandbox_dir)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ctr">
              <a:spcAft>
                <a:spcPts val="300"/>
              </a:spcAft>
              <a:defRPr sz="1400" b="1">
                <a:solidFill>
                  <a:srgbClr val="1B2A4A"/>
                </a:solidFill>
                <a:latin typeface="Georgia"/>
              </a:defRPr>
            </a:pPr>
            <a:r>
              <a:t>Formally:  ∀i ∈ [1..n].  φ(eᵢ)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This is the same property from Lecture 5 (the four levels of rigor), now as a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runtime check. No temporal logic needed — just a for-loop over the trace.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Examples:  no writes outside sandbox, no network calls, no secret exfiltration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II. TRACE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Liveness: "Something Good Eventually Happens"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 liveness property asserts that some desired event appears in the trace.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def check_tests_ran(trace):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assert any(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e.tool == "bash" and "pytest" in e.args.cmd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for e in trace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ctr">
              <a:spcAft>
                <a:spcPts val="300"/>
              </a:spcAft>
              <a:defRPr sz="1400" b="1">
                <a:solidFill>
                  <a:srgbClr val="1B2A4A"/>
                </a:solidFill>
                <a:latin typeface="Georgia"/>
              </a:defRPr>
            </a:pPr>
            <a:r>
              <a:t>Formally:  ∃i ∈ [1..n].  ψ(eᵢ)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E67E22"/>
                </a:solidFill>
                <a:latin typeface="Trebuchet MS"/>
              </a:defRPr>
            </a:pPr>
            <a:r>
              <a:t>Caveat:  We can only check liveness after the trace completes (or at timeout).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For agents, timeout-based liveness is practical: "if the agent hasn't run tests within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20 tool calls, flag it."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II. TRACE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Ordering: "A Before B"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Many agent properties are about ordering: read before write, lint before commit, etc.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def check_read_before_write(trace, path):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first_write = next(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(i for i, e in enumerate(trace)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 if e.tool == "write" and e.args.path == path),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None)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if first_write is not None: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assert any(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    e.tool == "read_file" and e.args.path == path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        for e in trace[:first_write])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ctr">
              <a:spcAft>
                <a:spcPts val="300"/>
              </a:spcAft>
              <a:defRPr sz="1400" b="1">
                <a:solidFill>
                  <a:srgbClr val="1B2A4A"/>
                </a:solidFill>
                <a:latin typeface="Georgia"/>
              </a:defRPr>
            </a:pPr>
            <a:r>
              <a:t>Formally:  ∀j. write(eⱼ) → ∃i &lt; j. read(eᵢ)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II. TRACE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The Agent Trace Property Zoo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Safety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No file writes outside sandbox            •  No secret in tool arguments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No network calls to external hosts         •  No rm -rf without confirmation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Liveness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Tests are eventually run                   •  User prompt is eventually answered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Modified files are eventually saved         •  Errors are eventually handled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Ordering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Read before write for every file            •  Lint before commit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Backup before destructive operation         •  Plan before execute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6C5B7B"/>
                </a:solidFill>
                <a:latin typeface="Trebuchet MS"/>
              </a:defRPr>
            </a:pPr>
            <a:r>
              <a:t>Quantitative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568"/>
                </a:solidFill>
                <a:latin typeface="Trebuchet MS"/>
              </a:defRPr>
            </a:pPr>
            <a:r>
              <a:t>•  ≤ k tool calls total (budget)               •  ≤ m bash calls (risk budget)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E67E22"/>
                </a:solidFill>
                <a:latin typeface="Trebuchet MS"/>
              </a:defRPr>
            </a:pPr>
            <a:r>
              <a:t>All of these are just predicates over a list.  No special logic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II. TRACE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The Theory Beneath (One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In classical model checking, these properties have names from temporal logic: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1B2A4A"/>
                </a:solidFill>
                <a:latin typeface="Courier New"/>
              </a:defRPr>
            </a:pPr>
            <a:r>
              <a:t>Safety     ≡  G(φ)     "globally φ"        = ∀i. φ(eᵢ)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B2A4A"/>
                </a:solidFill>
                <a:latin typeface="Courier New"/>
              </a:defRPr>
            </a:pPr>
            <a:r>
              <a:t>Liveness   ≡  F(ψ)     "eventually ψ"     = ∃i. ψ(eᵢ)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B2A4A"/>
                </a:solidFill>
                <a:latin typeface="Courier New"/>
              </a:defRPr>
            </a:pPr>
            <a:r>
              <a:t>Ordering   ≡  G(α → F(β))                  = response pattern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LTL (Linear Temporal Logic) and CTL are the full formalisms.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Classical model checking explores all possible traces via state-space search.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The problem: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State explosion.  An agent with 50 tools and 20 steps has 50²⁰ possible traces.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Classical model checking doesn’t scale to real agents.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Our approach:  Check the actual trace at runtime, not all possible traces upfront.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Same properties, practical cost: O(trace length).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III. RUNTIME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Georgia"/>
              </a:defRPr>
            </a:pPr>
            <a:r>
              <a:t>Runtime Monitors: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 runtime monitor sits between the agent and its tools: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ctr">
              <a:spcAft>
                <a:spcPts val="300"/>
              </a:spcAft>
              <a:defRPr sz="1300" b="1">
                <a:solidFill>
                  <a:srgbClr val="1B2A4A"/>
                </a:solidFill>
                <a:latin typeface="Courier New"/>
              </a:defRPr>
            </a:pPr>
            <a:r>
              <a:t>  Agent  ───  tool_call  ───▶  Monitor  ───  allow/deny  ───▶  Tool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Before each tool call executes, the monitor: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1.  Observes the event (tool name + arguments)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2.  Updates its internal state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3.  Decides: allow, deny, or alert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This is exactly what Claude Code’s permission system does.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And what you tested in HW1 when you checked safety properties on your skill’s traces.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III. RUNTIME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Monitors as DFAs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A safety monitor is a deterministic finite automaton (DFA):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ctr">
              <a:spcAft>
                <a:spcPts val="3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t>M = (Q, Σ, δ, q₀, F)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0">
                <a:solidFill>
                  <a:srgbClr val="4A5568"/>
                </a:solidFill>
                <a:latin typeface="Courier New"/>
              </a:defRPr>
            </a:pPr>
            <a:r>
              <a:t>Q   = monitor states</a:t>
            </a:r>
          </a:p>
          <a:p>
            <a:pPr algn="l">
              <a:spcAft>
                <a:spcPts val="300"/>
              </a:spcAft>
              <a:defRPr sz="1150" b="0">
                <a:solidFill>
                  <a:srgbClr val="4A5568"/>
                </a:solidFill>
                <a:latin typeface="Courier New"/>
              </a:defRPr>
            </a:pPr>
            <a:r>
              <a:t>Σ   = set of possible events (tool calls)</a:t>
            </a:r>
          </a:p>
          <a:p>
            <a:pPr algn="l">
              <a:spcAft>
                <a:spcPts val="300"/>
              </a:spcAft>
              <a:defRPr sz="1150" b="0">
                <a:solidFill>
                  <a:srgbClr val="4A5568"/>
                </a:solidFill>
                <a:latin typeface="Courier New"/>
              </a:defRPr>
            </a:pPr>
            <a:r>
              <a:t>δ   = transition function (state × event → state)</a:t>
            </a:r>
          </a:p>
          <a:p>
            <a:pPr algn="l">
              <a:spcAft>
                <a:spcPts val="300"/>
              </a:spcAft>
              <a:defRPr sz="1150" b="0">
                <a:solidFill>
                  <a:srgbClr val="4A5568"/>
                </a:solidFill>
                <a:latin typeface="Courier New"/>
              </a:defRPr>
            </a:pPr>
            <a:r>
              <a:t>q₀  = initial state</a:t>
            </a:r>
          </a:p>
          <a:p>
            <a:pPr algn="l">
              <a:spcAft>
                <a:spcPts val="300"/>
              </a:spcAft>
              <a:defRPr sz="1150" b="0">
                <a:solidFill>
                  <a:srgbClr val="4A5568"/>
                </a:solidFill>
                <a:latin typeface="Courier New"/>
              </a:defRPr>
            </a:pPr>
            <a:r>
              <a:t>F   = accepting (safe) states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C0392B"/>
                </a:solidFill>
                <a:latin typeface="Trebuchet MS"/>
              </a:defRPr>
            </a:pPr>
            <a:r>
              <a:t>If the DFA ever reaches a reject state → halt the agent.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You already know DFAs from undergrad theory of computation.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This is the same thing, applied to agent tool-call sequences.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III. RUNTIME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Example: Sandbox Monitor DFA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03300"/>
            <a:ext cx="4572000" cy="433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States &amp; Transitions</a:t>
            </a:r>
          </a:p>
          <a:p>
            <a:pPr algn="l">
              <a:defRPr sz="900" b="0">
                <a:solidFill>
                  <a:srgbClr val="4A5568"/>
                </a:solidFill>
                <a:latin typeface="Trebuchet MS"/>
              </a:defRPr>
            </a:pPr>
            <a:r>
              <a:t>q₀ = OK (accepting) · q₁ = VIOLATION (absorbing)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058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1B2A4A"/>
                </a:solidFill>
                <a:latin typeface="Trebuchet MS"/>
              </a:defRPr>
            </a:pPr>
            <a:r>
              <a:t>In Python: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state = "OK"</a:t>
            </a:r>
          </a:p>
          <a:p>
            <a:pPr algn="l">
              <a:spcAft>
                <a:spcPts val="300"/>
              </a:spcAft>
              <a:defRPr sz="2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def monitor(event):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global state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if state == "VIOLATION":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0392B"/>
                </a:solidFill>
                <a:latin typeface="Courier New"/>
              </a:defRPr>
            </a:pPr>
            <a:r>
              <a:t>    return DENY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if is_write(event):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  if not in_sandbox(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      event.path):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0392B"/>
                </a:solidFill>
                <a:latin typeface="Courier New"/>
              </a:defRPr>
            </a:pPr>
            <a:r>
              <a:t>      state = "VIOLATION"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0392B"/>
                </a:solidFill>
                <a:latin typeface="Courier New"/>
              </a:defRPr>
            </a:pPr>
            <a:r>
              <a:t>      return DENY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E7C7B"/>
                </a:solidFill>
                <a:latin typeface="Courier New"/>
              </a:defRPr>
            </a:pPr>
            <a:r>
              <a:t>  return ALLOW</a:t>
            </a:r>
          </a:p>
        </p:txBody>
      </p:sp>
      <p:sp>
        <p:nvSpPr>
          <p:cNvPr id="8" name="q0_outer"/>
          <p:cNvSpPr/>
          <p:nvPr/>
        </p:nvSpPr>
        <p:spPr>
          <a:xfrm>
            <a:off x="1168400" y="2628900"/>
            <a:ext cx="965200" cy="965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q0_inner"/>
          <p:cNvSpPr/>
          <p:nvPr/>
        </p:nvSpPr>
        <p:spPr>
          <a:xfrm>
            <a:off x="1244600" y="2705100"/>
            <a:ext cx="812800" cy="812800"/>
          </a:xfrm>
          <a:prstGeom prst="ellipse">
            <a:avLst/>
          </a:prstGeom>
          <a:solidFill>
            <a:srgbClr val="E6F4F3"/>
          </a:solidFill>
          <a:ln w="19050">
            <a:solidFill>
              <a:srgbClr val="0E7C7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0E7C7B"/>
                </a:solidFill>
                <a:latin typeface="Trebuchet MS"/>
              </a:rPr>
              <a:t>q₀ OK</a:t>
            </a:r>
          </a:p>
        </p:txBody>
      </p:sp>
      <p:sp>
        <p:nvSpPr>
          <p:cNvPr id="10" name="q1"/>
          <p:cNvSpPr/>
          <p:nvPr/>
        </p:nvSpPr>
        <p:spPr>
          <a:xfrm>
            <a:off x="3708400" y="2628900"/>
            <a:ext cx="965200" cy="965200"/>
          </a:xfrm>
          <a:prstGeom prst="ellipse">
            <a:avLst/>
          </a:prstGeom>
          <a:solidFill>
            <a:srgbClr val="FBE9E7"/>
          </a:solidFill>
          <a:ln w="19050">
            <a:solidFill>
              <a:srgbClr val="C0392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C0392B"/>
                </a:solidFill>
                <a:latin typeface="Trebuchet MS"/>
              </a:rPr>
              <a:t>q₁ VIOLATION</a:t>
            </a:r>
          </a:p>
        </p:txBody>
      </p:sp>
      <p:cxnSp>
        <p:nvCxnSpPr>
          <p:cNvPr id="11" name="start_arrow"/>
          <p:cNvCxnSpPr/>
          <p:nvPr/>
        </p:nvCxnSpPr>
        <p:spPr>
          <a:xfrm>
            <a:off x="762000" y="3111500"/>
            <a:ext cx="406400" cy="12700"/>
          </a:xfrm>
          <a:prstGeom prst="straightConnector1">
            <a:avLst/>
          </a:prstGeom>
          <a:ln w="12700">
            <a:solidFill>
              <a:srgbClr val="1B2A4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tart_label"/>
          <p:cNvSpPr txBox="1"/>
          <p:nvPr/>
        </p:nvSpPr>
        <p:spPr>
          <a:xfrm>
            <a:off x="508000" y="2933700"/>
            <a:ext cx="279400" cy="152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900" b="0" dirty="0">
                <a:solidFill>
                  <a:srgbClr val="1B2A4A"/>
                </a:solidFill>
                <a:latin typeface="Courier New"/>
              </a:rPr>
              <a:t>start</a:t>
            </a:r>
          </a:p>
        </p:txBody>
      </p:sp>
      <p:cxnSp>
        <p:nvCxnSpPr>
          <p:cNvPr id="13" name="t_q0_q1"/>
          <p:cNvCxnSpPr/>
          <p:nvPr/>
        </p:nvCxnSpPr>
        <p:spPr>
          <a:xfrm>
            <a:off x="2108200" y="3009900"/>
            <a:ext cx="1625600" cy="12700"/>
          </a:xfrm>
          <a:prstGeom prst="straightConnector1">
            <a:avLst/>
          </a:prstGeom>
          <a:ln w="12700">
            <a:solidFill>
              <a:srgbClr val="C0392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_q0_q1_label"/>
          <p:cNvSpPr txBox="1"/>
          <p:nvPr/>
        </p:nvSpPr>
        <p:spPr>
          <a:xfrm>
            <a:off x="2159000" y="2438400"/>
            <a:ext cx="1651000" cy="177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900" b="1" dirty="0">
                <a:solidFill>
                  <a:srgbClr val="C0392B"/>
                </a:solidFill>
                <a:latin typeface="Courier New"/>
              </a:rPr>
              <a:t>write(path ∉ sandbox)</a:t>
            </a:r>
          </a:p>
        </p:txBody>
      </p:sp>
      <p:sp>
        <p:nvSpPr>
          <p:cNvPr id="15" name="q0_loop"/>
          <p:cNvSpPr/>
          <p:nvPr/>
        </p:nvSpPr>
        <p:spPr>
          <a:xfrm>
            <a:off x="1371600" y="2298700"/>
            <a:ext cx="558800" cy="355600"/>
          </a:xfrm>
          <a:prstGeom prst="ellipse">
            <a:avLst/>
          </a:prstGeom>
          <a:noFill/>
          <a:ln w="12700">
            <a:solidFill>
              <a:srgbClr val="0E7C7B"/>
            </a:solidFill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q0_loop_label"/>
          <p:cNvSpPr txBox="1"/>
          <p:nvPr/>
        </p:nvSpPr>
        <p:spPr>
          <a:xfrm>
            <a:off x="762000" y="1905000"/>
            <a:ext cx="1778000" cy="177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900" b="0" dirty="0">
                <a:solidFill>
                  <a:srgbClr val="0E7C7B"/>
                </a:solidFill>
                <a:latin typeface="Courier New"/>
              </a:rPr>
              <a:t>write(∈ sandbox), read, bash</a:t>
            </a:r>
          </a:p>
        </p:txBody>
      </p:sp>
      <p:sp>
        <p:nvSpPr>
          <p:cNvPr id="17" name="q1_loop"/>
          <p:cNvSpPr/>
          <p:nvPr/>
        </p:nvSpPr>
        <p:spPr>
          <a:xfrm>
            <a:off x="3911600" y="2298700"/>
            <a:ext cx="558800" cy="355600"/>
          </a:xfrm>
          <a:prstGeom prst="ellipse">
            <a:avLst/>
          </a:prstGeom>
          <a:noFill/>
          <a:ln w="12700">
            <a:solidFill>
              <a:srgbClr val="C0392B"/>
            </a:solidFill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q1_loop_label"/>
          <p:cNvSpPr txBox="1"/>
          <p:nvPr/>
        </p:nvSpPr>
        <p:spPr>
          <a:xfrm>
            <a:off x="3810000" y="1905000"/>
            <a:ext cx="762000" cy="177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900" b="0" dirty="0">
                <a:solidFill>
                  <a:srgbClr val="C0392B"/>
                </a:solidFill>
                <a:latin typeface="Courier New"/>
              </a:rPr>
              <a:t>any (*)</a:t>
            </a:r>
          </a:p>
        </p:txBody>
      </p:sp>
    </p:spTree>
    <p:extLst>
      <p:ext uri="{BB962C8B-B14F-4D97-AF65-F5344CB8AC3E}">
        <p14:creationId xmlns:p14="http://schemas.microsoft.com/office/powerpoint/2010/main" val="1467763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III. RUNTIME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A More Interesting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03300"/>
            <a:ext cx="41910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B2A4A"/>
                </a:solidFill>
                <a:latin typeface="Trebuchet MS"/>
              </a:defRPr>
            </a:pPr>
            <a:r>
              <a:t>Policy: "The agent must read a file before editing it."</a:t>
            </a:r>
          </a:p>
          <a:p>
            <a:pPr algn="l">
              <a:defRPr sz="500"/>
            </a:pPr>
            <a:endParaRPr/>
          </a:p>
          <a:p>
            <a:pPr algn="l">
              <a:spcAft>
                <a:spcPts val="200"/>
              </a:spcAft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States (per file path):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  UNREAD     not read yet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568"/>
                </a:solidFill>
                <a:latin typeface="Courier New"/>
              </a:defRPr>
            </a:pPr>
            <a:r>
              <a:t>  READ       file has been read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C0392B"/>
                </a:solidFill>
                <a:latin typeface="Courier New"/>
              </a:defRPr>
            </a:pPr>
            <a:r>
              <a:t>  VIOLATION  edit before read</a:t>
            </a:r>
          </a:p>
          <a:p>
            <a:pPr algn="l">
              <a:defRPr sz="500"/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4A5568"/>
                </a:solidFill>
                <a:latin typeface="Trebuchet MS"/>
              </a:defRPr>
            </a:pPr>
            <a:r>
              <a:t>Ordering property as a DFA — one automaton per tracked file.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E67E22"/>
                </a:solidFill>
                <a:latin typeface="Trebuchet MS"/>
              </a:defRPr>
            </a:pPr>
            <a:r>
              <a:t>Claude Code enforces this: Read before Edit.</a:t>
            </a:r>
          </a:p>
        </p:txBody>
      </p:sp>
      <p:sp>
        <p:nvSpPr>
          <p:cNvPr id="7" name="UNREAD"/>
          <p:cNvSpPr/>
          <p:nvPr/>
        </p:nvSpPr>
        <p:spPr>
          <a:xfrm>
            <a:off x="5295900" y="1612900"/>
            <a:ext cx="965200" cy="965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B2A4A"/>
                </a:solidFill>
                <a:latin typeface="Trebuchet MS"/>
              </a:rPr>
              <a:t>UNREAD</a:t>
            </a:r>
          </a:p>
        </p:txBody>
      </p:sp>
      <p:sp>
        <p:nvSpPr>
          <p:cNvPr id="8" name="READ_outer"/>
          <p:cNvSpPr/>
          <p:nvPr/>
        </p:nvSpPr>
        <p:spPr>
          <a:xfrm>
            <a:off x="7454900" y="1612900"/>
            <a:ext cx="965200" cy="965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AD"/>
          <p:cNvSpPr/>
          <p:nvPr/>
        </p:nvSpPr>
        <p:spPr>
          <a:xfrm>
            <a:off x="7531100" y="1689100"/>
            <a:ext cx="812800" cy="812800"/>
          </a:xfrm>
          <a:prstGeom prst="ellipse">
            <a:avLst/>
          </a:prstGeom>
          <a:solidFill>
            <a:srgbClr val="E6F4F3"/>
          </a:solidFill>
          <a:ln w="19050">
            <a:solidFill>
              <a:srgbClr val="0E7C7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0E7C7B"/>
                </a:solidFill>
                <a:latin typeface="Trebuchet MS"/>
              </a:rPr>
              <a:t>READ</a:t>
            </a:r>
          </a:p>
        </p:txBody>
      </p:sp>
      <p:sp>
        <p:nvSpPr>
          <p:cNvPr id="10" name="VIOLATION"/>
          <p:cNvSpPr/>
          <p:nvPr/>
        </p:nvSpPr>
        <p:spPr>
          <a:xfrm>
            <a:off x="6375400" y="3581400"/>
            <a:ext cx="965200" cy="965200"/>
          </a:xfrm>
          <a:prstGeom prst="ellipse">
            <a:avLst/>
          </a:prstGeom>
          <a:solidFill>
            <a:srgbClr val="FBE9E7"/>
          </a:solidFill>
          <a:ln w="19050">
            <a:solidFill>
              <a:srgbClr val="C0392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C0392B"/>
                </a:solidFill>
                <a:latin typeface="Trebuchet MS"/>
              </a:rPr>
              <a:t>VIOLATION</a:t>
            </a:r>
          </a:p>
        </p:txBody>
      </p:sp>
      <p:cxnSp>
        <p:nvCxnSpPr>
          <p:cNvPr id="11" name="start"/>
          <p:cNvCxnSpPr/>
          <p:nvPr/>
        </p:nvCxnSpPr>
        <p:spPr>
          <a:xfrm>
            <a:off x="5778500" y="1333500"/>
            <a:ext cx="12700" cy="279400"/>
          </a:xfrm>
          <a:prstGeom prst="straightConnector1">
            <a:avLst/>
          </a:prstGeom>
          <a:ln w="12700">
            <a:solidFill>
              <a:srgbClr val="1B2A4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tart_lbl"/>
          <p:cNvSpPr txBox="1"/>
          <p:nvPr/>
        </p:nvSpPr>
        <p:spPr>
          <a:xfrm>
            <a:off x="5600700" y="1155700"/>
            <a:ext cx="3810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900" b="0" dirty="0">
                <a:solidFill>
                  <a:srgbClr val="1B2A4A"/>
                </a:solidFill>
                <a:latin typeface="Trebuchet MS"/>
              </a:rPr>
              <a:t>start</a:t>
            </a:r>
          </a:p>
        </p:txBody>
      </p:sp>
      <p:cxnSp>
        <p:nvCxnSpPr>
          <p:cNvPr id="13" name="u2r"/>
          <p:cNvCxnSpPr/>
          <p:nvPr/>
        </p:nvCxnSpPr>
        <p:spPr>
          <a:xfrm>
            <a:off x="6261100" y="2095500"/>
            <a:ext cx="1193800" cy="12700"/>
          </a:xfrm>
          <a:prstGeom prst="straightConnector1">
            <a:avLst/>
          </a:prstGeom>
          <a:ln w="12700">
            <a:solidFill>
              <a:srgbClr val="0E7C7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2r_lbl"/>
          <p:cNvSpPr txBox="1"/>
          <p:nvPr/>
        </p:nvSpPr>
        <p:spPr>
          <a:xfrm>
            <a:off x="6362700" y="1866900"/>
            <a:ext cx="13970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b="1" dirty="0">
                <a:solidFill>
                  <a:srgbClr val="0E7C7B"/>
                </a:solidFill>
                <a:latin typeface="Courier New"/>
              </a:rPr>
              <a:t>read(path)</a:t>
            </a:r>
          </a:p>
        </p:txBody>
      </p:sp>
      <p:cxnSp>
        <p:nvCxnSpPr>
          <p:cNvPr id="15" name="u2v"/>
          <p:cNvCxnSpPr/>
          <p:nvPr/>
        </p:nvCxnSpPr>
        <p:spPr>
          <a:xfrm>
            <a:off x="6057900" y="2476500"/>
            <a:ext cx="419100" cy="1155700"/>
          </a:xfrm>
          <a:prstGeom prst="straightConnector1">
            <a:avLst/>
          </a:prstGeom>
          <a:ln w="12700">
            <a:solidFill>
              <a:srgbClr val="C0392B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u2v_lbl"/>
          <p:cNvSpPr txBox="1"/>
          <p:nvPr/>
        </p:nvSpPr>
        <p:spPr>
          <a:xfrm>
            <a:off x="6159500" y="2679700"/>
            <a:ext cx="16510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900" b="1" dirty="0">
                <a:solidFill>
                  <a:srgbClr val="C0392B"/>
                </a:solidFill>
                <a:latin typeface="Courier New"/>
              </a:rPr>
              <a:t>edit(path) — reject!</a:t>
            </a:r>
          </a:p>
        </p:txBody>
      </p:sp>
      <p:sp>
        <p:nvSpPr>
          <p:cNvPr id="17" name="r_loop"/>
          <p:cNvSpPr/>
          <p:nvPr/>
        </p:nvSpPr>
        <p:spPr>
          <a:xfrm>
            <a:off x="8369300" y="1917700"/>
            <a:ext cx="355600" cy="558800"/>
          </a:xfrm>
          <a:prstGeom prst="ellipse">
            <a:avLst/>
          </a:prstGeom>
          <a:noFill/>
          <a:ln w="12700">
            <a:solidFill>
              <a:srgbClr val="0E7C7B"/>
            </a:solidFill>
            <a:tailEnd type="triangl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r_loop_lbl"/>
          <p:cNvSpPr txBox="1"/>
          <p:nvPr/>
        </p:nvSpPr>
        <p:spPr>
          <a:xfrm>
            <a:off x="8801100" y="2019300"/>
            <a:ext cx="10160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900" b="1" dirty="0">
                <a:solidFill>
                  <a:srgbClr val="0E7C7B"/>
                </a:solidFill>
                <a:latin typeface="Courier New"/>
              </a:rPr>
              <a:t>read / edit</a:t>
            </a:r>
          </a:p>
        </p:txBody>
      </p:sp>
    </p:spTree>
    <p:extLst>
      <p:ext uri="{BB962C8B-B14F-4D97-AF65-F5344CB8AC3E}">
        <p14:creationId xmlns:p14="http://schemas.microsoft.com/office/powerpoint/2010/main" val="1799488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III. RUNTIME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Composing Monitors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Real agents need multiple policies simultaneously: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M₁:  Sandbox monitor        (no writes outside project)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M₂:  Read-before-edit        (ordering)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M₃:  Tool budget              (≤ 30 tool calls)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M₄:  No secret exfiltration   (no API keys in bash args)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0E7C7B"/>
                </a:solidFill>
                <a:latin typeface="Trebuchet MS"/>
              </a:defRPr>
            </a:pPr>
            <a:r>
              <a:t>Composition is simple:  run all monitors in parallel.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def composed_monitor(event):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A4A"/>
                </a:solidFill>
                <a:latin typeface="Courier New"/>
              </a:defRPr>
            </a:pPr>
            <a:r>
              <a:t>    return all(m(event) == ALLOW for m in monitors)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DFA theory:  the product automaton of k DFAs with states n₁..nₖ has ∏ nᵢ states.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E67E22"/>
                </a:solidFill>
                <a:latin typeface="Trebuchet MS"/>
              </a:defRPr>
            </a:pPr>
            <a:r>
              <a:t>For simple monitors (2–3 states each), this is tiny. No state explosion.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III. RUNTIME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Five Levels of Rigor (Revisited)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From Lecture 5, we had four levels. Now we add a fifth: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1. Informal Rule      "Don’t modify files outside the project"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2. Test Harness        assert path.startswith(PROJECT_DIR)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3. Hoare Triple        {path ∈ subdirs(PROJECT)} write {Q}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Courier New"/>
              </a:defRPr>
            </a:pPr>
            <a:r>
              <a:t>4. Temporal Logic      G(write → path ∈ subdirs(...))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0E7C7B"/>
                </a:solidFill>
                <a:latin typeface="Courier New"/>
              </a:defRPr>
            </a:pPr>
            <a:r>
              <a:t>5. Runtime Monitor     DFA with reject state on violation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Level 5 is the only one that runs during execution and can stop the agent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E67E22"/>
                </a:solidFill>
                <a:latin typeface="Trebuchet MS"/>
              </a:defRPr>
            </a:pPr>
            <a:r>
              <a:t>before damage occurs. The others verify before or after.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IV. BOUNDED TRACE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Georgia"/>
              </a:defRPr>
            </a:pPr>
            <a:r>
              <a:t>Connecting Traces to SMT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Runtime monitors check one trace at a time. Can we do better?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0E7C7B"/>
                </a:solidFill>
                <a:latin typeface="Trebuchet MS"/>
              </a:defRPr>
            </a:pPr>
            <a:r>
              <a:t>Bounded trace verification: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Unroll the trace to length k, encode as an SMT formula, and ask Z3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whether any trace of length ≤ k can violate the property.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This connects model checking (traces) back to SAT/SMT (Lecture 7).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1B2A4A"/>
                </a:solidFill>
                <a:latin typeface="Trebuchet MS"/>
              </a:defRPr>
            </a:pPr>
            <a:r>
              <a:t>Key idea: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Each step i has a symbolic state sᵢ and a symbolic action aᵢ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Transition relation: sᵢ₊₁ = T(sᵢ, aᵢ)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Property φ: assert φ(sᵢ) at every step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Ask Z3: ∃ a₁..aₖ.  ¬φ(sⱼ) for some j?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0E7C7B"/>
                </a:solidFill>
                <a:latin typeface="Trebuchet MS"/>
              </a:defRPr>
            </a:pPr>
            <a:r>
              <a:t>If SAT → counterexample trace.  If UNSAT → safe up to k steps.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IV. BOUNDED TRACE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Z3 Encoding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03300"/>
            <a:ext cx="4826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from z3 import *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50" b="0">
                <a:solidFill>
                  <a:srgbClr val="8A95A7"/>
                </a:solidFill>
                <a:latin typeface="Courier New"/>
              </a:defRPr>
            </a:pPr>
            <a:r>
              <a:t># Symbolic trace of length 3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Tool = Datatype("Tool")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Tool.declare("read"); Tool.declare("write"); Tool.declare("bash")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Tool = Tool.create()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actions = [Const(f"a{i}", Tool) for i in range(3)]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in_sandbox = [Bool(f"sandbox_{i}") for i in range(3)]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s = Solver()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8A95A7"/>
                </a:solidFill>
                <a:latin typeface="Courier New"/>
              </a:defRPr>
            </a:pPr>
            <a:r>
              <a:t># Safety: writes must be in sandbox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for i in range(3):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    s.add(Implies(actions[i] == Tool.write, in_sandbox[i]))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8A95A7"/>
                </a:solidFill>
                <a:latin typeface="Courier New"/>
              </a:defRPr>
            </a:pPr>
            <a:r>
              <a:t># Try to find a violation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1B2A4A"/>
                </a:solidFill>
                <a:latin typeface="Courier New"/>
              </a:defRPr>
            </a:pPr>
            <a:r>
              <a:t>s.add(Not(And([...]))  # negate the property</a:t>
            </a:r>
          </a:p>
        </p:txBody>
      </p:sp>
      <p:sp>
        <p:nvSpPr>
          <p:cNvPr id="7" name="smt_card"/>
          <p:cNvSpPr/>
          <p:nvPr/>
        </p:nvSpPr>
        <p:spPr>
          <a:xfrm>
            <a:off x="5524500" y="1079500"/>
            <a:ext cx="3175000" cy="355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0E7C7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smt_text"/>
          <p:cNvSpPr txBox="1"/>
          <p:nvPr/>
        </p:nvSpPr>
        <p:spPr>
          <a:xfrm>
            <a:off x="5715000" y="1206500"/>
            <a:ext cx="2857500" cy="3302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 algn="l">
              <a:spcAft>
                <a:spcPts val="200"/>
              </a:spcAft>
            </a:pPr>
            <a:r>
              <a:rPr lang="en-US" sz="1200" b="1" dirty="0">
                <a:solidFill>
                  <a:srgbClr val="0E7C7B"/>
                </a:solidFill>
                <a:latin typeface="Trebuchet MS"/>
              </a:rPr>
              <a:t>High-level property</a:t>
            </a:r>
          </a:p>
          <a:p>
            <a:pPr algn="l">
              <a:spcAft>
                <a:spcPts val="300"/>
              </a:spcAft>
            </a:pPr>
            <a:r>
              <a:rPr lang="en-US" sz="1000" b="0" dirty="0">
                <a:solidFill>
                  <a:srgbClr val="4A5568"/>
                </a:solidFill>
                <a:latin typeface="Trebuchet MS"/>
              </a:rPr>
              <a:t>“Every write must target a path inside the sandbox.”</a:t>
            </a:r>
          </a:p>
          <a:p>
            <a:pPr>
              <a:defRPr sz="4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1000" b="1" dirty="0">
                <a:solidFill>
                  <a:srgbClr val="1B2A4A"/>
                </a:solidFill>
                <a:latin typeface="Trebuchet MS"/>
              </a:rPr>
              <a:t>As an SMT formula:</a:t>
            </a:r>
          </a:p>
          <a:p>
            <a:pPr>
              <a:defRPr sz="3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1100" b="0" dirty="0">
                <a:solidFill>
                  <a:srgbClr val="1B2A4A"/>
                </a:solidFill>
                <a:latin typeface="Cambria Math"/>
              </a:rPr>
              <a:t>∀ i ∈ {0,1,2}.</a:t>
            </a:r>
          </a:p>
          <a:p>
            <a:pPr algn="l">
              <a:spcAft>
                <a:spcPts val="300"/>
              </a:spcAft>
            </a:pPr>
            <a:r>
              <a:rPr lang="en-US" sz="1100" b="0" dirty="0">
                <a:solidFill>
                  <a:srgbClr val="1B2A4A"/>
                </a:solidFill>
                <a:latin typeface="Cambria Math"/>
              </a:rPr>
              <a:t>    aᵢ = write  ⟹  sandboxᵢ</a:t>
            </a:r>
          </a:p>
          <a:p>
            <a:pPr>
              <a:defRPr sz="4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1000" b="1" dirty="0">
                <a:solidFill>
                  <a:srgbClr val="1B2A4A"/>
                </a:solidFill>
                <a:latin typeface="Trebuchet MS"/>
              </a:rPr>
              <a:t>Z3 checks  ¬φ  (negation):</a:t>
            </a:r>
          </a:p>
          <a:p>
            <a:pPr algn="l">
              <a:spcAft>
                <a:spcPts val="200"/>
              </a:spcAft>
            </a:pPr>
            <a:r>
              <a:rPr lang="en-US" sz="1100" b="0" dirty="0">
                <a:solidFill>
                  <a:srgbClr val="C0392B"/>
                </a:solidFill>
                <a:latin typeface="Cambria Math"/>
              </a:rPr>
              <a:t>∃ i. aᵢ = write ∧ ¬ sandboxᵢ</a:t>
            </a:r>
          </a:p>
          <a:p>
            <a:pPr>
              <a:defRPr sz="300"/>
            </a:pPr>
            <a:endParaRPr/>
          </a:p>
          <a:p>
            <a:pPr algn="l">
              <a:spcAft>
                <a:spcPts val="150"/>
              </a:spcAft>
            </a:pPr>
            <a:r>
              <a:rPr lang="en-US" sz="950" b="0" dirty="0">
                <a:solidFill>
                  <a:srgbClr val="C0392B"/>
                </a:solidFill>
                <a:latin typeface="Trebuchet MS"/>
              </a:rPr>
              <a:t>sat   → counterexample trace</a:t>
            </a:r>
          </a:p>
          <a:p>
            <a:pPr algn="l">
              <a:spcAft>
                <a:spcPts val="150"/>
              </a:spcAft>
            </a:pPr>
            <a:r>
              <a:rPr lang="en-US" sz="950" b="0" dirty="0">
                <a:solidFill>
                  <a:srgbClr val="0E7C7B"/>
                </a:solidFill>
                <a:latin typeface="Trebuchet MS"/>
              </a:rPr>
              <a:t>unsat → property holds for length 3</a:t>
            </a:r>
          </a:p>
        </p:txBody>
      </p:sp>
    </p:spTree>
    <p:extLst>
      <p:ext uri="{BB962C8B-B14F-4D97-AF65-F5344CB8AC3E}">
        <p14:creationId xmlns:p14="http://schemas.microsoft.com/office/powerpoint/2010/main" val="341738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IV. BOUNDED TRACE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Example: Permission Escalation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965200"/>
            <a:ext cx="4699000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100" b="1" dirty="0">
                <a:solidFill>
                  <a:srgbClr val="1B2A4A"/>
                </a:solidFill>
                <a:latin typeface="Trebuchet MS"/>
              </a:rPr>
              <a:t>Can an agent chain 3 tool calls to escalate from USER to ROOT?</a:t>
            </a:r>
          </a:p>
          <a:p>
            <a:pPr>
              <a:defRPr sz="4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from z3 import *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USER, ADMIN, ROOT = 0, 1, 2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READ, SUDO, EDIT_CFG = 0, 1, 2</a:t>
            </a:r>
          </a:p>
          <a:p>
            <a:pPr>
              <a:defRPr sz="2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perm = [Int(f"perm_{i}") for i in range(4)]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act  = [Int(f"act_{i}")  for i in range(3)]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s = Solver()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s.add(perm[0] == USER)                  # start unprivileged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for i in range(3):                      # encode transitions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s.add(And(act[i] &gt;= 0, act[i] &lt;= 2))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s.add(perm[i+1] ==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  If(And(act[i]==EDIT_CFG,           # USER → ADMIN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         perm[i]==USER), ADMIN,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  If(And(act[i]==SUDO,               # ADMIN → ROOT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         perm[i]==ADMIN), ROOT,</a:t>
            </a:r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1B2A4A"/>
                </a:solidFill>
                <a:latin typeface="Courier New"/>
              </a:rPr>
              <a:t>             perm[i])))                  # otherwise: no change</a:t>
            </a:r>
          </a:p>
          <a:p>
            <a:pPr>
              <a:defRPr sz="2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800" b="0" dirty="0">
                <a:solidFill>
                  <a:srgbClr val="C0392B"/>
                </a:solidFill>
                <a:latin typeface="Courier New"/>
              </a:rPr>
              <a:t>s.add(perm[3] == ROOT)                  # goal: reach ROOT</a:t>
            </a:r>
          </a:p>
          <a:p>
            <a:pPr algn="l">
              <a:spcAft>
                <a:spcPts val="200"/>
              </a:spcAft>
            </a:pPr>
            <a:r>
              <a:rPr lang="en-US" sz="800" b="1" dirty="0">
                <a:solidFill>
                  <a:srgbClr val="0E7C7B"/>
                </a:solidFill>
                <a:latin typeface="Courier New"/>
              </a:rPr>
              <a:t>print(s.check())   # sat!</a:t>
            </a:r>
          </a:p>
          <a:p>
            <a:pPr algn="l">
              <a:spcAft>
                <a:spcPts val="200"/>
              </a:spcAft>
            </a:pPr>
            <a:r>
              <a:rPr lang="en-US" sz="800" b="1" dirty="0">
                <a:solidFill>
                  <a:srgbClr val="0E7C7B"/>
                </a:solidFill>
                <a:latin typeface="Courier New"/>
              </a:rPr>
              <a:t>print(s.model())   # act_0=EDIT_CFG, act_1=SUDO, act_2=READ</a:t>
            </a:r>
          </a:p>
          <a:p>
            <a:pPr>
              <a:defRPr sz="300"/>
            </a:pPr>
            <a:endParaRPr/>
          </a:p>
          <a:p>
            <a:pPr algn="l">
              <a:spcAft>
                <a:spcPts val="300"/>
              </a:spcAft>
            </a:pPr>
            <a:r>
              <a:rPr lang="en-US" sz="900" b="1" dirty="0">
                <a:solidFill>
                  <a:srgbClr val="E67E22"/>
                </a:solidFill>
                <a:latin typeface="Trebuchet MS"/>
              </a:rPr>
              <a:t>→ Z3 found a 2-step escalation: edit_config then sudo. A monitor should block edit_config for USER.</a:t>
            </a:r>
          </a:p>
        </p:txBody>
      </p:sp>
      <p:sp>
        <p:nvSpPr>
          <p:cNvPr id="7" name="smt_card"/>
          <p:cNvSpPr/>
          <p:nvPr/>
        </p:nvSpPr>
        <p:spPr>
          <a:xfrm>
            <a:off x="5334000" y="1041400"/>
            <a:ext cx="3365500" cy="3759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0E7C7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smt_text"/>
          <p:cNvSpPr txBox="1"/>
          <p:nvPr/>
        </p:nvSpPr>
        <p:spPr>
          <a:xfrm>
            <a:off x="5486400" y="1168400"/>
            <a:ext cx="3111500" cy="3556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 algn="l">
              <a:spcAft>
                <a:spcPts val="200"/>
              </a:spcAft>
            </a:pPr>
            <a:r>
              <a:rPr lang="en-US" sz="1200" b="1" dirty="0">
                <a:solidFill>
                  <a:srgbClr val="0E7C7B"/>
                </a:solidFill>
                <a:latin typeface="Trebuchet MS"/>
              </a:rPr>
              <a:t>High-level property</a:t>
            </a:r>
          </a:p>
          <a:p>
            <a:pPr algn="l">
              <a:spcAft>
                <a:spcPts val="250"/>
              </a:spcAft>
            </a:pPr>
            <a:r>
              <a:rPr lang="en-US" sz="1000" b="0" dirty="0">
                <a:solidFill>
                  <a:srgbClr val="4A5568"/>
                </a:solidFill>
                <a:latin typeface="Trebuchet MS"/>
              </a:rPr>
              <a:t>“Is there a 3-step trace from USER to ROOT?”  (reachability)</a:t>
            </a:r>
          </a:p>
          <a:p>
            <a:pPr>
              <a:defRPr sz="400"/>
            </a:pPr>
            <a:endParaRPr/>
          </a:p>
          <a:p>
            <a:pPr algn="l">
              <a:spcAft>
                <a:spcPts val="150"/>
              </a:spcAft>
            </a:pPr>
            <a:r>
              <a:rPr lang="en-US" sz="1000" b="1" dirty="0">
                <a:solidFill>
                  <a:srgbClr val="1B2A4A"/>
                </a:solidFill>
                <a:latin typeface="Trebuchet MS"/>
              </a:rPr>
              <a:t>Transition function:</a:t>
            </a:r>
          </a:p>
          <a:p>
            <a:pPr algn="l">
              <a:spcAft>
                <a:spcPts val="150"/>
              </a:spcAft>
            </a:pPr>
            <a:r>
              <a:rPr lang="en-US" sz="1000" b="0" dirty="0">
                <a:solidFill>
                  <a:srgbClr val="1B2A4A"/>
                </a:solidFill>
                <a:latin typeface="Cambria Math"/>
              </a:rPr>
              <a:t>T(p, READ)     = p</a:t>
            </a:r>
          </a:p>
          <a:p>
            <a:pPr algn="l">
              <a:spcAft>
                <a:spcPts val="150"/>
              </a:spcAft>
            </a:pPr>
            <a:r>
              <a:rPr lang="en-US" sz="1000" b="0" dirty="0">
                <a:solidFill>
                  <a:srgbClr val="1B2A4A"/>
                </a:solidFill>
                <a:latin typeface="Cambria Math"/>
              </a:rPr>
              <a:t>T(USER, EDIT_CFG)  = ADMIN</a:t>
            </a:r>
          </a:p>
          <a:p>
            <a:pPr algn="l">
              <a:spcAft>
                <a:spcPts val="150"/>
              </a:spcAft>
            </a:pPr>
            <a:r>
              <a:rPr lang="en-US" sz="1000" b="0" dirty="0">
                <a:solidFill>
                  <a:srgbClr val="1B2A4A"/>
                </a:solidFill>
                <a:latin typeface="Cambria Math"/>
              </a:rPr>
              <a:t>T(ADMIN, SUDO) = ROOT</a:t>
            </a:r>
          </a:p>
          <a:p>
            <a:pPr algn="l">
              <a:spcAft>
                <a:spcPts val="250"/>
              </a:spcAft>
            </a:pPr>
            <a:r>
              <a:rPr lang="en-US" sz="1000" b="0" dirty="0">
                <a:solidFill>
                  <a:srgbClr val="1B2A4A"/>
                </a:solidFill>
                <a:latin typeface="Cambria Math"/>
              </a:rPr>
              <a:t>T(p, a)        = p   otherwise</a:t>
            </a:r>
          </a:p>
          <a:p>
            <a:pPr>
              <a:defRPr sz="400"/>
            </a:pPr>
            <a:endParaRPr/>
          </a:p>
          <a:p>
            <a:pPr algn="l">
              <a:spcAft>
                <a:spcPts val="200"/>
              </a:spcAft>
            </a:pPr>
            <a:r>
              <a:rPr lang="en-US" sz="1000" b="1" dirty="0">
                <a:solidFill>
                  <a:srgbClr val="1B2A4A"/>
                </a:solidFill>
                <a:latin typeface="Trebuchet MS"/>
              </a:rPr>
              <a:t>SMT query  φ  (ask Z3 for sat):</a:t>
            </a:r>
          </a:p>
          <a:p>
            <a:pPr algn="l">
              <a:spcAft>
                <a:spcPts val="150"/>
              </a:spcAft>
            </a:pPr>
            <a:r>
              <a:rPr lang="en-US" sz="1100" b="0" dirty="0">
                <a:solidFill>
                  <a:srgbClr val="1B2A4A"/>
                </a:solidFill>
                <a:latin typeface="Cambria Math"/>
              </a:rPr>
              <a:t>p₀ = USER</a:t>
            </a:r>
          </a:p>
          <a:p>
            <a:pPr algn="l">
              <a:spcAft>
                <a:spcPts val="150"/>
              </a:spcAft>
            </a:pPr>
            <a:r>
              <a:rPr lang="en-US" sz="1100" b="0" dirty="0">
                <a:solidFill>
                  <a:srgbClr val="1B2A4A"/>
                </a:solidFill>
                <a:latin typeface="Cambria Math"/>
              </a:rPr>
              <a:t>∧  ⋀ᵢ₌₀..₂  pᵢ₊₁ = T(pᵢ, aᵢ)</a:t>
            </a:r>
          </a:p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C0392B"/>
                </a:solidFill>
                <a:latin typeface="Cambria Math"/>
              </a:rPr>
              <a:t>∧  p₃ = ROOT</a:t>
            </a:r>
          </a:p>
          <a:p>
            <a:pPr>
              <a:defRPr sz="300"/>
            </a:pPr>
            <a:endParaRPr/>
          </a:p>
          <a:p>
            <a:pPr algn="l">
              <a:spcAft>
                <a:spcPts val="100"/>
              </a:spcAft>
            </a:pPr>
            <a:r>
              <a:rPr lang="en-US" sz="950" b="0" dirty="0">
                <a:solidFill>
                  <a:srgbClr val="C0392B"/>
                </a:solidFill>
                <a:latin typeface="Trebuchet MS"/>
              </a:rPr>
              <a:t>sat  →  attack trace exists (a₀,a₁,a₂)</a:t>
            </a:r>
          </a:p>
          <a:p>
            <a:pPr algn="l">
              <a:spcAft>
                <a:spcPts val="100"/>
              </a:spcAft>
            </a:pPr>
            <a:r>
              <a:rPr lang="en-US" sz="950" b="0" dirty="0">
                <a:solidFill>
                  <a:srgbClr val="0E7C7B"/>
                </a:solidFill>
                <a:latin typeface="Trebuchet MS"/>
              </a:rPr>
              <a:t>unsat → no escalation in 3 steps</a:t>
            </a:r>
          </a:p>
        </p:txBody>
      </p:sp>
    </p:spTree>
    <p:extLst>
      <p:ext uri="{BB962C8B-B14F-4D97-AF65-F5344CB8AC3E}">
        <p14:creationId xmlns:p14="http://schemas.microsoft.com/office/powerpoint/2010/main" val="1236235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IV. BOUNDED TRACE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Example: Proving Read-Before-Write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30400"/>
            <a:ext cx="474980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Can any 4-step trace write a file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without reading it first?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from z3 import *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K = 4; READ, WRITE, BASH = 0, 1, 2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act  = [Int(f"a{i}") for i in range(K)]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file = [Int(f"f{i}") for i in range(K)]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s = Solver()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for i in range(K):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s.add(And(act[i]&gt;=0, act[i]&lt;=2))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1B2A4A"/>
                </a:solidFill>
                <a:latin typeface="Courier New"/>
              </a:defRPr>
            </a:pPr>
            <a:r>
              <a:t>  s.add(And(file[i]&gt;=0, file[i]&lt;=2))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30400"/>
            <a:ext cx="383540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8A95A7"/>
                </a:solidFill>
                <a:latin typeface="Courier New"/>
              </a:rPr>
              <a:t># Find: write with no prior read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bad = BoolVal(False)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for j in range(K):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prior = Or(*[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  And(act[i]==READ,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      file[i]==file[j])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  for i in range(j)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]) if j &gt; 0 else False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bad = Or(bad,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  And(act[j]==WRITE,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1B2A4A"/>
                </a:solidFill>
                <a:latin typeface="Courier New"/>
              </a:rPr>
              <a:t>        Not(prior)))</a:t>
            </a:r>
          </a:p>
          <a:p>
            <a:pPr algn="l">
              <a:spcAft>
                <a:spcPts val="200"/>
              </a:spcAft>
            </a:pPr>
            <a:r>
              <a:rPr lang="en-US" sz="900" b="0" dirty="0">
                <a:solidFill>
                  <a:srgbClr val="C0392B"/>
                </a:solidFill>
                <a:latin typeface="Courier New"/>
              </a:rPr>
              <a:t>s.add(bad)</a:t>
            </a:r>
          </a:p>
          <a:p>
            <a:pPr algn="l">
              <a:spcAft>
                <a:spcPts val="200"/>
              </a:spcAft>
            </a:pPr>
            <a:r>
              <a:rPr lang="en-US" sz="900" b="1" dirty="0">
                <a:solidFill>
                  <a:srgbClr val="0E7C7B"/>
                </a:solidFill>
                <a:latin typeface="Courier New"/>
              </a:rPr>
              <a:t>print(s.check())  # sat!</a:t>
            </a:r>
          </a:p>
          <a:p>
            <a:pPr algn="l">
              <a:spcAft>
                <a:spcPts val="200"/>
              </a:spcAft>
            </a:pPr>
            <a:r>
              <a:rPr lang="en-US" sz="900" b="1" dirty="0">
                <a:solidFill>
                  <a:srgbClr val="E67E22"/>
                </a:solidFill>
                <a:latin typeface="Courier New"/>
              </a:rPr>
              <a:t># a0=WRITE, f0=1  → write w/o read</a:t>
            </a:r>
          </a:p>
          <a:p>
            <a:pPr algn="l">
              <a:spcAft>
                <a:spcPts val="200"/>
              </a:spcAft>
            </a:pPr>
            <a:r>
              <a:rPr lang="en-US" sz="900" b="1" dirty="0">
                <a:solidFill>
                  <a:srgbClr val="0E7C7B"/>
                </a:solidFill>
                <a:latin typeface="Trebuchet MS"/>
              </a:rPr>
              <a:t>Fix: monitor rejects writes to unread files.</a:t>
            </a:r>
          </a:p>
        </p:txBody>
      </p:sp>
      <p:sp>
        <p:nvSpPr>
          <p:cNvPr id="8" name="smt_card"/>
          <p:cNvSpPr/>
          <p:nvPr/>
        </p:nvSpPr>
        <p:spPr>
          <a:xfrm>
            <a:off x="508000" y="965200"/>
            <a:ext cx="8178800" cy="889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0E7C7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mt_text"/>
          <p:cNvSpPr txBox="1"/>
          <p:nvPr/>
        </p:nvSpPr>
        <p:spPr>
          <a:xfrm>
            <a:off x="635000" y="1016000"/>
            <a:ext cx="7924800" cy="7874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 algn="l">
              <a:spcAft>
                <a:spcPts val="100"/>
              </a:spcAft>
            </a:pPr>
            <a:r>
              <a:rPr lang="en-US" sz="1000" b="1" dirty="0">
                <a:solidFill>
                  <a:srgbClr val="0E7C7B"/>
                </a:solidFill>
                <a:latin typeface="Trebuchet MS"/>
              </a:rPr>
              <a:t>High-level property  φ:  every WRITE must be preceded by a READ of the same file</a:t>
            </a:r>
          </a:p>
          <a:p>
            <a:pPr algn="l">
              <a:spcAft>
                <a:spcPts val="100"/>
              </a:spcAft>
            </a:pPr>
            <a:r>
              <a:rPr lang="en-US" sz="1100" b="0" dirty="0">
                <a:solidFill>
                  <a:srgbClr val="1B2A4A"/>
                </a:solidFill>
                <a:latin typeface="Cambria Math"/>
              </a:rPr>
              <a:t>φ ≡  ∀ j. aⱼ = WRITE  ⟹  ∃ i &lt; j. aᵢ = READ ∧ fᵢ = fⱼ      </a:t>
            </a:r>
          </a:p>
          <a:p>
            <a:pPr algn="l">
              <a:spcAft>
                <a:spcPts val="100"/>
              </a:spcAft>
            </a:pPr>
            <a:r>
              <a:rPr lang="en-US" sz="1000" b="0" dirty="0">
                <a:solidFill>
                  <a:srgbClr val="C0392B"/>
                </a:solidFill>
                <a:latin typeface="Cambria Math"/>
              </a:rPr>
              <a:t>Z3 asserts ¬φ:   ∃ j. aⱼ = WRITE ∧ ∀ i &lt; j. ¬(aᵢ = READ ∧ fᵢ = fⱼ)        sat → counterexample · unsat → safe</a:t>
            </a:r>
          </a:p>
        </p:txBody>
      </p:sp>
    </p:spTree>
    <p:extLst>
      <p:ext uri="{BB962C8B-B14F-4D97-AF65-F5344CB8AC3E}">
        <p14:creationId xmlns:p14="http://schemas.microsoft.com/office/powerpoint/2010/main" val="1725263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IV. BOUNDED TRACE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Bounded vs. Runtime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Runtime Monitor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Checks one actual trace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O(n) per trace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Can stop agent in real time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67E22"/>
                </a:solidFill>
                <a:latin typeface="Trebuchet MS"/>
              </a:defRPr>
            </a:pPr>
            <a:r>
              <a:t>•  Misses traces not taken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Use for: production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05156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6C5B7B"/>
                </a:solidFill>
                <a:latin typeface="Trebuchet MS"/>
              </a:defRPr>
            </a:pPr>
            <a:r>
              <a:t>Bounded Verification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Checks all traces up to length k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NP-hard (but Z3 is good at it)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Finds bugs before deployment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E67E22"/>
                </a:solidFill>
                <a:latin typeface="Trebuchet MS"/>
              </a:defRPr>
            </a:pPr>
            <a:r>
              <a:t>•  Incomplete beyond k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6C5B7B"/>
                </a:solidFill>
                <a:latin typeface="Trebuchet MS"/>
              </a:defRPr>
            </a:pPr>
            <a:r>
              <a:t>Use for: skill auditing, HW2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In practice, use both: bounded verification at development time, runtime monitors in production.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V.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Georgia"/>
              </a:defRPr>
            </a:pPr>
            <a:r>
              <a:t>The Four Pillars,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Hoare Logic (Lec 5–6)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Proves individual tool calls correct:  {P} tool_call {Q}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SAT/SMT (Lec 7)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Automates discharging VCs + encodes permission policies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Static Analysis (Lec 8–9)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Analyzes skill code for taint, data flow, and pointer relations without running it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Trace Verification (Today)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Checks that the agent’s actual behavior satisfies safety, liveness, and ordering properties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1B2A4A"/>
                </a:solidFill>
                <a:latin typeface="Trebuchet MS"/>
              </a:defRPr>
            </a:pPr>
            <a:r>
              <a:t>Together they cover the full lifecycle: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design time (Hoare) → build time (static analysis) → audit time (SMT) → run time (monitors)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V.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Four Levels of Agent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Step-Level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Each tool call satisfies its pre/postcondition.  (Hoare triples)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Skill-Level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 complete skill satisfies its contract.  (VCG + static analysis)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Trace-Level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An execution trace satisfies safety/liveness/ordering.  (Runtime monitors, today)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6C5B7B"/>
                </a:solidFill>
                <a:latin typeface="Trebuchet MS"/>
              </a:defRPr>
            </a:pPr>
            <a:r>
              <a:t>System-Level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All possible traces of a multi-agent system satisfy a property.  (Full model checking — aspirational)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1B2A4A"/>
                </a:solidFill>
                <a:latin typeface="Trebuchet MS"/>
              </a:defRPr>
            </a:pPr>
            <a:r>
              <a:t>This course focuses on step, skill, and trace levels — the practical ones.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System-level is active research (and connects to Part III &amp; IV of the course).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Design a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B2A4A"/>
                </a:solidFill>
                <a:latin typeface="Trebuchet MS"/>
              </a:defRPr>
            </a:pPr>
            <a:r>
              <a:t>Policy:  "An agent must not call bash after reading a file containing secrets."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4A5568"/>
                </a:solidFill>
                <a:latin typeface="Trebuchet MS"/>
              </a:defRPr>
            </a:pPr>
            <a:r>
              <a:t>Question 1:  What are the DFA states?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4A5568"/>
                </a:solidFill>
                <a:latin typeface="Trebuchet MS"/>
              </a:defRPr>
            </a:pPr>
            <a:r>
              <a:t>Question 2:  What are the transitions?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4A5568"/>
                </a:solidFill>
                <a:latin typeface="Trebuchet MS"/>
              </a:defRPr>
            </a:pPr>
            <a:r>
              <a:t>Question 3:  What is the reject state?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4A5568"/>
                </a:solidFill>
                <a:latin typeface="Trebuchet MS"/>
              </a:defRPr>
            </a:pPr>
            <a:r>
              <a:t>Question 4:  How would you classify this property?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A95A7"/>
                </a:solidFill>
                <a:latin typeface="Trebuchet MS"/>
              </a:defRPr>
            </a:pPr>
            <a:r>
              <a:t>  (safety / liveness / ordering)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4A5568"/>
                </a:solidFill>
                <a:latin typeface="Trebuchet MS"/>
              </a:defRPr>
            </a:pPr>
            <a:r>
              <a:t>Question 5:  Write the monitor as a Python function.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E67E22"/>
                </a:solidFill>
                <a:latin typeface="Trebuchet MS"/>
              </a:defRPr>
            </a:pPr>
            <a:r>
              <a:t>Try this on paper before we discuss.  (5 minutes)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VI. MIDTERM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Midterm — May 5, In-Class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Format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Closed-book, closed-note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110 minutes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Mix of short answer, derivations,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   and design questions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50" b="1">
                <a:solidFill>
                  <a:srgbClr val="0E7C7B"/>
                </a:solidFill>
                <a:latin typeface="Trebuchet MS"/>
              </a:defRPr>
            </a:pPr>
            <a:r>
              <a:t>Coverage (Lectures 1–10)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Agentic programming concepts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Skills, MCP, multi-agent patterns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Hoare logic + VCG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SAT/SMT (not solver internals)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Static analysis + Datalog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Trace properties + monitors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00584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50" b="1" dirty="0">
                <a:solidFill>
                  <a:srgbClr val="E67E22"/>
                </a:solidFill>
                <a:latin typeface="Trebuchet MS"/>
              </a:rPr>
              <a:t>Sample Question Types</a:t>
            </a:r>
          </a:p>
          <a:p>
            <a:pPr>
              <a:defRPr sz="300"/>
            </a:pPr>
            <a:endParaRPr/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Single-choice / yes-no on core concepts (agentic paradigm, GATE taxonomy, attention degradation, formal mappings, Hoare logic, context sensitivity, call-graph construction)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Derive a Hoare logic proof using assignment, sequencing, and conditional rules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Propose a loop invariant and prove initialization + preservation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Propose a loop invariant for a harder program (GCD) — no proof required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Apply precondition strengthening and postcondition weakening rules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Compute weakest preconditions through assignments, conditionals, and sequences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Compute wp through assert and assume statements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Encode agent permission policies as SMT formulas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Identify policy gaps in a tool-call sequence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Trace taint through a program and identify source-to-sink violations</a:t>
            </a:r>
          </a:p>
          <a:p>
            <a:pPr marL="171450" indent="-171450" algn="l">
              <a:spcAft>
                <a:spcPts val="120"/>
              </a:spcAft>
              <a:buFont typeface="+mj-lt"/>
              <a:buAutoNum type="arabicPeriod"/>
            </a:pPr>
            <a:r>
              <a:rPr lang="en-US" sz="950" dirty="0">
                <a:solidFill>
                  <a:srgbClr val="4A5568"/>
                </a:solidFill>
                <a:latin typeface="Trebuchet MS"/>
              </a:rPr>
              <a:t>Compute Andersen's points-to analysis using Datalog rules (alloc, copy, store, load)</a:t>
            </a:r>
          </a:p>
          <a:p>
            <a:pPr>
              <a:defRPr sz="300"/>
            </a:pPr>
            <a:endParaRPr/>
          </a:p>
          <a:p>
            <a:pPr algn="l">
              <a:spcAft>
                <a:spcPts val="100"/>
              </a:spcAft>
            </a:pPr>
            <a:r>
              <a:rPr lang="en-US" sz="1000" b="1" dirty="0">
                <a:solidFill>
                  <a:srgbClr val="0E7C7B"/>
                </a:solidFill>
                <a:latin typeface="Trebuchet MS"/>
              </a:rPr>
              <a:t>No memorization of algorithms.</a:t>
            </a:r>
          </a:p>
          <a:p>
            <a:pPr algn="l">
              <a:spcAft>
                <a:spcPts val="100"/>
              </a:spcAft>
            </a:pPr>
            <a:r>
              <a:rPr lang="en-US" sz="1000" dirty="0">
                <a:solidFill>
                  <a:srgbClr val="4A5568"/>
                </a:solidFill>
                <a:latin typeface="Trebuchet MS"/>
              </a:rPr>
              <a:t>Focus on understanding and applying.</a:t>
            </a:r>
          </a:p>
        </p:txBody>
      </p:sp>
    </p:spTree>
    <p:extLst>
      <p:ext uri="{BB962C8B-B14F-4D97-AF65-F5344CB8AC3E}">
        <p14:creationId xmlns:p14="http://schemas.microsoft.com/office/powerpoint/2010/main" val="3969470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5DAFAF"/>
                </a:solidFill>
                <a:latin typeface="Trebuchet MS"/>
              </a:defRPr>
            </a:pPr>
            <a:r>
              <a:t>1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Agent traces are sequences of tool-call events — no special formalism needed to work with them.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5DAFAF"/>
                </a:solidFill>
                <a:latin typeface="Trebuchet MS"/>
              </a:defRPr>
            </a:pPr>
            <a:r>
              <a:t>2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Safety (∀i), liveness (∃i), and ordering (∀j.∃i&lt;j) cover most agent properties, expressed as Python predicates.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5DAFAF"/>
                </a:solidFill>
                <a:latin typeface="Trebuchet MS"/>
              </a:defRPr>
            </a:pPr>
            <a:r>
              <a:t>3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Runtime monitors are DFAs that consume trace events and reject on violation — O(n), composable, deployable.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5DAFAF"/>
                </a:solidFill>
                <a:latin typeface="Trebuchet MS"/>
              </a:defRPr>
            </a:pPr>
            <a:r>
              <a:t>4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Bounded trace verification encodes traces as SMT, connecting model checking back to Z3.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400" b="1">
                <a:solidFill>
                  <a:srgbClr val="5DAFAF"/>
                </a:solidFill>
                <a:latin typeface="Trebuchet MS"/>
              </a:defRPr>
            </a:pPr>
            <a:r>
              <a:t>5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The four pillars (Hoare, SMT, static analysis, traces) cover the full agent lifecycle.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Trebuchet MS"/>
              </a:defRPr>
            </a:pPr>
            <a:r>
              <a:t>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560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8A95A7"/>
                </a:solidFill>
                <a:latin typeface="Trebuchet MS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C0392B"/>
                </a:solidFill>
                <a:latin typeface="Trebuchet MS"/>
              </a:defRPr>
            </a:pPr>
            <a:r>
              <a:t>Midterm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May 5 (Lecture 11)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Covers Lectures 1–10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Closed-book, in-class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8229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E7C7B"/>
                </a:solidFill>
                <a:latin typeface="Trebuchet MS"/>
              </a:defRPr>
            </a:pPr>
            <a:r>
              <a:t>After Midterm: Part III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4A5568"/>
                </a:solidFill>
                <a:latin typeface="Trebuchet MS"/>
              </a:defRPr>
            </a:pPr>
            <a:r>
              <a:t>Security of Agentic Systems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Threat landscape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Skill supply-chain attacks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Permission escalation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•  Fuzzing agent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E67E22"/>
                </a:solidFill>
                <a:latin typeface="Trebuchet MS"/>
              </a:defRPr>
            </a:pPr>
            <a:r>
              <a:t>HW2 Due: May 5 (same day as midterm)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4A5568"/>
                </a:solidFill>
                <a:latin typeface="Trebuchet MS"/>
              </a:defRPr>
            </a:pPr>
            <a:r>
              <a:t>Implement a VCG for IMP with Z3 + SMT encoding of agent permission policies.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4A5568"/>
                </a:solidFill>
                <a:latin typeface="Trebuchet MS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0E7C7B"/>
                </a:solidFill>
                <a:latin typeface="Trebuchet MS"/>
              </a:defRPr>
            </a:pPr>
            <a:r>
              <a:t>Study tip:  Review the exercises from each lecture.  If you can do those, you’re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4575AC-1893-3C4C-BE32-EE68A28AC1B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1e062cb-51e1-47c9-ba8c-748618f74e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3933</Words>
  <Application>Microsoft Macintosh PowerPoint</Application>
  <PresentationFormat>On-screen Show (16:9)</PresentationFormat>
  <Paragraphs>565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FENG</cp:lastModifiedBy>
  <cp:revision>3</cp:revision>
  <dcterms:created xsi:type="dcterms:W3CDTF">2013-01-27T09:14:16Z</dcterms:created>
  <dcterms:modified xsi:type="dcterms:W3CDTF">2026-04-30T19:12:12Z</dcterms:modified>
  <cp:category/>
</cp:coreProperties>
</file>