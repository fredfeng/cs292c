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1" r:id="rId3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S  2 9 2 C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Securing the LLM Agent Ecosystem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5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Defense-in-Depth Approach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697480"/>
            <a:ext cx="320040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·  May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Feng · UC Santa Barbara · Department of Computer Science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Ecosystem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46304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188720"/>
            <a:ext cx="146304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37744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188720"/>
            <a:ext cx="146304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146304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1188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920240" y="1440180"/>
            <a:ext cx="4572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240280" y="1303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C7B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1440180"/>
            <a:ext cx="4572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60520" y="1303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C7B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1440180"/>
            <a:ext cx="45720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080760" y="13030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C7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77440" y="2011680"/>
            <a:ext cx="1463040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37744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Skills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108960" y="1691640"/>
            <a:ext cx="0" cy="32004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description (contract) + executable implementation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dominant open standard — thousands of public skills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749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new stack — with a whole new attack surface at every layer.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 Now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560320" cy="22860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51560"/>
            <a:ext cx="54864" cy="2286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124712"/>
            <a:ext cx="22860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MCP skills, first-class in Claude, Cursor, ChatGPT, Copilot, Gemini.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ecosystem with no central gatekeeper.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22860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91840" y="1051560"/>
            <a:ext cx="54864" cy="22860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56432" y="1124712"/>
            <a:ext cx="22860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writing code, moving money, touching infrastructure.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execution with real-world side effects.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560320" cy="22860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54864" cy="228600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91072" y="1124712"/>
            <a:ext cx="22860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security story for this stack.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miss the agent-specific attack surface.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Threat Landscape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20040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layers, five problems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Layers, Five Problems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" cy="548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4360" y="9601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960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Capability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77440" y="960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harness actually find bugs?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12080" y="960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gap from harness design alone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1088136"/>
            <a:ext cx="1234440" cy="3657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0" y="10881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563624"/>
            <a:ext cx="8229600" cy="54864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1563624"/>
            <a:ext cx="54864" cy="54864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156362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15636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15636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Tool-level “allow” is too coarse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12080" y="156362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src/*.py → ~/.aws/credentials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1691640"/>
            <a:ext cx="1234440" cy="36576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315200" y="16916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ConLeash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167128"/>
            <a:ext cx="8229600" cy="54864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2167128"/>
            <a:ext cx="54864" cy="5486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216712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21671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Behavior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377440" y="2167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input → contract violation at runtime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12080" y="2167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“Delete without asking”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0" y="2295144"/>
            <a:ext cx="1234440" cy="3657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0" y="22951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2770632"/>
            <a:ext cx="8229600" cy="54864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2770632"/>
            <a:ext cx="54864" cy="5486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94360" y="277063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27706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Design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77440" y="2770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+ code, mutually inconsistent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12080" y="27706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56.7% carry a critical risk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0" y="2898648"/>
            <a:ext cx="1234440" cy="3657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315200" y="289864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374136"/>
            <a:ext cx="8229600" cy="54864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57200" y="3374136"/>
            <a:ext cx="54864" cy="5486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94360" y="337413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05840" y="337413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377440" y="33741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MITM, no integrity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212080" y="337413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2.1B tokens from one leaked key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315200" y="3502152"/>
            <a:ext cx="1234440" cy="3657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315200" y="350215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different primitives. No silver bullet. We need defense in depth.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L1: Supply Chain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20040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 — The supply chain is not neutral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MINE: The Supply Chain Is Not Neutral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182880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1828800" cy="5943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65760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Router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0" y="1188720"/>
            <a:ext cx="1828800" cy="5943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1188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0" y="1485900"/>
            <a:ext cx="109728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29000" y="1348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485900"/>
            <a:ext cx="109728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55080" y="13487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2468880" cy="128016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" y="2194560"/>
            <a:ext cx="54864" cy="12801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1792" y="2267712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JSON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encryption on the router hop. Every prompt and response visible.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0" y="2194560"/>
            <a:ext cx="2468880" cy="128016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200400" y="2194560"/>
            <a:ext cx="54864" cy="12801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364992" y="2267712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Crypto Binding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signature tying model output to what the agent receives.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0" y="2194560"/>
            <a:ext cx="2468880" cy="128016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0" y="2194560"/>
            <a:ext cx="54864" cy="12801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108192" y="2267712"/>
            <a:ext cx="21945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Everything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read/write on prompts, tool calls, and completions.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is the most privileged man-in-the-middle you never audit.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MINE: What We Found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40480" cy="338328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05840"/>
            <a:ext cx="54864" cy="33832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Study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paid + 400 free routers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34440" y="1920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inject malicious code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adaptive triggers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researcher AWS canaries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234440" y="3703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ETH from a planted key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840480" cy="338328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54864" cy="33832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Poisoning Study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leaked OpenAI key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2.1B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02920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through downstream routers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7889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across 440 Codex sessions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611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sessions in autonomous YOLO mode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MINE: Defenses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468880" cy="18288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51560"/>
            <a:ext cx="54864" cy="1828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1124712"/>
            <a:ext cx="21945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100% of payload injection at only 1% false-positive rate.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468880" cy="18288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0" y="1051560"/>
            <a:ext cx="54864" cy="1828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64992" y="1124712"/>
            <a:ext cx="21945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Screening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statistical deviations in router behavior over time.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43600" y="1051560"/>
            <a:ext cx="2468880" cy="18288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0" y="1051560"/>
            <a:ext cx="54864" cy="1828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08192" y="1124712"/>
            <a:ext cx="219456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Log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trail for all router interactions.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109728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85800" y="3337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Vision: </a:t>
            </a:r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Provider-backed response integrity — cryptographic binding of tool calls to model output. </a:t>
            </a:r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becomes a transparent pipe, not a trusted intermediary.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L2: Skill Design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20040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SEMIA — Static audits for hybrid skills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SEMIA: Skills Are Hybrid Artifacts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201168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51560"/>
            <a:ext cx="54864" cy="2011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Half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shell commands, JSON schema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SAST sees code — blind to prose.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051560"/>
            <a:ext cx="3840480" cy="201168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46320" y="1051560"/>
            <a:ext cx="54864" cy="20116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Half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4630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Spec, preconditions, HITL gates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is non-reproducible, no deduction.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3832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alone is sufficient. A skill’s security depends on the consistency between its prose and its code.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SEMIA: The 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3716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Skill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48840" y="1097280"/>
            <a:ext cx="1371600" cy="6400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14884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0" y="1097280"/>
            <a:ext cx="1371600" cy="6400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4048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(Datalog)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32120" y="1097280"/>
            <a:ext cx="1371600" cy="6400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53212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03720" y="1234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7C7B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223760" y="1097280"/>
            <a:ext cx="13716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223760" y="1097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194560"/>
            <a:ext cx="2560320" cy="13716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2194560"/>
            <a:ext cx="54864" cy="13716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21792" y="2267712"/>
            <a:ext cx="22860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Propose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candidate graph representations from skill artifacts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1840" y="2194560"/>
            <a:ext cx="2560320" cy="13716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291840" y="2194560"/>
            <a:ext cx="54864" cy="13716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56432" y="2267712"/>
            <a:ext cx="22860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structural validity of the generated representation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2194560"/>
            <a:ext cx="2560320" cy="13716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126480" y="2194560"/>
            <a:ext cx="54864" cy="137160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91072" y="2267712"/>
            <a:ext cx="22860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Evaluate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semantic fidelity — does the graph match the skill’s intent?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skill → same Datalog facts → same verdict. Fully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SEMIA: Results at Scale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164592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14,236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skills analyzed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097280"/>
            <a:ext cx="1920240" cy="164592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0604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56.7%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≥ 1 critical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risk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20240" cy="164592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75488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20240" cy="164592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90372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86.7%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0372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31520" y="3154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Comparison: </a:t>
            </a:r>
            <a:endParaRPr lang="en-US" sz="15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 F1 86.7%  vs.  VirusTotal F1 22.1%</a:t>
            </a:r>
            <a:endParaRPr lang="en-US" sz="15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malware scanners miss the semantic risks unique to hybrid skill artifacts.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L3: Runtime Behavior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20040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— Fuzzing for runtime violations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SAFE: When Skills Break Their Contracts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840480" cy="13716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1051560"/>
            <a:ext cx="54864" cy="13716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"Delete my Doc B"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says: "Interactive mode requires confirmation."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51560"/>
            <a:ext cx="3840480" cy="13716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846320" y="1051560"/>
            <a:ext cx="54864" cy="1371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1097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--force, skips confirmation.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"I’m autonomous — no interactive mode — doesn’t apply."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1508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</a:rPr>
              <a:t>▶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2743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is right. The agent found a loophole. This is a contract violation, not a misunderstanding.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Predicates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1188720" cy="3657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828800" y="3886200"/>
            <a:ext cx="1188720" cy="3657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8288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886200"/>
            <a:ext cx="1188720" cy="3657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004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3886200"/>
            <a:ext cx="1188720" cy="3657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720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0" y="3886200"/>
            <a:ext cx="1188720" cy="3657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0" y="38862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SAFE: The Fuzzing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560320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LLM semantic operators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benign NL inputs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051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60320" cy="5029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38328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+ annotated trace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all side effects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0" y="10515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5568"/>
                </a:solidFill>
              </a:rPr>
              <a:t>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309360" y="1051560"/>
            <a:ext cx="2560320" cy="50292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309360" y="1051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goals 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Sampling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Reachability Goals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8229600" cy="384048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0632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Unconfirmed Action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0632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tainted ⇝ exec with no ask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384048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35204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Exfiltration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520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 ⇝ external sink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977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3977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 ⇝ unauthorized use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SAFE: Key Insight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are abstract ⇒ traces can be abstract too.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need concrete inputs to detect contract violations. Abstract trace predicates (tainted, exec, ask) let us reason about whole classes of behaviors at once.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Complementing SEMIA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840480" cy="100584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3200400"/>
            <a:ext cx="54864" cy="10058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3246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 (L2)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Static: catches design-time inconsistencies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prose and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3840480" cy="100584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54864" cy="10058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0" y="32461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(L3)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catches runtime violations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only manifest during execution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L4: Authorization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20040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ConLeash — Authorization that actually works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ConLeash: The Permission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Model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4173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file-read:  </a:t>
            </a:r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840480" cy="128016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2286000"/>
            <a:ext cx="54864" cy="12801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331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Approved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./src/*.py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legitimate — user grants permission.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0392B"/>
                </a:solidFill>
              </a:rPr>
              <a:t>▶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46320" y="2286000"/>
            <a:ext cx="3840480" cy="128016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846320" y="2286000"/>
            <a:ext cx="54864" cy="128016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029200" y="23317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Exploited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~/.aws/credentials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tool, same permission — totally different intent.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fatigue → users grant durable, tool-level permissions. But the tool is the wrong granularity.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ConLeash: Boundary-Scoped Consent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 = ⟨ input scope,  output sink,  sensitivity,  effects 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authorized φ ⇒ auto-permit  ·  Boundary crossing ⇒ escalate to user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2560320" cy="118872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2194560"/>
            <a:ext cx="54864" cy="1188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" y="2267712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Lattice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Subsumption ordering on consent tuples — narrower scopes inherit broader approvals.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91840" y="2194560"/>
            <a:ext cx="2560320" cy="118872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291840" y="219456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456432" y="2267712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Datalog Policy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Non-overridable invariants that no user action can bypass.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560320" cy="118872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54864" cy="118872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91072" y="2267712"/>
            <a:ext cx="228600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Loop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decision becomes a reusable rule — the system learns from user choices.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98.2%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accuracy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98.3%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60604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auto-permit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99.4%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5488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escalations caught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 ms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0372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step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VI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L5: Agent Capability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3200400" cy="0"/>
          </a:xfrm>
          <a:prstGeom prst="line">
            <a:avLst/>
          </a:prstGeom>
          <a:noFill/>
          <a:ln w="3810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5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AgentFlow — Making the agent itself better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AgentFlow: The Harness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model. Vary only the harness (roles, topology, tools, prompts, coordination) ⇒ 4× success-rate gap.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828800" cy="6858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057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651760" y="1920240"/>
            <a:ext cx="1828800" cy="685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5176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(localize bug)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057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0240"/>
            <a:ext cx="1828800" cy="6858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(rewrite harness)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5120" y="205740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1920240"/>
            <a:ext cx="1828800" cy="6858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04088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Run &amp; Observe (feedback loop)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2743200" cy="9144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6118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84.3%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TerminalBench-2 (Claude Opus 4.6)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81.4% best hand-engineered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3474720" y="3611880"/>
            <a:ext cx="2560320" cy="9144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566160" y="3611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unknown Chrome 0-days</a:t>
            </a:r>
            <a:endParaRPr lang="en-US" sz="3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(Kimi K2.5)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6309360" y="3611880"/>
            <a:ext cx="2377440" cy="9144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Critical CVEs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Sandbox-escape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CVE-2026-5280</a:t>
            </a:r>
            <a:endParaRPr lang="en-US" sz="18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CVE-2026-6297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Picture: Defense in Depth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100584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8288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691640"/>
            <a:ext cx="1371600" cy="7772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73736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(harness)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828800"/>
            <a:ext cx="109728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1828800"/>
            <a:ext cx="109728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94944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37360" y="3108960"/>
            <a:ext cx="1371600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737360" y="31089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Skills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23160" y="2468880"/>
            <a:ext cx="0" cy="64008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80160" y="2075688"/>
            <a:ext cx="45720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108960" y="2075688"/>
            <a:ext cx="192024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126480" y="2075688"/>
            <a:ext cx="82296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554480" y="1005840"/>
            <a:ext cx="1737360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554480" y="1005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Capability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23160" y="1463040"/>
            <a:ext cx="0" cy="22860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291840" y="2651760"/>
            <a:ext cx="1554480" cy="45720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291840" y="26517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ConLeash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 Consent Gate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91840" y="2880360"/>
            <a:ext cx="0" cy="0"/>
          </a:xfrm>
          <a:prstGeom prst="line">
            <a:avLst/>
          </a:prstGeom>
          <a:noFill/>
          <a:ln w="19050">
            <a:solidFill>
              <a:srgbClr val="6C5B7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82880" y="3291840"/>
            <a:ext cx="1371600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82880" y="3291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Static Audit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554480" y="3355848"/>
            <a:ext cx="18288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291840" y="3291840"/>
            <a:ext cx="1554480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29184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Runtime Fuzzing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108960" y="3355848"/>
            <a:ext cx="18288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846320" y="2743200"/>
            <a:ext cx="1554480" cy="4572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46320" y="2743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Supply-Chain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77840" y="2331720"/>
            <a:ext cx="0" cy="411480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security is a stack, not a point. Each primitive is necessary but not sufficient — together they compose.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" y="960120"/>
            <a:ext cx="54864" cy="59436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103327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033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960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(L1)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96012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routers are untrusted — enforce supply-chain integrity.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55064"/>
            <a:ext cx="8229600" cy="594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1655064"/>
            <a:ext cx="54864" cy="5943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172821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1728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1655064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 (L2)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26080" y="165506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hybrid artifacts — audit prose and code together, statically.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350008"/>
            <a:ext cx="8229600" cy="59436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2350008"/>
            <a:ext cx="54864" cy="5943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3500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(L3)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235000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violations hide in runtime — fuzz with abstract traces.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044952"/>
            <a:ext cx="8229600" cy="594360"/>
          </a:xfrm>
          <a:prstGeom prst="rect">
            <a:avLst/>
          </a:prstGeom>
          <a:solidFill>
            <a:srgbClr val="EDEFF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044952"/>
            <a:ext cx="54864" cy="59436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40080" y="3118104"/>
            <a:ext cx="457200" cy="457200"/>
          </a:xfrm>
          <a:prstGeom prst="ellipse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304495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ConLeash (L4)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926080" y="304495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Tool-level consent is broken — scope permissions to boundaries.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739896"/>
            <a:ext cx="8229600" cy="59436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57200" y="3739896"/>
            <a:ext cx="54864" cy="59436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34440" y="3739896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AgentFlow (L5)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2926080" y="373989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is the bottleneck — synthesize better agent designs.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CS292C · Formal Methods for Agentic Programming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Lectures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46304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1527048"/>
            <a:ext cx="502920" cy="329184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1527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46304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MINE: Supply-Chain Integrity for LLM Routers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011680"/>
            <a:ext cx="54864" cy="4572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2075688"/>
            <a:ext cx="502920" cy="32918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207568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80160" y="201168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SEMIA: Static Analysis for Hybrid MCP Skills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2560320"/>
            <a:ext cx="54864" cy="4572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0080" y="2624328"/>
            <a:ext cx="502920" cy="329184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26243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256032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SAFE: Fuzzing Agent-Skill Interactions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108960"/>
            <a:ext cx="54864" cy="457200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40080" y="3172968"/>
            <a:ext cx="502920" cy="329184"/>
          </a:xfrm>
          <a:prstGeom prst="rect">
            <a:avLst/>
          </a:prstGeom>
          <a:solidFill>
            <a:srgbClr val="6C5B7B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1729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31089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ConLeash: Boundary-Scoped Agent Authorization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AFBF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3657600"/>
            <a:ext cx="54864" cy="45720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40080" y="3721608"/>
            <a:ext cx="502920" cy="32918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372160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80160" y="365760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AgentFlow: Synthesizing Better Agent Harnesses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EBF5F5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lecture covers the formalism, implementation, and evaluation of one layer in depth.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Georgia"/>
              </a:rPr>
              <a:t>Recap: Our Formal Methods Toolkit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E7C7B"/>
                </a:solidFill>
                <a:latin typeface="Calibri"/>
              </a:rPr>
              <a:t>Lectures 5–10 built four pillars — now we apply them to agent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931920" cy="1600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" cy="160020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E7C7B"/>
                </a:solidFill>
                <a:latin typeface="Calibri"/>
              </a:rPr>
              <a:t>Hoare Logic &amp; VCG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41731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</a:rPr>
              <a:t>Lectures 5–6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Pre/postcondition reasoning.
{P} S {Q} triples, weakest preconditions,
verification condition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194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E7C7B"/>
                </a:solidFill>
                <a:latin typeface="Calibri"/>
              </a:rPr>
              <a:t>→ ConLeash: Datalog invariants as
non-overridable Hoare-style specs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97280"/>
            <a:ext cx="3931920" cy="1600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097280"/>
            <a:ext cx="54864" cy="1600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170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SAT/SMT Solvers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417319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</a:rPr>
              <a:t>Lecture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1600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Decision procedures for satisfiability.
Z3 for constraint solving, model finding,
counterexample generation.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9472" y="2194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E7C7B"/>
                </a:solidFill>
                <a:latin typeface="Calibri"/>
              </a:rPr>
              <a:t>→ SEMIA: reachability queries
over Datalog fact bases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3931920" cy="1600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54864" cy="1600200"/>
          </a:xfrm>
          <a:prstGeom prst="rect">
            <a:avLst/>
          </a:prstGeom>
          <a:solidFill>
            <a:srgbClr val="6C5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907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C5B7B"/>
                </a:solidFill>
                <a:latin typeface="Calibri"/>
              </a:rPr>
              <a:t>Static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154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</a:rPr>
              <a:t>Lectures 8–9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3337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Dataflow, taint tracking, points-to.
Abstract interpretation, Datalog-based
analysis (Soufflé, CodeQL).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E7C7B"/>
                </a:solidFill>
                <a:latin typeface="Calibri"/>
              </a:rPr>
              <a:t>→ SEMIA + SAFE: static audits
and abstract trace predicates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834640"/>
            <a:ext cx="3931920" cy="16002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0" y="2834640"/>
            <a:ext cx="54864" cy="1600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2907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980B9"/>
                </a:solidFill>
                <a:latin typeface="Calibri"/>
              </a:rPr>
              <a:t>Trace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31546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</a:rPr>
              <a:t>Lecture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33375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Lightweight runtime checks.
Monitor agent traces against
temporal specifications.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3931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E7C7B"/>
                </a:solidFill>
                <a:latin typeface="Calibri"/>
              </a:rPr>
              <a:t>→ SAFE: reachability goals over
execution traces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CS292C · Formal Methods for Agentic Programming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Securing the LLM Agent Ecosystem</dc:title>
  <dc:subject>PptxGenJS Presentation</dc:subject>
  <dc:creator>Yu Feng</dc:creator>
  <cp:lastModifiedBy>Yu Feng</cp:lastModifiedBy>
  <cp:revision>1</cp:revision>
  <dcterms:created xsi:type="dcterms:W3CDTF">2026-05-05T02:36:13Z</dcterms:created>
  <dcterms:modified xsi:type="dcterms:W3CDTF">2026-05-05T02:36:13Z</dcterms:modified>
</cp:coreProperties>
</file>