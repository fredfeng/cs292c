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84" r:id="rId36"/>
    <p:sldId id="264" r:id="rId15"/>
    <p:sldId id="285" r:id="rId3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E7C7B"/>
                </a:solidFill>
                <a:latin typeface="Trebuchet MS"/>
              </a:defRPr>
            </a:pPr>
            <a:r>
              <a:t>CS292C  ·  FORMAL METHODS FOR AGENTIC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Hoare Logic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E7C7B"/>
                </a:solidFill>
                <a:latin typeface="Trebuchet MS"/>
              </a:defRPr>
            </a:pPr>
            <a:r>
              <a:t>VCG &amp; Weakest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E7C7B"/>
                </a:solidFill>
                <a:latin typeface="Trebuchet MS"/>
              </a:defRPr>
            </a:pPr>
            <a:r>
              <a:t>Preconditions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Lecture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5A7"/>
                </a:solidFill>
                <a:latin typeface="Trebuchet MS"/>
              </a:defRPr>
            </a:pPr>
            <a:r>
              <a:t>Yu Feng   ·   Spring 2026   ·   April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Recap — Lecture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Hoare triples  {P} C {Q}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Precondition, command, postcondition — partial correctness.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Proof rules for IMP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Assignment, sequence, conditional, skip, strengthen/weaken.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Agent reinterpretation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Tool calls as Hoare triples; agent traces as sequential composition.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Today's questions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How do we handle loops?  Can we automate these proofs?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Why Loops Are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Run Forever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Loops may not terminate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67E22"/>
                </a:solidFill>
                <a:latin typeface="Trebuchet MS"/>
              </a:defRPr>
            </a:pPr>
            <a:r>
              <a:t>State Dependent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Behavior changes with program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Require Insight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Need deeper understanding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Solution:  We need loop invariants.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Loop Rule (Hoare Logic)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E7C7B"/>
                </a:solidFill>
                <a:latin typeface="Consolas"/>
              </a:defRPr>
            </a:pPr>
            <a:r>
              <a:t>{I ∧ b}  C  {I}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E7C7B"/>
                </a:solidFill>
                <a:latin typeface="Trebuchet MS"/>
              </a:defRPr>
            </a:pPr>
            <a:r>
              <a:t>─────────────────────────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E7C7B"/>
                </a:solidFill>
                <a:latin typeface="Consolas"/>
              </a:defRPr>
            </a:pPr>
            <a:r>
              <a:t>{I}  while b do C  {I ∧ ¬b}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where I is the loop invariant (you supply this — the rule does the rest)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If I combined with loop condition b is preserved by each execution of the body C,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then the entire while loop starting with I will result in I ∧ ¬b.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What's a Loop Invariant?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1. Initial Condition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 xml:space="preserve">   Holds before loop starts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2. Preservation (Inductive)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 xml:space="preserve">   If I holds before an iteration, it holds after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3. Usefulness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 xml:space="preserve">   Combined with ¬b, it implies the postcondition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E67E22"/>
                </a:solidFill>
                <a:latin typeface="Trebuchet MS"/>
              </a:defRPr>
            </a:pPr>
            <a:r>
              <a:t>You supply I manually — this is the creative step in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Trebuchet MS"/>
              </a:defRPr>
            </a:pPr>
            <a:r>
              <a:t>Intuition: Multiply by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8895A7"/>
                </a:solidFill>
                <a:latin typeface="Consolas"/>
              </a:defRPr>
            </a:pPr>
            <a:r>
              <a:t>// Goal: y = 3 * x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i := 0; y := 0;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while i &lt; x do {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y := y + 3;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i := i + 1;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>Invariant:  y = 3 * i ∧ i ≤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Proof Sketch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Init:  i=0, y=0 ⇒ I holds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Preservation: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I ∧ i &lt; x ⇒ I after iteration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Postcondition: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I ∧ ¬(i &lt; x) ⇒ i = x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 xml:space="preserve">  ⇒ y = 3 * x 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Loop Invariant Construction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Techniques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Shadow variables — track original values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Loop unrolling — see patterns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Logical bounds — add constraints (e.g., i ≤ 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Think: what changes, what stays true?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Common Invariant Patterns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Counters:  i ≤ 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Accumulators:  sum = 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Index relations:  arr[i] ≤ key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Numeric:  y = 3 *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Trebuchet MS"/>
              </a:defRPr>
            </a:pPr>
            <a:r>
              <a:t>Agent connection:  An agent loop ("keep trying until tests pass") needs an invariant too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7E22"/>
                </a:solidFill>
                <a:latin typeface="Trebuchet MS"/>
              </a:defRPr>
            </a:pPr>
            <a:r>
              <a:t>e.g., "no files outside sandbox are modified across iterations."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Trebuchet MS"/>
              </a:defRPr>
            </a:pPr>
            <a:r>
              <a:t>Exercise: Find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i := 0;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sum := 0;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while i &lt; 5 do {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 xml:space="preserve">  sum := sum + i;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 xml:space="preserve">  i := i + 1;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972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What is a good invariant?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Hint:  sum = 0+1+…+(i−1)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Trebuchet MS"/>
              </a:defRPr>
            </a:pPr>
            <a:r>
              <a:t>Houdini: Automatic Invariant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Candidate-Based Approach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Start with many possible invariants; remove those that fail.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Conjunctive Invariants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Works with simple statements joined by ∧  (fast but limited).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Fixed-Point Computation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Iteratively refines until the strongest valid conjunction remains.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8895A7"/>
                </a:solidFill>
                <a:latin typeface="Trebuchet MS"/>
              </a:defRPr>
            </a:pPr>
            <a:r>
              <a:t>Flanagan &amp; Leino, FME 2001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Finding complex invariants automatically remains an open problem.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Modern approaches use ML + symbolic methods, but often need human help.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Motivation for VCG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Manual proofs are slow and error-prone.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1B2A4A"/>
                </a:solidFill>
                <a:latin typeface="Trebuchet MS"/>
              </a:defRPr>
            </a:pPr>
            <a:r>
              <a:t>Key question: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Trebuchet MS"/>
              </a:defRPr>
            </a:pPr>
            <a:r>
              <a:t>Can we generate proof obligations mechanically?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Answer:  Yes, with Verification Condition Generation (VCG).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Idea:  Given an annotated program (with invariants), automatically produce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logical formulas whose validity implies program correctness.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Then feed those formulas to an SMT solver (Z3).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Weakest Precondition (WP)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E7C7B"/>
                </a:solidFill>
                <a:latin typeface="Consolas"/>
              </a:defRPr>
            </a:pPr>
            <a:r>
              <a:t>wp(C, Q) = weakest P such that {P} C {Q}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Direction:  Backward analysis — start from postcondition, walk backward.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Example 1:   C: x := x+1    Q: x = 2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 xml:space="preserve">             wp = (x+1 = 2)  ⇒  x = 1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Example 2:   C: x := y+2    Q: x ≥ 0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 xml:space="preserve">             wp = (y+2 ≥ 0)  ⇒  y ≥ −2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Rules: Assignment &amp; Skip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Assignment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B2A4A"/>
                </a:solidFill>
                <a:latin typeface="Consolas"/>
              </a:defRPr>
            </a:pPr>
            <a:r>
              <a:t>wp(x := E, Q)  =  Q[x/E]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Substitute all occurrences of x with E in 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Skip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B2A4A"/>
                </a:solidFill>
                <a:latin typeface="Consolas"/>
              </a:defRPr>
            </a:pPr>
            <a:r>
              <a:t>wp(skip, Q)  =  Q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Does nothing — postcondition equals precondition.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Rule: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7C7B"/>
                </a:solidFill>
                <a:latin typeface="Consolas"/>
              </a:defRPr>
            </a:pPr>
            <a:r>
              <a:t>wp(C₁; C₂, Q)  =  wp(C₁, wp(C₂, Q))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Compute wp of C₂ first, then use it as postcondition for C₁.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Trebuchet MS"/>
              </a:defRPr>
            </a:pPr>
            <a:r>
              <a:t>Example:  x := 1; y := x + 1    Post: {y = 2}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wp(x:=1; y:=x+1,  y=2)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= wp(x:=1,  wp(y:=x+1, y=2))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= wp(x:=1,  x+1=2)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= (1+1 = 2)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 xml:space="preserve">  =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Rule: If-Else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7C7B"/>
                </a:solidFill>
                <a:latin typeface="Consolas"/>
              </a:defRPr>
            </a:pPr>
            <a:r>
              <a:t>wp(if B then C₁ else C₂, Q) = (B ⇒ wp(C₁,Q)) ∧ (¬B ⇒ wp(C₂,Q))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Example:  if x&gt;0 then y:=1 else y:=−1    Post: {y*x &gt; 0}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wp = (x&gt;0 ⇒ wp(y:=1, y*x&gt;0)) ∧ (x≤0 ⇒ wp(y:=−1, y*x&gt;0))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 = (x&gt;0 ⇒ 1*x&gt;0) ∧ (x≤0 ⇒ (−1)*x&gt;0)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 = (x&gt;0 ⇒ x&gt;0) ∧ (x≤0 ⇒ −x&gt;0)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0392B"/>
                </a:solidFill>
                <a:latin typeface="Trebuchet MS"/>
              </a:defRPr>
            </a:pPr>
            <a:r>
              <a:t>Valid when x ≠ 0  (note: x=0 makes second conjunct false)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Given loop with invariant I and postcondition Q, generate 3 VCs: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Consolas"/>
              </a:defRPr>
            </a:pPr>
            <a:r>
              <a:t>1. Init:           P ⇒ 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Precondition implies invariant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895A7"/>
                </a:solidFill>
                <a:latin typeface="Trebuchet MS"/>
              </a:defRPr>
            </a:pPr>
            <a:r>
              <a:t>Init (P ⇒ I) — precondition must establish the invariant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>2. Preservation:   I ∧ b ⇒ wp(C, I)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Invariant maintained through each iteration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895A7"/>
                </a:solidFill>
                <a:latin typeface="Trebuchet MS"/>
              </a:defRPr>
            </a:pPr>
            <a:r>
              <a:t>Preservation (I ∧ b ⇒ wp(C, I)) — this IS {I∧b} C {I} from the loop rule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Consolas"/>
              </a:defRPr>
            </a:pPr>
            <a:r>
              <a:t>3. Exit:           I ∧ ¬b ⇒ Q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Invariant + loop termination implies postcondition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8895A7"/>
                </a:solidFill>
                <a:latin typeface="Trebuchet MS"/>
              </a:defRPr>
            </a:pPr>
            <a:r>
              <a:t>Exit (I ∧ ¬b ⇒ Q) — invariant + termination implies postcondition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B2A4A"/>
                </a:solidFill>
                <a:latin typeface="Trebuchet MS"/>
              </a:defRPr>
            </a:pPr>
            <a:r>
              <a:t>All three must be valid for the program to be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Templates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Assignment     wp(x:=E, Q)              = Q[x/E]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Skip           wp(skip, Q)              = Q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Sequence       wp(C₁;C₂, Q)             = wp(C₁, wp(C₂, Q))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If-Else        wp(if B then C₁ else C₂, Q) = (B⇒wp(C₁,Q))∧(¬B⇒wp(C₂,Q))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While          wp(while b do C, Q)      = Init ∧ Pres ∧ Exit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These are the building blocks of VCG — memorize them!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The VCG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III. VCG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1. Annotate      Add invariants to code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               (human provides loop invariants)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0392B"/>
                </a:solidFill>
                <a:latin typeface="Trebuchet MS"/>
              </a:defRPr>
            </a:pPr>
            <a:r>
              <a:t>2. Compute WP    Work backward from postcondition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               (mechanical — follow the rules)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0E7C7B"/>
                </a:solidFill>
                <a:latin typeface="Trebuchet MS"/>
              </a:defRPr>
            </a:pPr>
            <a:r>
              <a:t>3. Emit VCs      Generate logical formulas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               (one per proof obligation)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C0392B"/>
                </a:solidFill>
                <a:latin typeface="Trebuchet MS"/>
              </a:defRPr>
            </a:pPr>
            <a:r>
              <a:t>4. Solve          Feed into SMT solver (Z3)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 xml:space="preserve">                  (fully automated)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ctr">
              <a:spcAft>
                <a:spcPts val="400"/>
              </a:spcAft>
              <a:defRPr sz="1600" b="1">
                <a:solidFill>
                  <a:srgbClr val="1B2A4A"/>
                </a:solidFill>
                <a:latin typeface="Trebuchet MS"/>
              </a:defRPr>
            </a:pPr>
            <a:r>
              <a:t>VCG = automated Hoare logic proofs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Trebuchet MS"/>
              </a:defRPr>
            </a:pPr>
            <a:r>
              <a:t>Exercise: Compute the 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III. VCG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x := 0;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if x &lt; 1 then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 xml:space="preserve">  x := x + 1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>else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4A5568"/>
                </a:solidFill>
                <a:latin typeface="Consolas"/>
              </a:defRPr>
            </a:pPr>
            <a:r>
              <a:t xml:space="preserve">  skip;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>Post:  { x = 1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058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E7C7B"/>
                </a:solidFill>
                <a:latin typeface="Trebuchet MS"/>
              </a:defRPr>
            </a:pPr>
            <a:r>
              <a:t>Work backward: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1. wp of if-else with Q = x=1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2. wp of x:=0 with result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3. Simplify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Try it yourself first!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Exercise: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III. VCG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wp(if x&lt;1 then x:=x+1 else skip,  x=1)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= (x&lt;1 ⇒ wp(x:=x+1, x=1)) ∧ (x≥1 ⇒ wp(skip, x=1))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 xml:space="preserve">  = (x&lt;1 ⇒ x+1=1)  ∧  (x≥1 ⇒ x=1)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 xml:space="preserve">  = (x&lt;1 ⇒ x=0)  ∧  (x≥1 ⇒ x=1)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Now for x := 0: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wp(x:=0, (x&lt;1 ⇒ x=0) ∧ (x≥1 ⇒ x=1))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= (0&lt;1 ⇒ 0=0) ∧ (0≥1 ⇒ 0=1)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= (true ⇒ true) ∧ (false ⇒ 0=1)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= true ∧ true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Consolas"/>
              </a:defRPr>
            </a:pPr>
            <a:r>
              <a:t xml:space="preserve">  = true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VC is true ⇒ program always satisfies its postcondition.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Syntax of IMP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Expressions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>e ::= n | x | e₁ + e₂ | e₁ − e₂ | e₁ * e₂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Boolean Expressions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>b ::= true | false | e₁ = e₂ | e₁ &lt; e₂ | ¬b | b₁ ∧ b₂ | b₁ ∨ b₂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Statements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>S ::= skip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 xml:space="preserve">   | x := 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 xml:space="preserve">   | S₁; S₂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 xml:space="preserve">   | if b then S₁ else S₂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Consolas"/>
              </a:defRPr>
            </a:pPr>
            <a:r>
              <a:t xml:space="preserve">   | while b do 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Guarded Command Language (GCL)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Why not run wp() directly on IMP while-loops? Because wp of a loop requires an invariant — it's not computable from the code alone. GCL encodes the invariant into the program structure so wp() becomes purely mechanical.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S ::= skip                // no operation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| havoc x              // assign any value to x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| assume b             // restrict to paths where b holds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| assert b             // b must hold (generates VC)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| S ; S                // sequential composition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| S ★ S                // nondeterministic choice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havoc + assume  together model assignment without loops.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WP Rules for GCL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wp(skip, Q)         = Q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wp(assert C, Q)     = C ∧ Q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wp(assume C, Q)     = C → Q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wp(havoc x, Q)      = ∀a. Q[a/x]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wp(S₁; S₂, Q)        = wp(S₁, wp(S₂, Q))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E7C7B"/>
                </a:solidFill>
                <a:latin typeface="Consolas"/>
              </a:defRPr>
            </a:pPr>
            <a:r>
              <a:t>wp(S₁ ★ S₂, Q)       = wp(S₁, Q) ∧ wp(S₂, Q)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assert generates proof obligations;  assume restricts paths.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havoc forgets a variable;  ★ checks both branches.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Translating IMP to GCL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GC(skip)          = assume true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GC(x := e)        = assume tmp=x; havoc x;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                 assume (x = e[tmp/x])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GC(c₁ ; c₂)       = GC(c₁) ; GC(c₂)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>GC(if b then c₁   = (assume b; GC(c₁))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Consolas"/>
              </a:defRPr>
            </a:pPr>
            <a:r>
              <a:t xml:space="preserve">   else c₂)          ★ (assume ¬b; GC(c₂))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Key idea:  IMP programs become loop-free GCL programs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(loops are handled separately via invariant encoding).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8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GCL Translation 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GC({I} while b do c) =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assert I;                    // invariant holds initially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havoc x₁; ...; havoc xₙ;     // forget modified vars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assume I;                    // re-assume invariant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(assume b;                   // loop body path: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 GC(c);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 assert I;                   //   invariant preserved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 assume false)               //   block fall-through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392B"/>
                </a:solidFill>
                <a:latin typeface="Consolas"/>
              </a:defRPr>
            </a:pPr>
            <a:r>
              <a:t xml:space="preserve">  ★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assume ¬b                    // loop exit path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4A5568"/>
                </a:solidFill>
                <a:latin typeface="Trebuchet MS"/>
              </a:defRPr>
            </a:pPr>
            <a:r>
              <a:t>assert I checks init &amp; preservation;  havoc+assume models arbitrary iterations.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Full Example: IMP → GCL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IV. IMP → GCL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IMP Program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{n ≥ 0}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p := 0; x := 0;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{p = x*m ∧ x ≤ n}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while x &lt; n do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 xml:space="preserve">  x := x+1; p := p+m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392B"/>
                </a:solidFill>
                <a:latin typeface="Consolas"/>
              </a:defRPr>
            </a:pPr>
            <a:r>
              <a:t>{p = n*m}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8229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Trebuchet MS"/>
              </a:defRPr>
            </a:pPr>
            <a:r>
              <a:t>GCL Translation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>assume p₀=p; havoc p; assume p=0;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>assume x₀=x; havoc x; assume x=0;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E7C7B"/>
                </a:solidFill>
                <a:latin typeface="Consolas"/>
              </a:defRPr>
            </a:pPr>
            <a:r>
              <a:t>assert p=x*m ∧ x≤n;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>havoc x; havoc p;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>assume p=x*m ∧ x≤n;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>(assume x&lt;n;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 xml:space="preserve"> assume x₁=x; havoc x; assume x=x₁+1;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 xml:space="preserve"> assume p₁=p; havoc p; assume p=p₁+m;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0E7C7B"/>
                </a:solidFill>
                <a:latin typeface="Consolas"/>
              </a:defRPr>
            </a:pPr>
            <a:r>
              <a:t xml:space="preserve"> assert p=x*m ∧ x≤n;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A5568"/>
                </a:solidFill>
                <a:latin typeface="Consolas"/>
              </a:defRPr>
            </a:pPr>
            <a:r>
              <a:t xml:space="preserve"> assume false)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0392B"/>
                </a:solidFill>
                <a:latin typeface="Consolas"/>
              </a:defRPr>
            </a:pPr>
            <a:r>
              <a:t>★ assume ¬(x&lt;n)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Running wp() on this GCL program produces exactly the 3 VCs from Slide 15 — no manual proof steps needed.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VCG for Agent Tool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V. AGENT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An agent skill is an annotated program: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>{file_exists(src)}                        // precondition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content := read(src);                     // tool call 1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if has_tests(content) then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result := run_tests()                   // branch A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>else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stubs := gen_stubs(content);            // branch B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Consolas"/>
              </a:defRPr>
            </a:pPr>
            <a:r>
              <a:t xml:space="preserve">  result := run_tests()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E7C7B"/>
                </a:solidFill>
                <a:latin typeface="Consolas"/>
              </a:defRPr>
            </a:pPr>
            <a:r>
              <a:t>{test_results_available}                  // postcondition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A5568"/>
                </a:solidFill>
                <a:latin typeface="Trebuchet MS"/>
              </a:defRPr>
            </a:pPr>
            <a:r>
              <a:t>VCG can automatically generate the proof obligations for this skill.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E67E22"/>
                </a:solidFill>
                <a:latin typeface="Trebuchet MS"/>
              </a:defRPr>
            </a:pPr>
            <a:r>
              <a:t>HW2:  You will build a VCG that does exactly this, backed by Z3.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1.  Loop invariants  are the key to reasoning about loops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2.  Weakest precondition  computes proof obligations mechanically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3.  VCG pipeline:  annotate → compute wp → emit VCs → solve with Z3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4.  GCL  provides a loop-free intermediate language for VCG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5.  Agent tool chains  are programs — VCG applies directly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</a:p>
          <a:p>
            <a:pPr algn="ctr">
              <a:spcAft>
                <a:spcPts val="400"/>
              </a:spcAft>
              <a:defRPr sz="1800" b="1">
                <a:solidFill>
                  <a:srgbClr val="0E7C7B"/>
                </a:solidFill>
                <a:latin typeface="Trebuchet MS"/>
              </a:defRPr>
            </a:pPr>
            <a:r>
              <a:t>Verification = Logic + Automation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0392B"/>
                </a:solidFill>
                <a:latin typeface="Trebuchet MS"/>
              </a:defRPr>
            </a:pPr>
            <a:r>
              <a:t>Next: Lecture 7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SAT/SMT Solvers for Agent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A5568"/>
                </a:solidFill>
                <a:latin typeface="Trebuchet MS"/>
              </a:defRPr>
            </a:pPr>
            <a:r>
              <a:t>Policy Verification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Propositional logic, CNF, DPLL, CDCL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First-order theories (EUF, LIA, arrays)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Z3 hands-on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•  Encoding agent permission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67E22"/>
                </a:solidFill>
                <a:latin typeface="Trebuchet MS"/>
              </a:defRPr>
            </a:pPr>
            <a:r>
              <a:t>Assignments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C0392B"/>
                </a:solidFill>
                <a:latin typeface="Trebuchet MS"/>
              </a:defRPr>
            </a:pPr>
            <a:r>
              <a:t>HW1 Due Today!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Build &amp; Test an Agent Skill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0E7C7B"/>
                </a:solidFill>
                <a:latin typeface="Trebuchet MS"/>
              </a:defRPr>
            </a:pPr>
            <a:r>
              <a:t>HW2 Out: Lecture 7 (4/23)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Implement a VCG for IMP with Z3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+ SMT encoding of agent policies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Why Manual Proofs Don't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II. VERIFICATION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Verifying the multiply loop by hand:</a:t>
            </a:r>
          </a:p>
          <a:p>
            <a:pPr algn="l">
              <a:spcAft>
                <a:spcPts val="25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1.  Show P ⇒ I:  {n ≥ 0} ⇒ {0 = 3·0 ∧ 0 ≤ x}  ...check</a:t>
            </a: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2.  Show {I ∧ b} body {I}:  {y=3·i ∧ i≤x ∧ i&lt;x}  body  {y=3·i ∧ i≤x}  ...algebra</a:t>
            </a: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3.  Show I ∧ ¬b ⇒ Q:  {y=3·i ∧ i≤x ∧ ¬(i&lt;x)} ⇒ {y = 3·x}  ...check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250"/>
              </a:spcAft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Three hand-proofs for one 4-line loop. Imagine a 100-line program.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VCG automates exactly this.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TitleUnderline"/>
          <p:cNvSpPr/>
          <p:nvPr/>
        </p:nvSpPr>
        <p:spPr>
          <a:xfrm>
            <a:off x="502920" y="758368"/>
            <a:ext cx="1097280" cy="365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Trebuchet MS"/>
              </a:defRPr>
            </a:pPr>
            <a:r>
              <a:t>Exercise Solution: The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E7C7B"/>
                </a:solidFill>
                <a:latin typeface="Trebuchet MS"/>
              </a:defRPr>
            </a:pPr>
            <a:r>
              <a:t>I. LOOPS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CS292C  ·  Lecture 6  ·  Hoare Logic II &amp; VCG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5A7"/>
                </a:solidFill>
                <a:latin typeface="Trebuchet MS"/>
              </a:defRPr>
            </a:pPr>
            <a:r>
              <a:t>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Consolas"/>
              </a:defRPr>
            </a:pPr>
            <a:r>
              <a:t>Invariant:  sum = i*(i-1)/2  ∧  i ≤ 5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0E7C7B"/>
                </a:solidFill>
                <a:latin typeface="Trebuchet MS"/>
              </a:defRPr>
            </a:pPr>
            <a:r>
              <a:t>Verify:</a:t>
            </a: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Init:   i=0, sum=0 → 0 = 0·(0-1)/2 ∧ 0 ≤ 5  ✓</a:t>
            </a: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Preservation:  sum' = sum+i = i·(i-1)/2 + i = i·(i+1)/2 = (i+1)·i/2  ✓</a:t>
            </a:r>
          </a:p>
          <a:p>
            <a:pPr algn="l">
              <a:spcAft>
                <a:spcPts val="250"/>
              </a:spcAft>
              <a:defRPr sz="1200" b="0">
                <a:solidFill>
                  <a:srgbClr val="4A5568"/>
                </a:solidFill>
                <a:latin typeface="Consolas"/>
              </a:defRPr>
            </a:pPr>
            <a:r>
              <a:t>Exit:   i=5 → sum = 5·4/2 = 10 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