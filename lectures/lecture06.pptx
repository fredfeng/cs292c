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84" r:id="rId10"/>
    <p:sldId id="264" r:id="rId11"/>
    <p:sldId id="285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88" r:id="rId24"/>
    <p:sldId id="277" r:id="rId25"/>
    <p:sldId id="278" r:id="rId26"/>
    <p:sldId id="279" r:id="rId27"/>
    <p:sldId id="280" r:id="rId28"/>
    <p:sldId id="281" r:id="rId29"/>
    <p:sldId id="282" r:id="rId30"/>
    <p:sldId id="283" r:id="rId31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94591"/>
  </p:normalViewPr>
  <p:slideViewPr>
    <p:cSldViewPr snapToGrid="0" snapToObjects="1">
      <p:cViewPr varScale="1">
        <p:scale>
          <a:sx n="158" d="100"/>
          <a:sy n="158" d="100"/>
        </p:scale>
        <p:origin x="512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E7C7B"/>
                </a:solidFill>
                <a:latin typeface="Trebuchet MS"/>
              </a:defRPr>
            </a:pPr>
            <a:r>
              <a:t>CS292C  ·  FORMAL METHODS FOR AGENTIC PROGRAMMING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Trebuchet MS"/>
              </a:defRPr>
            </a:pPr>
            <a:r>
              <a:t>Hoare Logic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E7C7B"/>
                </a:solidFill>
                <a:latin typeface="Trebuchet MS"/>
              </a:defRPr>
            </a:pPr>
            <a:r>
              <a:t>VCG &amp; Weakest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E7C7B"/>
                </a:solidFill>
                <a:latin typeface="Trebuchet MS"/>
              </a:defRPr>
            </a:pPr>
            <a:r>
              <a:t>Preconditions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Lecture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023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95A7"/>
                </a:solidFill>
                <a:latin typeface="Trebuchet MS"/>
              </a:defRPr>
            </a:pPr>
            <a:r>
              <a:t>Yu Feng   ·   Spring 2026   ·   April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Trebuchet MS"/>
              </a:defRPr>
            </a:pPr>
            <a:r>
              <a:t>Recap — Lecture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E7C7B"/>
                </a:solidFill>
                <a:latin typeface="Trebuchet MS"/>
              </a:defRPr>
            </a:pPr>
            <a:r>
              <a:t>WHERE WE LEFT 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6  ·  Hoare Logic II &amp; VCG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2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0E7C7B"/>
                </a:solidFill>
                <a:latin typeface="Trebuchet MS"/>
              </a:defRPr>
            </a:pPr>
            <a:r>
              <a:t>Hoare triples  {P} C {Q}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Precondition, command, postcondition — partial correctness.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600" b="1">
                <a:solidFill>
                  <a:srgbClr val="0E7C7B"/>
                </a:solidFill>
                <a:latin typeface="Trebuchet MS"/>
              </a:defRPr>
            </a:pPr>
            <a:r>
              <a:t>Proof rules for IMP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Assignment, sequence, conditional, skip, strengthen/weaken.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600" b="1">
                <a:solidFill>
                  <a:srgbClr val="0E7C7B"/>
                </a:solidFill>
                <a:latin typeface="Trebuchet MS"/>
              </a:defRPr>
            </a:pPr>
            <a:r>
              <a:t>Agent reinterpretation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Tool calls as Hoare triples; agent traces as sequential composition.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600" b="1">
                <a:solidFill>
                  <a:srgbClr val="C0392B"/>
                </a:solidFill>
                <a:latin typeface="Trebuchet MS"/>
              </a:defRPr>
            </a:pPr>
            <a:r>
              <a:t>Today's questions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How do we handle loops?  Can we automate these proofs?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Trebuchet MS"/>
              </a:defRPr>
            </a:pPr>
            <a:r>
              <a:t>Why Loops Are Hard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E7C7B"/>
                </a:solidFill>
                <a:latin typeface="Trebuchet MS"/>
              </a:defRPr>
            </a:pPr>
            <a:r>
              <a:t>I. LOOPS &amp; INVARIANTS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6  ·  Hoare Logic II &amp; VCG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3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C0392B"/>
                </a:solidFill>
                <a:latin typeface="Trebuchet MS"/>
              </a:defRPr>
            </a:pPr>
            <a:r>
              <a:t>Run Forever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Loops may not terminate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18872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E67E22"/>
                </a:solidFill>
                <a:latin typeface="Trebuchet MS"/>
              </a:defRPr>
            </a:pPr>
            <a:r>
              <a:t>State Dependent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Behavior changes with program 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6032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C0392B"/>
                </a:solidFill>
                <a:latin typeface="Trebuchet MS"/>
              </a:defRPr>
            </a:pPr>
            <a:r>
              <a:t>Require Insight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Need deeper understanding to verify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E7C7B"/>
                </a:solidFill>
                <a:latin typeface="Trebuchet MS"/>
              </a:defRPr>
            </a:pPr>
            <a:r>
              <a:t>Solution:  We need loop invariants.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68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Trebuchet MS"/>
              </a:defRPr>
            </a:pPr>
            <a:r>
              <a:t>Loop Rule (Hoare Logic)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E7C7B"/>
                </a:solidFill>
                <a:latin typeface="Trebuchet MS"/>
              </a:defRPr>
            </a:pPr>
            <a:r>
              <a:t>I. LOOPS &amp; INVARIANTS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6  ·  Hoare Logic II &amp; VCG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4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9728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0E7C7B"/>
                </a:solidFill>
                <a:latin typeface="Consolas"/>
              </a:defRPr>
            </a:pPr>
            <a:r>
              <a:t>{I ∧ b}  C  {I}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0E7C7B"/>
                </a:solidFill>
                <a:latin typeface="Trebuchet MS"/>
              </a:defRPr>
            </a:pPr>
            <a:r>
              <a:t>─────────────────────────</a:t>
            </a:r>
          </a:p>
          <a:p>
            <a:pPr algn="l">
              <a:spcAft>
                <a:spcPts val="400"/>
              </a:spcAft>
              <a:defRPr sz="2400" b="1">
                <a:solidFill>
                  <a:srgbClr val="0E7C7B"/>
                </a:solidFill>
                <a:latin typeface="Consolas"/>
              </a:defRPr>
            </a:pPr>
            <a:r>
              <a:t>{I}  while b do C  {I ∧ ¬b}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4A5568"/>
                </a:solidFill>
                <a:latin typeface="Trebuchet MS"/>
              </a:defRPr>
            </a:pPr>
            <a:r>
              <a:t>where I is the loop invariant (you supply this — the rule does the rest)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If I combined with loop condition b is preserved by each execution of the body C,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then the entire while loop starting with I will result in I ∧ ¬b.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68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Trebuchet MS"/>
              </a:defRPr>
            </a:pPr>
            <a:r>
              <a:t>What's a Loop Invariant?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E7C7B"/>
                </a:solidFill>
                <a:latin typeface="Trebuchet MS"/>
              </a:defRPr>
            </a:pPr>
            <a:r>
              <a:t>I. LOOPS &amp; INVARIANTS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6  ·  Hoare Logic II &amp; VCG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5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E7C7B"/>
                </a:solidFill>
                <a:latin typeface="Trebuchet MS"/>
              </a:defRPr>
            </a:pPr>
            <a:r>
              <a:t>1. Initial Condition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   Holds before loop starts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800" b="1">
                <a:solidFill>
                  <a:srgbClr val="C0392B"/>
                </a:solidFill>
                <a:latin typeface="Trebuchet MS"/>
              </a:defRPr>
            </a:pPr>
            <a:r>
              <a:t>2. Preservation (Inductive)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   If I holds before an iteration, it holds after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800" b="1">
                <a:solidFill>
                  <a:srgbClr val="0E7C7B"/>
                </a:solidFill>
                <a:latin typeface="Trebuchet MS"/>
              </a:defRPr>
            </a:pPr>
            <a:r>
              <a:t>3. Usefulness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   Combined with ¬b, it implies the postcondition</a:t>
            </a:r>
          </a:p>
          <a:p>
            <a:pPr algn="l">
              <a:spcAft>
                <a:spcPts val="400"/>
              </a:spcAft>
              <a:defRPr sz="10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500" b="1">
                <a:solidFill>
                  <a:srgbClr val="E67E22"/>
                </a:solidFill>
                <a:latin typeface="Trebuchet MS"/>
              </a:defRPr>
            </a:pPr>
            <a:r>
              <a:t>You supply I manually — this is the creative step in verification.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72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2A4A"/>
                </a:solidFill>
                <a:latin typeface="Trebuchet MS"/>
              </a:defRPr>
            </a:pPr>
            <a:r>
              <a:t>Intuition: Multiply by Addition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E7C7B"/>
                </a:solidFill>
                <a:latin typeface="Trebuchet MS"/>
              </a:defRPr>
            </a:pPr>
            <a:r>
              <a:t>I. LOOPS &amp; INVARIANTS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6  ·  Hoare Logic II &amp; VCG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6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00584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8895A7"/>
                </a:solidFill>
                <a:latin typeface="Consolas"/>
              </a:defRPr>
            </a:pPr>
            <a:r>
              <a:t>// Goal: y = 3 * x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Consolas"/>
              </a:defRPr>
            </a:pPr>
            <a:r>
              <a:t>i := 0; y := 0;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Consolas"/>
              </a:defRPr>
            </a:pPr>
            <a:r>
              <a:t>while i &lt; x do {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Consolas"/>
              </a:defRPr>
            </a:pPr>
            <a:r>
              <a:t>  y := y + 3;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Consolas"/>
              </a:defRPr>
            </a:pPr>
            <a:r>
              <a:t>  i := i + 1;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Consolas"/>
              </a:defRPr>
            </a:pPr>
            <a:r>
              <a:t>}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600" b="1">
                <a:solidFill>
                  <a:srgbClr val="C0392B"/>
                </a:solidFill>
                <a:latin typeface="Consolas"/>
              </a:defRPr>
            </a:pPr>
            <a:r>
              <a:t>Invariant:  y = 3 * i ∧ i ≤ 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00584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0E7C7B"/>
                </a:solidFill>
                <a:latin typeface="Trebuchet MS"/>
              </a:defRPr>
            </a:pPr>
            <a:r>
              <a:t>Proof Sketch</a:t>
            </a:r>
          </a:p>
          <a:p>
            <a:pPr algn="l">
              <a:spcAft>
                <a:spcPts val="4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Init:  i=0, y=0 ⇒ I holds</a:t>
            </a:r>
          </a:p>
          <a:p>
            <a:pPr algn="l">
              <a:spcAft>
                <a:spcPts val="4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Preservation: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  I ∧ i &lt; x ⇒ I after iteration</a:t>
            </a:r>
          </a:p>
          <a:p>
            <a:pPr algn="l">
              <a:spcAft>
                <a:spcPts val="4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Postcondition: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  I ∧ ¬(i &lt; x) ⇒ i = x</a:t>
            </a:r>
          </a:p>
          <a:p>
            <a:pPr algn="l">
              <a:spcAft>
                <a:spcPts val="400"/>
              </a:spcAft>
              <a:defRPr sz="1400" b="1">
                <a:solidFill>
                  <a:srgbClr val="0E7C7B"/>
                </a:solidFill>
                <a:latin typeface="Trebuchet MS"/>
              </a:defRPr>
            </a:pPr>
            <a:r>
              <a:t>  ⇒ y = 3 * x  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68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Trebuchet MS"/>
              </a:defRPr>
            </a:pPr>
            <a:r>
              <a:t>Loop Invariant Construction Tips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E7C7B"/>
                </a:solidFill>
                <a:latin typeface="Trebuchet MS"/>
              </a:defRPr>
            </a:pPr>
            <a:r>
              <a:t>I. LOOPS &amp; INVARIANTS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6  ·  Hoare Logic II &amp; VCG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7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0E7C7B"/>
                </a:solidFill>
                <a:latin typeface="Trebuchet MS"/>
              </a:defRPr>
            </a:pPr>
            <a:r>
              <a:t>Techniques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•  Shadow variables — track original values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•  Loop unrolling — see patterns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•  Logical bounds — add constraints (e.g., i ≤ n)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•  Think: what changes, what stays true?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09728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C0392B"/>
                </a:solidFill>
                <a:latin typeface="Trebuchet MS"/>
              </a:defRPr>
            </a:pPr>
            <a:r>
              <a:t>Common Invariant Patterns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•  Counters:  i ≤ n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•  Accumulators:  sum = Σ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•  Index relations:  arr[i] ≤ key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•  Numeric:  y = 3 * 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67E22"/>
                </a:solidFill>
                <a:latin typeface="Trebuchet MS"/>
              </a:defRPr>
            </a:pPr>
            <a:r>
              <a:t>Agent connection:  An agent loop ("keep trying until tests pass") needs an invariant too 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E67E22"/>
                </a:solidFill>
                <a:latin typeface="Trebuchet MS"/>
              </a:defRPr>
            </a:pPr>
            <a:r>
              <a:t>e.g., "no files outside sandbox are modified across iterations."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72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2A4A"/>
                </a:solidFill>
                <a:latin typeface="Trebuchet MS"/>
              </a:defRPr>
            </a:pPr>
            <a:r>
              <a:t>Exercise: Find the Invariant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E7C7B"/>
                </a:solidFill>
                <a:latin typeface="Trebuchet MS"/>
              </a:defRPr>
            </a:pPr>
            <a:r>
              <a:t>I. LOOPS &amp; INVARIANTS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6  ·  Hoare Logic II &amp; VCG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8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4A5568"/>
                </a:solidFill>
                <a:latin typeface="Consolas"/>
              </a:defRPr>
            </a:pPr>
            <a:r>
              <a:t>i := 0;</a:t>
            </a:r>
          </a:p>
          <a:p>
            <a:pPr algn="l">
              <a:spcAft>
                <a:spcPts val="400"/>
              </a:spcAft>
              <a:defRPr sz="1600" b="0">
                <a:solidFill>
                  <a:srgbClr val="4A5568"/>
                </a:solidFill>
                <a:latin typeface="Consolas"/>
              </a:defRPr>
            </a:pPr>
            <a:r>
              <a:t>sum := 0;</a:t>
            </a:r>
          </a:p>
          <a:p>
            <a:pPr algn="l">
              <a:spcAft>
                <a:spcPts val="400"/>
              </a:spcAft>
              <a:defRPr sz="1600" b="0">
                <a:solidFill>
                  <a:srgbClr val="4A5568"/>
                </a:solidFill>
                <a:latin typeface="Consolas"/>
              </a:defRPr>
            </a:pPr>
            <a:r>
              <a:t>while i &lt; 5 do {</a:t>
            </a:r>
          </a:p>
          <a:p>
            <a:pPr algn="l">
              <a:spcAft>
                <a:spcPts val="400"/>
              </a:spcAft>
              <a:defRPr sz="1600" b="0">
                <a:solidFill>
                  <a:srgbClr val="4A5568"/>
                </a:solidFill>
                <a:latin typeface="Consolas"/>
              </a:defRPr>
            </a:pPr>
            <a:r>
              <a:t>  sum := sum + i;</a:t>
            </a:r>
          </a:p>
          <a:p>
            <a:pPr algn="l">
              <a:spcAft>
                <a:spcPts val="400"/>
              </a:spcAft>
              <a:defRPr sz="1600" b="0">
                <a:solidFill>
                  <a:srgbClr val="4A5568"/>
                </a:solidFill>
                <a:latin typeface="Consolas"/>
              </a:defRPr>
            </a:pPr>
            <a:r>
              <a:t>  i := i + 1;</a:t>
            </a:r>
          </a:p>
          <a:p>
            <a:pPr algn="l">
              <a:spcAft>
                <a:spcPts val="400"/>
              </a:spcAft>
              <a:defRPr sz="1600" b="0">
                <a:solidFill>
                  <a:srgbClr val="4A5568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097280"/>
            <a:ext cx="3840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C0392B"/>
                </a:solidFill>
                <a:latin typeface="Trebuchet MS"/>
              </a:defRPr>
            </a:pPr>
            <a:r>
              <a:t>What is a good invariant?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Hint:  sum = 0+1+…+(i−1)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Trebuchet MS"/>
              </a:defRPr>
            </a:pPr>
            <a:r>
              <a:t>Exercise Solution: The Invariant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E7C7B"/>
                </a:solidFill>
                <a:latin typeface="Trebuchet MS"/>
              </a:defRPr>
            </a:pPr>
            <a:r>
              <a:t>I. LOOPS &amp; INVARIANTS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6  ·  Hoare Logic II &amp; VCG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9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E7C7B"/>
                </a:solidFill>
                <a:latin typeface="Consolas"/>
              </a:defRPr>
            </a:pPr>
            <a:r>
              <a:t>Invariant:  sum = i*(i-1)/2  ∧  i ≤ 5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300"/>
              </a:spcAft>
              <a:defRPr sz="1400" b="1">
                <a:solidFill>
                  <a:srgbClr val="0E7C7B"/>
                </a:solidFill>
                <a:latin typeface="Trebuchet MS"/>
              </a:defRPr>
            </a:pPr>
            <a:r>
              <a:t>Verify:</a:t>
            </a:r>
          </a:p>
          <a:p>
            <a:pPr algn="l">
              <a:spcAft>
                <a:spcPts val="250"/>
              </a:spcAft>
              <a:defRPr sz="1200" b="0">
                <a:solidFill>
                  <a:srgbClr val="4A5568"/>
                </a:solidFill>
                <a:latin typeface="Consolas"/>
              </a:defRPr>
            </a:pPr>
            <a:r>
              <a:t>Init:   i=0, sum=0 → 0 = 0·(0-1)/2 ∧ 0 ≤ 5  ✓</a:t>
            </a:r>
          </a:p>
          <a:p>
            <a:pPr algn="l">
              <a:spcAft>
                <a:spcPts val="250"/>
              </a:spcAft>
              <a:defRPr sz="1200" b="0">
                <a:solidFill>
                  <a:srgbClr val="4A5568"/>
                </a:solidFill>
                <a:latin typeface="Consolas"/>
              </a:defRPr>
            </a:pPr>
            <a:r>
              <a:t>Preservation:  sum' = sum+i = i·(i-1)/2 + i = i·(i+1)/2 = (i+1)·i/2  ✓</a:t>
            </a:r>
          </a:p>
          <a:p>
            <a:pPr algn="l">
              <a:spcAft>
                <a:spcPts val="250"/>
              </a:spcAft>
              <a:defRPr sz="1200" b="0">
                <a:solidFill>
                  <a:srgbClr val="4A5568"/>
                </a:solidFill>
                <a:latin typeface="Consolas"/>
              </a:defRPr>
            </a:pPr>
            <a:r>
              <a:t>Exit:   i=5 → sum = 5·4/2 = 10  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75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2A4A"/>
                </a:solidFill>
                <a:latin typeface="Trebuchet MS"/>
              </a:defRPr>
            </a:pPr>
            <a:r>
              <a:t>Houdini: Automatic Invariant Inference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E7C7B"/>
                </a:solidFill>
                <a:latin typeface="Trebuchet MS"/>
              </a:defRPr>
            </a:pPr>
            <a:r>
              <a:t>I. LOOPS &amp; INVARIANTS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6  ·  Hoare Logic II &amp; VCG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10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0E7C7B"/>
                </a:solidFill>
                <a:latin typeface="Trebuchet MS"/>
              </a:defRPr>
            </a:pPr>
            <a:r>
              <a:t>Candidate-Based Approach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Start with many possible invariants; remove those that fail.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600" b="1">
                <a:solidFill>
                  <a:srgbClr val="0E7C7B"/>
                </a:solidFill>
                <a:latin typeface="Trebuchet MS"/>
              </a:defRPr>
            </a:pPr>
            <a:r>
              <a:t>Conjunctive Invariants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Works with simple statements joined by ∧  (fast but limited).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600" b="1">
                <a:solidFill>
                  <a:srgbClr val="0E7C7B"/>
                </a:solidFill>
                <a:latin typeface="Trebuchet MS"/>
              </a:defRPr>
            </a:pPr>
            <a:r>
              <a:t>Fixed-Point Computation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Iteratively refines until the strongest valid conjunction remains.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200" b="0">
                <a:solidFill>
                  <a:srgbClr val="8895A7"/>
                </a:solidFill>
                <a:latin typeface="Trebuchet MS"/>
              </a:defRPr>
            </a:pPr>
            <a:r>
              <a:t>Flanagan &amp; Leino, FME 2001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400" b="1">
                <a:solidFill>
                  <a:srgbClr val="C0392B"/>
                </a:solidFill>
                <a:latin typeface="Trebuchet MS"/>
              </a:defRPr>
            </a:pPr>
            <a:r>
              <a:t>Finding complex invariants automatically remains an open problem.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Modern approaches use ML + symbolic methods, but often need human help.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Trebuchet MS"/>
              </a:defRPr>
            </a:pPr>
            <a:r>
              <a:t>Why Manual Proofs Don't 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E7C7B"/>
                </a:solidFill>
                <a:latin typeface="Trebuchet MS"/>
              </a:defRPr>
            </a:pPr>
            <a:r>
              <a:t>II. VERIFICATION CONDITIONS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6  ·  Hoare Logic II &amp; VCG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10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Verifying the multiply loop by hand:</a:t>
            </a:r>
          </a:p>
          <a:p>
            <a:pPr algn="l">
              <a:spcAft>
                <a:spcPts val="25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250"/>
              </a:spcAft>
              <a:defRPr sz="1200" b="0">
                <a:solidFill>
                  <a:srgbClr val="4A5568"/>
                </a:solidFill>
                <a:latin typeface="Consolas"/>
              </a:defRPr>
            </a:pPr>
            <a:r>
              <a:t>1.  Show P ⇒ I:  {n ≥ 0} ⇒ {0 = 3·0 ∧ 0 ≤ x}  ...check</a:t>
            </a:r>
          </a:p>
          <a:p>
            <a:pPr algn="l">
              <a:spcAft>
                <a:spcPts val="250"/>
              </a:spcAft>
              <a:defRPr sz="1200" b="0">
                <a:solidFill>
                  <a:srgbClr val="4A5568"/>
                </a:solidFill>
                <a:latin typeface="Consolas"/>
              </a:defRPr>
            </a:pPr>
            <a:r>
              <a:t>2.  Show {I ∧ b} body {I}:  {y=3·i ∧ i≤x ∧ i&lt;x}  body  {y=3·i ∧ i≤x}  ...algebra</a:t>
            </a:r>
          </a:p>
          <a:p>
            <a:pPr algn="l">
              <a:spcAft>
                <a:spcPts val="250"/>
              </a:spcAft>
              <a:defRPr sz="1200" b="0">
                <a:solidFill>
                  <a:srgbClr val="4A5568"/>
                </a:solidFill>
                <a:latin typeface="Consolas"/>
              </a:defRPr>
            </a:pPr>
            <a:r>
              <a:t>3.  Show I ∧ ¬b ⇒ Q:  {y=3·i ∧ i≤x ∧ ¬(i&lt;x)} ⇒ {y = 3·x}  ...check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25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Three hand-proofs for one 4-line loop. Imagine a 100-line program.</a:t>
            </a:r>
          </a:p>
          <a:p>
            <a:pPr algn="l">
              <a:spcAft>
                <a:spcPts val="300"/>
              </a:spcAft>
              <a:defRPr sz="1300" b="1">
                <a:solidFill>
                  <a:srgbClr val="0E7C7B"/>
                </a:solidFill>
                <a:latin typeface="Trebuchet MS"/>
              </a:defRPr>
            </a:pPr>
            <a:r>
              <a:t>VCG automates exactly this.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Trebuchet MS"/>
              </a:defRPr>
            </a:pPr>
            <a:r>
              <a:t>Motivation for VCG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E7C7B"/>
                </a:solidFill>
                <a:latin typeface="Trebuchet MS"/>
              </a:defRPr>
            </a:pPr>
            <a:r>
              <a:t>II. VERIFICATION CONDITIONS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6  ·  Hoare Logic II &amp; VCG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12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C0392B"/>
                </a:solidFill>
                <a:latin typeface="Trebuchet MS"/>
              </a:defRPr>
            </a:pPr>
            <a:r>
              <a:t>Manual proofs are slow and error-prone.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800" b="1">
                <a:solidFill>
                  <a:srgbClr val="1B2A4A"/>
                </a:solidFill>
                <a:latin typeface="Trebuchet MS"/>
              </a:defRPr>
            </a:pPr>
            <a:r>
              <a:t>Key question:</a:t>
            </a:r>
          </a:p>
          <a:p>
            <a:pPr algn="l">
              <a:spcAft>
                <a:spcPts val="400"/>
              </a:spcAft>
              <a:defRPr sz="1600" b="0">
                <a:solidFill>
                  <a:srgbClr val="4A5568"/>
                </a:solidFill>
                <a:latin typeface="Trebuchet MS"/>
              </a:defRPr>
            </a:pPr>
            <a:r>
              <a:t>Can we generate proof obligations mechanically?</a:t>
            </a:r>
          </a:p>
          <a:p>
            <a:pPr algn="l">
              <a:spcAft>
                <a:spcPts val="400"/>
              </a:spcAft>
              <a:defRPr sz="10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800" b="1">
                <a:solidFill>
                  <a:srgbClr val="0E7C7B"/>
                </a:solidFill>
                <a:latin typeface="Trebuchet MS"/>
              </a:defRPr>
            </a:pPr>
            <a:r>
              <a:t>Answer:  Yes, with Verification Condition Generation (VCG).</a:t>
            </a:r>
          </a:p>
          <a:p>
            <a:pPr algn="l">
              <a:spcAft>
                <a:spcPts val="400"/>
              </a:spcAft>
              <a:defRPr sz="10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500" b="0">
                <a:solidFill>
                  <a:srgbClr val="4A5568"/>
                </a:solidFill>
                <a:latin typeface="Trebuchet MS"/>
              </a:defRPr>
            </a:pPr>
            <a:r>
              <a:t>Idea:  Given an annotated program (with invariants), automatically produce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4A5568"/>
                </a:solidFill>
                <a:latin typeface="Trebuchet MS"/>
              </a:defRPr>
            </a:pPr>
            <a:r>
              <a:t>logical formulas whose validity implies program correctness.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4A5568"/>
                </a:solidFill>
                <a:latin typeface="Trebuchet MS"/>
              </a:defRPr>
            </a:pPr>
            <a:r>
              <a:t>Then feed those formulas to an SMT solver (Z3).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68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Trebuchet MS"/>
              </a:defRPr>
            </a:pPr>
            <a:r>
              <a:t>Weakest Precondition (WP)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E7C7B"/>
                </a:solidFill>
                <a:latin typeface="Trebuchet MS"/>
              </a:defRPr>
            </a:pPr>
            <a:r>
              <a:t>II. VERIFICATION CONDITIONS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6  ·  Hoare Logic II &amp; VCG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13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E7C7B"/>
                </a:solidFill>
                <a:latin typeface="Consolas"/>
              </a:defRPr>
            </a:pPr>
            <a:r>
              <a:t>wp(C, Q) = weakest P such that {P} C {Q}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4A5568"/>
                </a:solidFill>
                <a:latin typeface="Trebuchet MS"/>
              </a:defRPr>
            </a:pPr>
            <a:r>
              <a:t>Direction:  Backward analysis — start from postcondition, walk backward.</a:t>
            </a:r>
          </a:p>
          <a:p>
            <a:pPr algn="l">
              <a:spcAft>
                <a:spcPts val="400"/>
              </a:spcAft>
              <a:defRPr sz="10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500" b="0">
                <a:solidFill>
                  <a:srgbClr val="4A5568"/>
                </a:solidFill>
                <a:latin typeface="Trebuchet MS"/>
              </a:defRPr>
            </a:pPr>
            <a:r>
              <a:t>Example 1:   C: x := x+1    Q: x = 2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0E7C7B"/>
                </a:solidFill>
                <a:latin typeface="Consolas"/>
              </a:defRPr>
            </a:pPr>
            <a:r>
              <a:t>             wp = (x+1 = 2)  ⇒  x = 1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500" b="0">
                <a:solidFill>
                  <a:srgbClr val="4A5568"/>
                </a:solidFill>
                <a:latin typeface="Trebuchet MS"/>
              </a:defRPr>
            </a:pPr>
            <a:r>
              <a:t>Example 2:   C: x := y+2    Q: x ≥ 0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0E7C7B"/>
                </a:solidFill>
                <a:latin typeface="Consolas"/>
              </a:defRPr>
            </a:pPr>
            <a:r>
              <a:t>             wp = (y+2 ≥ 0)  ⇒  y ≥ −2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68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Trebuchet MS"/>
              </a:defRPr>
            </a:pPr>
            <a:r>
              <a:t>WP Rules: Assignment &amp; Skip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E7C7B"/>
                </a:solidFill>
                <a:latin typeface="Trebuchet MS"/>
              </a:defRPr>
            </a:pPr>
            <a:r>
              <a:t>II. VERIFICATION CONDITIONS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6  ·  Hoare Logic II &amp; VCG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14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E7C7B"/>
                </a:solidFill>
                <a:latin typeface="Trebuchet MS"/>
              </a:defRPr>
            </a:pPr>
            <a:r>
              <a:t>Assignment</a:t>
            </a:r>
          </a:p>
          <a:p>
            <a:pPr algn="l">
              <a:spcAft>
                <a:spcPts val="400"/>
              </a:spcAft>
              <a:defRPr sz="2000" b="1">
                <a:solidFill>
                  <a:srgbClr val="1B2A4A"/>
                </a:solidFill>
                <a:latin typeface="Consolas"/>
              </a:defRPr>
            </a:pPr>
            <a:r>
              <a:t>wp(x := E, Q)  =  Q[x/E]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Substitute all occurrences of x with E in Q.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C0392B"/>
                </a:solidFill>
                <a:latin typeface="Trebuchet MS"/>
              </a:defRPr>
            </a:pPr>
            <a:r>
              <a:t>Skip</a:t>
            </a:r>
          </a:p>
          <a:p>
            <a:pPr algn="l">
              <a:spcAft>
                <a:spcPts val="400"/>
              </a:spcAft>
              <a:defRPr sz="2000" b="1">
                <a:solidFill>
                  <a:srgbClr val="1B2A4A"/>
                </a:solidFill>
                <a:latin typeface="Consolas"/>
              </a:defRPr>
            </a:pPr>
            <a:r>
              <a:t>wp(skip, Q)  =  Q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Does nothing — postcondition equals precondition.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Trebuchet MS"/>
              </a:defRPr>
            </a:pPr>
            <a:r>
              <a:t>WP Rule: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E7C7B"/>
                </a:solidFill>
                <a:latin typeface="Trebuchet MS"/>
              </a:defRPr>
            </a:pPr>
            <a:r>
              <a:t>II. VERIFICATION CONDITIONS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6  ·  Hoare Logic II &amp; VCG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15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E7C7B"/>
                </a:solidFill>
                <a:latin typeface="Consolas"/>
              </a:defRPr>
            </a:pPr>
            <a:r>
              <a:t>wp(C₁; C₂, Q)  =  wp(C₁, wp(C₂, Q))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Compute wp of C₂ first, then use it as postcondition for C₁.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500" b="1">
                <a:solidFill>
                  <a:srgbClr val="1B2A4A"/>
                </a:solidFill>
                <a:latin typeface="Trebuchet MS"/>
              </a:defRPr>
            </a:pPr>
            <a:r>
              <a:t>Example:  x := 1; y := x + 1    Post: {y = 2}</a:t>
            </a:r>
          </a:p>
          <a:p>
            <a:pPr algn="l">
              <a:spcAft>
                <a:spcPts val="4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Consolas"/>
              </a:defRPr>
            </a:pPr>
            <a:r>
              <a:t>wp(x:=1; y:=x+1,  y=2)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Consolas"/>
              </a:defRPr>
            </a:pPr>
            <a:r>
              <a:t>  = wp(x:=1,  wp(y:=x+1, y=2))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Consolas"/>
              </a:defRPr>
            </a:pPr>
            <a:r>
              <a:t>  = wp(x:=1,  x+1=2)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Consolas"/>
              </a:defRPr>
            </a:pPr>
            <a:r>
              <a:t>  = (1+1 = 2)</a:t>
            </a:r>
          </a:p>
          <a:p>
            <a:pPr algn="l">
              <a:spcAft>
                <a:spcPts val="400"/>
              </a:spcAft>
              <a:defRPr sz="1400" b="1">
                <a:solidFill>
                  <a:srgbClr val="0E7C7B"/>
                </a:solidFill>
                <a:latin typeface="Consolas"/>
              </a:defRPr>
            </a:pPr>
            <a:r>
              <a:t>  = true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Trebuchet MS"/>
              </a:defRPr>
            </a:pPr>
            <a:r>
              <a:t>WP Rule: If-Else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E7C7B"/>
                </a:solidFill>
                <a:latin typeface="Trebuchet MS"/>
              </a:defRPr>
            </a:pPr>
            <a:r>
              <a:t>II. VERIFICATION CONDITIONS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6  ·  Hoare Logic II &amp; VCG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16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005840"/>
            <a:ext cx="859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E7C7B"/>
                </a:solidFill>
                <a:latin typeface="Consolas"/>
              </a:defRPr>
            </a:pPr>
            <a:r>
              <a:t>wp(if B then C₁ else C₂, Q) = (B ⇒ wp(C₁,Q)) ∧ (¬B ⇒ wp(C₂,Q))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828800"/>
            <a:ext cx="8595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1B2A4A"/>
                </a:solidFill>
                <a:latin typeface="Trebuchet MS"/>
              </a:defRPr>
            </a:pPr>
            <a:r>
              <a:t>Example:  if x&gt;0 then y:=1 else y:=−1    Post: {y*x &gt; 0}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Consolas"/>
              </a:defRPr>
            </a:pPr>
            <a:r>
              <a:t>wp = (x&gt;0 ⇒ wp(y:=1, y*x&gt;0)) ∧ (x≤0 ⇒ wp(y:=−1, y*x&gt;0))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Consolas"/>
              </a:defRPr>
            </a:pPr>
            <a:r>
              <a:t>   = (x&gt;0 ⇒ 1*x&gt;0) ∧ (x≤0 ⇒ (−1)*x&gt;0)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Consolas"/>
              </a:defRPr>
            </a:pPr>
            <a:r>
              <a:t>   = (x&gt;0 ⇒ x&gt;0) ∧ (x≤0 ⇒ −x&gt;0)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300" b="0">
                <a:solidFill>
                  <a:srgbClr val="C0392B"/>
                </a:solidFill>
                <a:latin typeface="Trebuchet MS"/>
              </a:defRPr>
            </a:pPr>
            <a:r>
              <a:t>Valid when x ≠ 0  (note: x=0 makes second conjunct false)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Trebuchet MS"/>
              </a:defRPr>
            </a:pPr>
            <a:r>
              <a:t>WP for Loops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E7C7B"/>
                </a:solidFill>
                <a:latin typeface="Trebuchet MS"/>
              </a:defRPr>
            </a:pPr>
            <a:r>
              <a:t>II. VERIFICATION CONDITIONS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6  ·  Hoare Logic II &amp; VCG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17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4A5568"/>
                </a:solidFill>
                <a:latin typeface="Trebuchet MS"/>
              </a:defRPr>
            </a:pPr>
            <a:r>
              <a:t>Given loop with invariant I and postcondition Q, generate 3 VCs: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600" b="1">
                <a:solidFill>
                  <a:srgbClr val="0E7C7B"/>
                </a:solidFill>
                <a:latin typeface="Consolas"/>
              </a:defRPr>
            </a:pPr>
            <a:r>
              <a:t>1. Init:           P ⇒ I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   Precondition implies invariant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8895A7"/>
                </a:solidFill>
                <a:latin typeface="Trebuchet MS"/>
              </a:defRPr>
            </a:pPr>
            <a:r>
              <a:t>Init (P ⇒ I) — precondition must establish the invariant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600" b="1">
                <a:solidFill>
                  <a:srgbClr val="C0392B"/>
                </a:solidFill>
                <a:latin typeface="Consolas"/>
              </a:defRPr>
            </a:pPr>
            <a:r>
              <a:t>2. Preservation:   I ∧ b ⇒ wp(C, I)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   Invariant maintained through each iteration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8895A7"/>
                </a:solidFill>
                <a:latin typeface="Trebuchet MS"/>
              </a:defRPr>
            </a:pPr>
            <a:r>
              <a:t>Preservation (I ∧ b ⇒ wp(C, I)) — this IS {I∧b} C {I} from the loop rule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600" b="1">
                <a:solidFill>
                  <a:srgbClr val="0E7C7B"/>
                </a:solidFill>
                <a:latin typeface="Consolas"/>
              </a:defRPr>
            </a:pPr>
            <a:r>
              <a:t>3. Exit:           I ∧ ¬b ⇒ Q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   Invariant + loop termination implies postcondition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8895A7"/>
                </a:solidFill>
                <a:latin typeface="Trebuchet MS"/>
              </a:defRPr>
            </a:pPr>
            <a:r>
              <a:t>Exit (I ∧ ¬b ⇒ Q) — invariant + termination implies postcondition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400" b="1">
                <a:solidFill>
                  <a:srgbClr val="1B2A4A"/>
                </a:solidFill>
                <a:latin typeface="Trebuchet MS"/>
              </a:defRPr>
            </a:pPr>
            <a:r>
              <a:t>All three must be valid for the program to be correct.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Trebuchet MS"/>
              </a:defRPr>
            </a:pPr>
            <a:r>
              <a:t>WP Templates —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E7C7B"/>
                </a:solidFill>
                <a:latin typeface="Trebuchet MS"/>
              </a:defRPr>
            </a:pPr>
            <a:r>
              <a:t>II. VERIFICATION CONDITIONS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6  ·  Hoare Logic II &amp; VCG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18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0E7C7B"/>
                </a:solidFill>
                <a:latin typeface="Consolas"/>
              </a:defRPr>
            </a:pPr>
            <a:r>
              <a:t>Assignment     wp(x:=E, Q)              = Q[x/E]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500" b="0">
                <a:solidFill>
                  <a:srgbClr val="0E7C7B"/>
                </a:solidFill>
                <a:latin typeface="Consolas"/>
              </a:defRPr>
            </a:pPr>
            <a:r>
              <a:t>Skip           wp(skip, Q)              = Q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500" b="0">
                <a:solidFill>
                  <a:srgbClr val="0E7C7B"/>
                </a:solidFill>
                <a:latin typeface="Consolas"/>
              </a:defRPr>
            </a:pPr>
            <a:r>
              <a:t>Sequence       wp(C₁;C₂, Q)             = wp(C₁, wp(C₂, Q))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500" b="0">
                <a:solidFill>
                  <a:srgbClr val="0E7C7B"/>
                </a:solidFill>
                <a:latin typeface="Consolas"/>
              </a:defRPr>
            </a:pPr>
            <a:r>
              <a:t>If-Else        wp(if B then C₁ else C₂, Q) = (B⇒wp(C₁,Q))∧(¬B⇒wp(C₂,Q))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500" b="0">
                <a:solidFill>
                  <a:srgbClr val="0E7C7B"/>
                </a:solidFill>
                <a:latin typeface="Consolas"/>
              </a:defRPr>
            </a:pPr>
            <a:r>
              <a:t>While          wp(while b do C, Q)      = Init ∧ Pres ∧ Exit</a:t>
            </a:r>
          </a:p>
          <a:p>
            <a:pPr algn="l">
              <a:spcAft>
                <a:spcPts val="400"/>
              </a:spcAft>
              <a:defRPr sz="10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400" b="1">
                <a:solidFill>
                  <a:srgbClr val="C0392B"/>
                </a:solidFill>
                <a:latin typeface="Trebuchet MS"/>
              </a:defRPr>
            </a:pPr>
            <a:r>
              <a:t>These are the building blocks of VCG — memorize them!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Trebuchet MS"/>
              </a:defRPr>
            </a:pPr>
            <a:r>
              <a:t>The VCG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E7C7B"/>
                </a:solidFill>
                <a:latin typeface="Trebuchet MS"/>
              </a:defRPr>
            </a:pPr>
            <a:r>
              <a:t>III. VCG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6  ·  Hoare Logic II &amp; VCG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19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0E7C7B"/>
                </a:solidFill>
                <a:latin typeface="Trebuchet MS"/>
              </a:defRPr>
            </a:pPr>
            <a:r>
              <a:t>1. Annotate      Add invariants to code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                  (human provides loop invariants)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600" b="0">
                <a:solidFill>
                  <a:srgbClr val="C0392B"/>
                </a:solidFill>
                <a:latin typeface="Trebuchet MS"/>
              </a:defRPr>
            </a:pPr>
            <a:r>
              <a:t>2. Compute WP    Work backward from postcondition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                  (mechanical — follow the rules)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600" b="0">
                <a:solidFill>
                  <a:srgbClr val="0E7C7B"/>
                </a:solidFill>
                <a:latin typeface="Trebuchet MS"/>
              </a:defRPr>
            </a:pPr>
            <a:r>
              <a:t>3. Emit VCs      Generate logical formulas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                  (one per proof obligation)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600" b="0">
                <a:solidFill>
                  <a:srgbClr val="C0392B"/>
                </a:solidFill>
                <a:latin typeface="Trebuchet MS"/>
              </a:defRPr>
            </a:pPr>
            <a:r>
              <a:t>4. Solve          Feed into SMT solver (Z3)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                  (fully automated)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ctr">
              <a:spcAft>
                <a:spcPts val="400"/>
              </a:spcAft>
              <a:defRPr sz="1600" b="1">
                <a:solidFill>
                  <a:srgbClr val="1B2A4A"/>
                </a:solidFill>
                <a:latin typeface="Trebuchet MS"/>
              </a:defRPr>
            </a:pPr>
            <a:r>
              <a:t>VCG = automated Hoare logic proofs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72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2A4A"/>
                </a:solidFill>
                <a:latin typeface="Trebuchet MS"/>
              </a:defRPr>
            </a:pPr>
            <a:r>
              <a:t>Exercise: Compute the VC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E7C7B"/>
                </a:solidFill>
                <a:latin typeface="Trebuchet MS"/>
              </a:defRPr>
            </a:pPr>
            <a:r>
              <a:t>III. VCG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6  ·  Hoare Logic II &amp; VCG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20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4A5568"/>
                </a:solidFill>
                <a:latin typeface="Consolas"/>
              </a:defRPr>
            </a:pPr>
            <a:r>
              <a:t>x := 0;</a:t>
            </a:r>
          </a:p>
          <a:p>
            <a:pPr algn="l">
              <a:spcAft>
                <a:spcPts val="400"/>
              </a:spcAft>
              <a:defRPr sz="1600" b="0">
                <a:solidFill>
                  <a:srgbClr val="4A5568"/>
                </a:solidFill>
                <a:latin typeface="Consolas"/>
              </a:defRPr>
            </a:pPr>
            <a:r>
              <a:t>if x &lt; 1 then</a:t>
            </a:r>
          </a:p>
          <a:p>
            <a:pPr algn="l">
              <a:spcAft>
                <a:spcPts val="400"/>
              </a:spcAft>
              <a:defRPr sz="1600" b="0">
                <a:solidFill>
                  <a:srgbClr val="4A5568"/>
                </a:solidFill>
                <a:latin typeface="Consolas"/>
              </a:defRPr>
            </a:pPr>
            <a:r>
              <a:t>  x := x + 1</a:t>
            </a:r>
          </a:p>
          <a:p>
            <a:pPr algn="l">
              <a:spcAft>
                <a:spcPts val="400"/>
              </a:spcAft>
              <a:defRPr sz="1600" b="0">
                <a:solidFill>
                  <a:srgbClr val="4A5568"/>
                </a:solidFill>
                <a:latin typeface="Consolas"/>
              </a:defRPr>
            </a:pPr>
            <a:r>
              <a:t>else</a:t>
            </a:r>
          </a:p>
          <a:p>
            <a:pPr algn="l">
              <a:spcAft>
                <a:spcPts val="400"/>
              </a:spcAft>
              <a:defRPr sz="1600" b="0">
                <a:solidFill>
                  <a:srgbClr val="4A5568"/>
                </a:solidFill>
                <a:latin typeface="Consolas"/>
              </a:defRPr>
            </a:pPr>
            <a:r>
              <a:t>  skip;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600" b="1">
                <a:solidFill>
                  <a:srgbClr val="C0392B"/>
                </a:solidFill>
                <a:latin typeface="Consolas"/>
              </a:defRPr>
            </a:pPr>
            <a:r>
              <a:t>Post:  { x = 1 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005840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1">
                <a:solidFill>
                  <a:srgbClr val="0E7C7B"/>
                </a:solidFill>
                <a:latin typeface="Trebuchet MS"/>
              </a:defRPr>
            </a:pPr>
            <a:r>
              <a:t>Work backward:</a:t>
            </a:r>
          </a:p>
          <a:p>
            <a:pPr algn="l">
              <a:spcAft>
                <a:spcPts val="4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1. wp of if-else with Q = x=1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2. wp of x:=0 with result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3. Simplify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400" b="1">
                <a:solidFill>
                  <a:srgbClr val="E67E22"/>
                </a:solidFill>
                <a:latin typeface="Trebuchet MS"/>
              </a:defRPr>
            </a:pPr>
            <a:r>
              <a:t>Try it yourself first!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Trebuchet MS"/>
              </a:defRPr>
            </a:pPr>
            <a:r>
              <a:t>Exercise: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E7C7B"/>
                </a:solidFill>
                <a:latin typeface="Trebuchet MS"/>
              </a:defRPr>
            </a:pPr>
            <a:r>
              <a:t>III. VCG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6  ·  Hoare Logic II &amp; VCG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21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914400"/>
            <a:ext cx="8595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Consolas"/>
              </a:defRPr>
            </a:pPr>
            <a:r>
              <a:t>wp(if x&lt;1 then x:=x+1 else skip,  x=1)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Consolas"/>
              </a:defRPr>
            </a:pPr>
            <a:r>
              <a:t>  = (x&lt;1 ⇒ wp(x:=x+1, x=1)) ∧ (x≥1 ⇒ wp(skip, x=1))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0E7C7B"/>
                </a:solidFill>
                <a:latin typeface="Consolas"/>
              </a:defRPr>
            </a:pPr>
            <a:r>
              <a:t>  = (x&lt;1 ⇒ x+1=1)  ∧  (x≥1 ⇒ x=1)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0E7C7B"/>
                </a:solidFill>
                <a:latin typeface="Consolas"/>
              </a:defRPr>
            </a:pPr>
            <a:r>
              <a:t>  = (x&lt;1 ⇒ x=0)  ∧  (x≥1 ⇒ x=1)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Now for x := 0: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Consolas"/>
              </a:defRPr>
            </a:pPr>
            <a:r>
              <a:t>wp(x:=0, (x&lt;1 ⇒ x=0) ∧ (x≥1 ⇒ x=1))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Consolas"/>
              </a:defRPr>
            </a:pPr>
            <a:r>
              <a:t>  = (0&lt;1 ⇒ 0=0) ∧ (0≥1 ⇒ 0=1)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Consolas"/>
              </a:defRPr>
            </a:pPr>
            <a:r>
              <a:t>  = (true ⇒ true) ∧ (false ⇒ 0=1)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Consolas"/>
              </a:defRPr>
            </a:pPr>
            <a:r>
              <a:t>  = true ∧ true</a:t>
            </a:r>
          </a:p>
          <a:p>
            <a:pPr algn="l">
              <a:spcAft>
                <a:spcPts val="400"/>
              </a:spcAft>
              <a:defRPr sz="1600" b="1">
                <a:solidFill>
                  <a:srgbClr val="C0392B"/>
                </a:solidFill>
                <a:latin typeface="Consolas"/>
              </a:defRPr>
            </a:pPr>
            <a:r>
              <a:t>  = true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400" b="1">
                <a:solidFill>
                  <a:srgbClr val="0E7C7B"/>
                </a:solidFill>
                <a:latin typeface="Trebuchet MS"/>
              </a:defRPr>
            </a:pPr>
            <a:r>
              <a:t>VC is true ⇒ program always satisfies its postcondition.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Trebuchet MS"/>
              </a:defRPr>
            </a:pPr>
            <a:r>
              <a:t>Syntax of IMP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E7C7B"/>
                </a:solidFill>
                <a:latin typeface="Trebuchet MS"/>
              </a:defRPr>
            </a:pPr>
            <a:r>
              <a:t>IV. IMP → GCL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6  ·  Hoare Logic II &amp; VCG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22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0E7C7B"/>
                </a:solidFill>
                <a:latin typeface="Trebuchet MS"/>
              </a:defRPr>
            </a:pPr>
            <a:r>
              <a:t>Expressions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4A5568"/>
                </a:solidFill>
                <a:latin typeface="Consolas"/>
              </a:defRPr>
            </a:pPr>
            <a:r>
              <a:t>e ::= n | x | e₁ + e₂ | e₁ − e₂ | e₁ * e₂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600" b="1">
                <a:solidFill>
                  <a:srgbClr val="0E7C7B"/>
                </a:solidFill>
                <a:latin typeface="Trebuchet MS"/>
              </a:defRPr>
            </a:pPr>
            <a:r>
              <a:t>Boolean Expressions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4A5568"/>
                </a:solidFill>
                <a:latin typeface="Consolas"/>
              </a:defRPr>
            </a:pPr>
            <a:r>
              <a:t>b ::= true | false | e₁ = e₂ | e₁ &lt; e₂ | ¬b | b₁ ∧ b₂ | b₁ ∨ b₂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600" b="1">
                <a:solidFill>
                  <a:srgbClr val="C0392B"/>
                </a:solidFill>
                <a:latin typeface="Trebuchet MS"/>
              </a:defRPr>
            </a:pPr>
            <a:r>
              <a:t>Statements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4A5568"/>
                </a:solidFill>
                <a:latin typeface="Consolas"/>
              </a:defRPr>
            </a:pPr>
            <a:r>
              <a:t>S ::= skip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4A5568"/>
                </a:solidFill>
                <a:latin typeface="Consolas"/>
              </a:defRPr>
            </a:pPr>
            <a:r>
              <a:t>   | x := e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4A5568"/>
                </a:solidFill>
                <a:latin typeface="Consolas"/>
              </a:defRPr>
            </a:pPr>
            <a:r>
              <a:t>   | S₁; S₂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4A5568"/>
                </a:solidFill>
                <a:latin typeface="Consolas"/>
              </a:defRPr>
            </a:pPr>
            <a:r>
              <a:t>   | if b then S₁ else S₂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4A5568"/>
                </a:solidFill>
                <a:latin typeface="Consolas"/>
              </a:defRPr>
            </a:pPr>
            <a:r>
              <a:t>   | while b do 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6400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Trebuchet MS"/>
              </a:defRPr>
            </a:pPr>
            <a:r>
              <a:rPr dirty="0"/>
              <a:t>Guarded Command Language (GCL)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E7C7B"/>
                </a:solidFill>
                <a:latin typeface="Trebuchet MS"/>
              </a:defRPr>
            </a:pPr>
            <a:r>
              <a:t>IV. IMP → GCL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6  ·  Hoare Logic II &amp; VCG  ·  GCL invented by Dijkstra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23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rPr dirty="0"/>
              <a:t>Why not run wp() directly on IMP while-loops? Because wp of a loop requires an invariant — it's not computable from the code alone. GCL encodes the invariant into the program structure so wp() becomes purely mechanical.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Consolas"/>
              </a:defRPr>
            </a:pPr>
            <a:r>
              <a:rPr dirty="0"/>
              <a:t>S ::= skip                // no operation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Consolas"/>
              </a:defRPr>
            </a:pPr>
            <a:r>
              <a:rPr dirty="0"/>
              <a:t>   | havoc x              // assign any value to x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Consolas"/>
              </a:defRPr>
            </a:pPr>
            <a:r>
              <a:rPr dirty="0"/>
              <a:t>   | assume b             // restrict to paths where b holds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Consolas"/>
              </a:defRPr>
            </a:pPr>
            <a:r>
              <a:rPr dirty="0"/>
              <a:t>   | assert b             // b must hold (generates VC)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Consolas"/>
              </a:defRPr>
            </a:pPr>
            <a:r>
              <a:rPr dirty="0"/>
              <a:t>   | S ; S                // sequential composition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Consolas"/>
              </a:defRPr>
            </a:pPr>
            <a:r>
              <a:rPr dirty="0"/>
              <a:t>   | S ★ S                // nondeterministic choice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  <a:endParaRPr dirty="0"/>
          </a:p>
          <a:p>
            <a:pPr algn="l">
              <a:spcAft>
                <a:spcPts val="400"/>
              </a:spcAft>
              <a:defRPr sz="1400" b="1">
                <a:solidFill>
                  <a:srgbClr val="C0392B"/>
                </a:solidFill>
                <a:latin typeface="Trebuchet MS"/>
              </a:defRPr>
            </a:pPr>
            <a:r>
              <a:rPr dirty="0"/>
              <a:t>havoc + assume  together model assignment without loops.</a:t>
            </a:r>
          </a:p>
        </p:txBody>
      </p:sp>
    </p:spTree>
    <p:extLst>
      <p:ext uri="{BB962C8B-B14F-4D97-AF65-F5344CB8AC3E}">
        <p14:creationId xmlns:p14="http://schemas.microsoft.com/office/powerpoint/2010/main" val="22448831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Trebuchet MS"/>
              </a:defRPr>
            </a:pPr>
            <a:r>
              <a:t>WP Rules for GCL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E7C7B"/>
                </a:solidFill>
                <a:latin typeface="Trebuchet MS"/>
              </a:defRPr>
            </a:pPr>
            <a:r>
              <a:t>IV. IMP → GCL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6  ·  Hoare Logic II &amp; VCG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24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0E7C7B"/>
                </a:solidFill>
                <a:latin typeface="Consolas"/>
              </a:defRPr>
            </a:pPr>
            <a:r>
              <a:t>wp(skip, Q)         = Q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0E7C7B"/>
                </a:solidFill>
                <a:latin typeface="Consolas"/>
              </a:defRPr>
            </a:pPr>
            <a:r>
              <a:t>wp(assert C, Q)     = C ∧ Q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0E7C7B"/>
                </a:solidFill>
                <a:latin typeface="Consolas"/>
              </a:defRPr>
            </a:pPr>
            <a:r>
              <a:t>wp(assume C, Q)     = C → Q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0E7C7B"/>
                </a:solidFill>
                <a:latin typeface="Consolas"/>
              </a:defRPr>
            </a:pPr>
            <a:r>
              <a:t>wp(havoc x, Q)      = ∀a. Q[a/x]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0E7C7B"/>
                </a:solidFill>
                <a:latin typeface="Consolas"/>
              </a:defRPr>
            </a:pPr>
            <a:r>
              <a:t>wp(S₁; S₂, Q)        = wp(S₁, wp(S₂, Q))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0E7C7B"/>
                </a:solidFill>
                <a:latin typeface="Consolas"/>
              </a:defRPr>
            </a:pPr>
            <a:r>
              <a:t>wp(S₁ ★ S₂, Q)       = wp(S₁, Q) ∧ wp(S₂, Q)</a:t>
            </a:r>
          </a:p>
          <a:p>
            <a:pPr algn="l">
              <a:spcAft>
                <a:spcPts val="400"/>
              </a:spcAft>
              <a:defRPr sz="10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assert generates proof obligations;  assume restricts paths.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havoc forgets a variable;  ★ checks both branches.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Trebuchet MS"/>
              </a:defRPr>
            </a:pPr>
            <a:r>
              <a:t>Translating IMP to GCL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E7C7B"/>
                </a:solidFill>
                <a:latin typeface="Trebuchet MS"/>
              </a:defRPr>
            </a:pPr>
            <a:r>
              <a:t>IV. IMP → GCL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6  ·  Hoare Logic II &amp; VCG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25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Consolas"/>
              </a:defRPr>
            </a:pPr>
            <a:r>
              <a:t>GC(skip)          = assume true</a:t>
            </a:r>
          </a:p>
          <a:p>
            <a:pPr algn="l">
              <a:spcAft>
                <a:spcPts val="4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Consolas"/>
              </a:defRPr>
            </a:pPr>
            <a:r>
              <a:t>GC(x := e)        = assume tmp=x; havoc x;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Consolas"/>
              </a:defRPr>
            </a:pPr>
            <a:r>
              <a:t>                    assume (x = e[tmp/x])</a:t>
            </a:r>
          </a:p>
          <a:p>
            <a:pPr algn="l">
              <a:spcAft>
                <a:spcPts val="4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Consolas"/>
              </a:defRPr>
            </a:pPr>
            <a:r>
              <a:t>GC(c₁ ; c₂)       = GC(c₁) ; GC(c₂)</a:t>
            </a:r>
          </a:p>
          <a:p>
            <a:pPr algn="l">
              <a:spcAft>
                <a:spcPts val="4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Consolas"/>
              </a:defRPr>
            </a:pPr>
            <a:r>
              <a:t>GC(if b then c₁   = (assume b; GC(c₁))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Consolas"/>
              </a:defRPr>
            </a:pPr>
            <a:r>
              <a:t>   else c₂)          ★ (assume ¬b; GC(c₂))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400" b="1">
                <a:solidFill>
                  <a:srgbClr val="C0392B"/>
                </a:solidFill>
                <a:latin typeface="Trebuchet MS"/>
              </a:defRPr>
            </a:pPr>
            <a:r>
              <a:t>Key idea:  IMP programs become loop-free GCL programs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(loops are handled separately via invariant encoding).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68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Trebuchet MS"/>
              </a:defRPr>
            </a:pPr>
            <a:r>
              <a:t>GCL Translation for Loops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E7C7B"/>
                </a:solidFill>
                <a:latin typeface="Trebuchet MS"/>
              </a:defRPr>
            </a:pPr>
            <a:r>
              <a:t>IV. IMP → GCL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6  ·  Hoare Logic II &amp; VCG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26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914400"/>
            <a:ext cx="8595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0E7C7B"/>
                </a:solidFill>
                <a:latin typeface="Consolas"/>
              </a:defRPr>
            </a:pPr>
            <a:r>
              <a:rPr dirty="0"/>
              <a:t>GC({I} while b do c) =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Consolas"/>
              </a:defRPr>
            </a:pPr>
            <a:r>
              <a:rPr dirty="0"/>
              <a:t>  assert I;                    // invariant holds initially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Consolas"/>
              </a:defRPr>
            </a:pPr>
            <a:r>
              <a:rPr dirty="0"/>
              <a:t>  havoc x₁; ...; havoc xₙ;     // forget modified vars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Consolas"/>
              </a:defRPr>
            </a:pPr>
            <a:r>
              <a:rPr dirty="0"/>
              <a:t>  assume I;                    // re-assume invariant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Consolas"/>
              </a:defRPr>
            </a:pPr>
            <a:r>
              <a:rPr dirty="0"/>
              <a:t>  (assume b;                   // loop body path: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Consolas"/>
              </a:defRPr>
            </a:pPr>
            <a:r>
              <a:rPr dirty="0"/>
              <a:t>   GC(c);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Consolas"/>
              </a:defRPr>
            </a:pPr>
            <a:r>
              <a:rPr dirty="0"/>
              <a:t>   assert I;                   //   invariant preserved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Consolas"/>
              </a:defRPr>
            </a:pPr>
            <a:r>
              <a:rPr dirty="0"/>
              <a:t>   assume false)               //   block fall-through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C0392B"/>
                </a:solidFill>
                <a:latin typeface="Consolas"/>
              </a:defRPr>
            </a:pPr>
            <a:r>
              <a:rPr dirty="0"/>
              <a:t>  ★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Consolas"/>
              </a:defRPr>
            </a:pPr>
            <a:r>
              <a:rPr dirty="0"/>
              <a:t>  assume ¬b                    // loop exit path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  <a:endParaRPr dirty="0"/>
          </a:p>
          <a:p>
            <a:pPr algn="l">
              <a:spcAft>
                <a:spcPts val="400"/>
              </a:spcAft>
              <a:defRPr sz="1300" b="1">
                <a:solidFill>
                  <a:srgbClr val="4A5568"/>
                </a:solidFill>
                <a:latin typeface="Trebuchet MS"/>
              </a:defRPr>
            </a:pPr>
            <a:r>
              <a:rPr dirty="0"/>
              <a:t>assert I checks </a:t>
            </a:r>
            <a:r>
              <a:rPr dirty="0" err="1"/>
              <a:t>init</a:t>
            </a:r>
            <a:r>
              <a:rPr dirty="0"/>
              <a:t> &amp; preservation;  </a:t>
            </a:r>
            <a:r>
              <a:rPr dirty="0" err="1"/>
              <a:t>havoc+assume</a:t>
            </a:r>
            <a:r>
              <a:rPr dirty="0"/>
              <a:t> models arbitrary iterations.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Trebuchet MS"/>
              </a:defRPr>
            </a:pPr>
            <a:r>
              <a:t>Full Example: IMP → GCL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E7C7B"/>
                </a:solidFill>
                <a:latin typeface="Trebuchet MS"/>
              </a:defRPr>
            </a:pPr>
            <a:r>
              <a:t>IV. IMP → GCL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6  ·  Hoare Logic II &amp; VCG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27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82296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0E7C7B"/>
                </a:solidFill>
                <a:latin typeface="Trebuchet MS"/>
              </a:defRPr>
            </a:pPr>
            <a:r>
              <a:t>IMP Program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C0392B"/>
                </a:solidFill>
                <a:latin typeface="Consolas"/>
              </a:defRPr>
            </a:pPr>
            <a:r>
              <a:t>{n ≥ 0}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4A5568"/>
                </a:solidFill>
                <a:latin typeface="Consolas"/>
              </a:defRPr>
            </a:pPr>
            <a:r>
              <a:t>p := 0; x := 0;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C0392B"/>
                </a:solidFill>
                <a:latin typeface="Consolas"/>
              </a:defRPr>
            </a:pPr>
            <a:r>
              <a:t>{p = x*m ∧ x ≤ n}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4A5568"/>
                </a:solidFill>
                <a:latin typeface="Consolas"/>
              </a:defRPr>
            </a:pPr>
            <a:r>
              <a:t>while x &lt; n do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4A5568"/>
                </a:solidFill>
                <a:latin typeface="Consolas"/>
              </a:defRPr>
            </a:pPr>
            <a:r>
              <a:t>  x := x+1; p := p+m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C0392B"/>
                </a:solidFill>
                <a:latin typeface="Consolas"/>
              </a:defRPr>
            </a:pPr>
            <a:r>
              <a:t>{p = n*m}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82296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C0392B"/>
                </a:solidFill>
                <a:latin typeface="Trebuchet MS"/>
              </a:defRPr>
            </a:pPr>
            <a:r>
              <a:t>GCL Translation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4A5568"/>
                </a:solidFill>
                <a:latin typeface="Consolas"/>
              </a:defRPr>
            </a:pPr>
            <a:r>
              <a:t>assume p₀=p; havoc p; assume p=0;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4A5568"/>
                </a:solidFill>
                <a:latin typeface="Consolas"/>
              </a:defRPr>
            </a:pPr>
            <a:r>
              <a:t>assume x₀=x; havoc x; assume x=0;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0E7C7B"/>
                </a:solidFill>
                <a:latin typeface="Consolas"/>
              </a:defRPr>
            </a:pPr>
            <a:r>
              <a:t>assert p=x*m ∧ x≤n;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4A5568"/>
                </a:solidFill>
                <a:latin typeface="Consolas"/>
              </a:defRPr>
            </a:pPr>
            <a:r>
              <a:t>havoc x; havoc p;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4A5568"/>
                </a:solidFill>
                <a:latin typeface="Consolas"/>
              </a:defRPr>
            </a:pPr>
            <a:r>
              <a:t>assume p=x*m ∧ x≤n;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4A5568"/>
                </a:solidFill>
                <a:latin typeface="Consolas"/>
              </a:defRPr>
            </a:pPr>
            <a:r>
              <a:t>(assume x&lt;n;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4A5568"/>
                </a:solidFill>
                <a:latin typeface="Consolas"/>
              </a:defRPr>
            </a:pPr>
            <a:r>
              <a:t> assume x₁=x; havoc x; assume x=x₁+1;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4A5568"/>
                </a:solidFill>
                <a:latin typeface="Consolas"/>
              </a:defRPr>
            </a:pPr>
            <a:r>
              <a:t> assume p₁=p; havoc p; assume p=p₁+m;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0E7C7B"/>
                </a:solidFill>
                <a:latin typeface="Consolas"/>
              </a:defRPr>
            </a:pPr>
            <a:r>
              <a:t> assert p=x*m ∧ x≤n;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4A5568"/>
                </a:solidFill>
                <a:latin typeface="Consolas"/>
              </a:defRPr>
            </a:pPr>
            <a:r>
              <a:t> assume false)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C0392B"/>
                </a:solidFill>
                <a:latin typeface="Consolas"/>
              </a:defRPr>
            </a:pPr>
            <a:r>
              <a:t>★ assume ¬(x&lt;n)</a:t>
            </a:r>
          </a:p>
          <a:p>
            <a:pPr algn="l">
              <a:spcAft>
                <a:spcPts val="3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3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Running wp() on this GCL program produces exactly the 3 VCs from Slide 15 — no manual proof steps needed.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Trebuchet MS"/>
              </a:defRPr>
            </a:pPr>
            <a:r>
              <a:t>VCG for Agent Tool Chains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E7C7B"/>
                </a:solidFill>
                <a:latin typeface="Trebuchet MS"/>
              </a:defRPr>
            </a:pPr>
            <a:r>
              <a:t>V. AGENT CONNECTION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6  ·  Hoare Logic II &amp; VCG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28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C0392B"/>
                </a:solidFill>
                <a:latin typeface="Trebuchet MS"/>
              </a:defRPr>
            </a:pPr>
            <a:r>
              <a:t>An agent skill is an annotated program:</a:t>
            </a:r>
          </a:p>
          <a:p>
            <a:pPr algn="l">
              <a:spcAft>
                <a:spcPts val="4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300" b="0">
                <a:solidFill>
                  <a:srgbClr val="0E7C7B"/>
                </a:solidFill>
                <a:latin typeface="Consolas"/>
              </a:defRPr>
            </a:pPr>
            <a:r>
              <a:t>{file_exists(src)}                        // precondition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Consolas"/>
              </a:defRPr>
            </a:pPr>
            <a:r>
              <a:t>content := read(src);                     // tool call 1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Consolas"/>
              </a:defRPr>
            </a:pPr>
            <a:r>
              <a:t>if has_tests(content) then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Consolas"/>
              </a:defRPr>
            </a:pPr>
            <a:r>
              <a:t>  result := run_tests()                   // branch A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Consolas"/>
              </a:defRPr>
            </a:pPr>
            <a:r>
              <a:t>else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Consolas"/>
              </a:defRPr>
            </a:pPr>
            <a:r>
              <a:t>  stubs := gen_stubs(content);            // branch B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Consolas"/>
              </a:defRPr>
            </a:pPr>
            <a:r>
              <a:t>  result := run_tests()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0E7C7B"/>
                </a:solidFill>
                <a:latin typeface="Consolas"/>
              </a:defRPr>
            </a:pPr>
            <a:r>
              <a:t>{test_results_available}                  // postcondition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400" b="0">
                <a:solidFill>
                  <a:srgbClr val="4A5568"/>
                </a:solidFill>
                <a:latin typeface="Trebuchet MS"/>
              </a:defRPr>
            </a:pPr>
            <a:r>
              <a:t>VCG can automatically generate the proof obligations for this skill.</a:t>
            </a:r>
          </a:p>
          <a:p>
            <a:pPr algn="l">
              <a:spcAft>
                <a:spcPts val="400"/>
              </a:spcAft>
              <a:defRPr sz="1400" b="1">
                <a:solidFill>
                  <a:srgbClr val="E67E22"/>
                </a:solidFill>
                <a:latin typeface="Trebuchet MS"/>
              </a:defRPr>
            </a:pPr>
            <a:r>
              <a:t>HW2:  You will build a VCG that does exactly this, backed by Z3.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Trebuchet MS"/>
              </a:defRPr>
            </a:pPr>
            <a: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E7C7B"/>
                </a:solidFill>
                <a:latin typeface="Trebuchet MS"/>
              </a:defRPr>
            </a:pPr>
            <a: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6  ·  Hoare Logic II &amp; VCG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29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4A5568"/>
                </a:solidFill>
                <a:latin typeface="Trebuchet MS"/>
              </a:defRPr>
            </a:pPr>
            <a:r>
              <a:t>1.  Loop invariants  are the key to reasoning about loops</a:t>
            </a:r>
          </a:p>
          <a:p>
            <a:pPr algn="l">
              <a:spcAft>
                <a:spcPts val="4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500" b="0">
                <a:solidFill>
                  <a:srgbClr val="4A5568"/>
                </a:solidFill>
                <a:latin typeface="Trebuchet MS"/>
              </a:defRPr>
            </a:pPr>
            <a:r>
              <a:t>2.  Weakest precondition  computes proof obligations mechanically</a:t>
            </a:r>
          </a:p>
          <a:p>
            <a:pPr algn="l">
              <a:spcAft>
                <a:spcPts val="4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500" b="0">
                <a:solidFill>
                  <a:srgbClr val="4A5568"/>
                </a:solidFill>
                <a:latin typeface="Trebuchet MS"/>
              </a:defRPr>
            </a:pPr>
            <a:r>
              <a:t>3.  VCG pipeline:  annotate → compute wp → emit VCs → solve with Z3</a:t>
            </a:r>
          </a:p>
          <a:p>
            <a:pPr algn="l">
              <a:spcAft>
                <a:spcPts val="4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500" b="0">
                <a:solidFill>
                  <a:srgbClr val="4A5568"/>
                </a:solidFill>
                <a:latin typeface="Trebuchet MS"/>
              </a:defRPr>
            </a:pPr>
            <a:r>
              <a:t>4.  GCL  provides a loop-free intermediate language for VCG</a:t>
            </a:r>
          </a:p>
          <a:p>
            <a:pPr algn="l">
              <a:spcAft>
                <a:spcPts val="400"/>
              </a:spcAft>
              <a:defRPr sz="4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500" b="0">
                <a:solidFill>
                  <a:srgbClr val="4A5568"/>
                </a:solidFill>
                <a:latin typeface="Trebuchet MS"/>
              </a:defRPr>
            </a:pPr>
            <a:r>
              <a:t>5.  Agent tool chains  are programs — VCG applies directly</a:t>
            </a:r>
          </a:p>
          <a:p>
            <a:pPr algn="l">
              <a:spcAft>
                <a:spcPts val="400"/>
              </a:spcAft>
              <a:defRPr sz="10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ctr">
              <a:spcAft>
                <a:spcPts val="400"/>
              </a:spcAft>
              <a:defRPr sz="1800" b="1">
                <a:solidFill>
                  <a:srgbClr val="0E7C7B"/>
                </a:solidFill>
                <a:latin typeface="Trebuchet MS"/>
              </a:defRPr>
            </a:pPr>
            <a:r>
              <a:t>Verification = Logic + Automation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04" name="TitleUnderline"/>
          <p:cNvSpPr/>
          <p:nvPr/>
        </p:nvSpPr>
        <p:spPr>
          <a:xfrm>
            <a:off x="502920" y="758368"/>
            <a:ext cx="1097280" cy="365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Trebuchet MS"/>
              </a:defRPr>
            </a:pPr>
            <a:r>
              <a:t>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743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0E7C7B"/>
                </a:solidFill>
                <a:latin typeface="Trebuchet MS"/>
              </a:defRPr>
            </a:pPr>
            <a: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CS292C  ·  Lecture 6  ·  Hoare Logic II &amp; VCG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8895A7"/>
                </a:solidFill>
                <a:latin typeface="Trebuchet MS"/>
              </a:defRPr>
            </a:pPr>
            <a:r>
              <a:t>30 /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C0392B"/>
                </a:solidFill>
                <a:latin typeface="Trebuchet MS"/>
              </a:defRPr>
            </a:pPr>
            <a:r>
              <a:t>Next: Lecture 7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4A5568"/>
                </a:solidFill>
                <a:latin typeface="Trebuchet MS"/>
              </a:defRPr>
            </a:pPr>
            <a:r>
              <a:t>SAT/SMT Solvers for Agent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4A5568"/>
                </a:solidFill>
                <a:latin typeface="Trebuchet MS"/>
              </a:defRPr>
            </a:pPr>
            <a:r>
              <a:t>Policy Verification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•  Propositional logic, CNF, DPLL, CDCL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•  First-order theories (EUF, LIA, arrays)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•  Z3 hands-on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•  Encoding agent permission policies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005840"/>
            <a:ext cx="3840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E67E22"/>
                </a:solidFill>
                <a:latin typeface="Trebuchet MS"/>
              </a:defRPr>
            </a:pPr>
            <a:r>
              <a:t>Assignments</a:t>
            </a:r>
          </a:p>
          <a:p>
            <a:pPr algn="l">
              <a:spcAft>
                <a:spcPts val="400"/>
              </a:spcAft>
              <a:defRPr sz="6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500" b="1">
                <a:solidFill>
                  <a:srgbClr val="C0392B"/>
                </a:solidFill>
                <a:latin typeface="Trebuchet MS"/>
              </a:defRPr>
            </a:pPr>
            <a:r>
              <a:t>HW1 Due Today!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Build &amp; Test an Agent Skill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4A5568"/>
                </a:solidFill>
                <a:latin typeface="Trebuchet MS"/>
              </a:defRPr>
            </a:pPr>
            <a:endParaRPr/>
          </a:p>
          <a:p>
            <a:pPr algn="l">
              <a:spcAft>
                <a:spcPts val="400"/>
              </a:spcAft>
              <a:defRPr sz="1500" b="1">
                <a:solidFill>
                  <a:srgbClr val="0E7C7B"/>
                </a:solidFill>
                <a:latin typeface="Trebuchet MS"/>
              </a:defRPr>
            </a:pPr>
            <a:r>
              <a:t>HW2 Out: Lecture 7 (4/23)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Implement a VCG for IMP with Z3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4A5568"/>
                </a:solidFill>
                <a:latin typeface="Trebuchet MS"/>
              </a:defRPr>
            </a:pPr>
            <a:r>
              <a:t>+ SMT encoding of agent policies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F8D236F-F831-2446-91F2-CDE5C5589E06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ac88441f-23e3-4cf8-9127-6b7edb5534fd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539</TotalTime>
  <Words>3322</Words>
  <Application>Microsoft Macintosh PowerPoint</Application>
  <PresentationFormat>On-screen Show (16:9)</PresentationFormat>
  <Paragraphs>446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YU FENG</cp:lastModifiedBy>
  <cp:revision>2</cp:revision>
  <dcterms:created xsi:type="dcterms:W3CDTF">2013-01-27T09:14:16Z</dcterms:created>
  <dcterms:modified xsi:type="dcterms:W3CDTF">2026-04-17T01:57:30Z</dcterms:modified>
  <cp:category/>
</cp:coreProperties>
</file>