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E7C7B"/>
                </a:solidFill>
                <a:latin typeface="Trebuchet MS"/>
              </a:defRPr>
            </a:pPr>
            <a:r>
              <a:t>CS292C  ·  FORMAL METHODS FOR AGENTIC PROGRAMMING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99032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Georgia"/>
              </a:defRPr>
            </a:pPr>
            <a:r>
              <a:t>The Full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1945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Georgia"/>
              </a:defRPr>
            </a:pPr>
            <a:r>
              <a:t>Course Synthesis &amp;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974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Georgia"/>
              </a:defRPr>
            </a:pPr>
            <a:r>
              <a:t>Open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027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E7C7B"/>
                </a:solidFill>
                <a:latin typeface="Trebuchet MS"/>
              </a:defRPr>
            </a:pPr>
            <a:r>
              <a:t>Lecture 17  ·  Last Lecture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0965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Trebuchet MS"/>
              </a:defRPr>
            </a:pPr>
            <a:r>
              <a:t>Yu Feng   ·   Spring 2026   ·   May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What We Built This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I.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2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Part I: Agentic Programming (Lectures 1–4)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The paradigm, APIs, skills, MCP, multi-agent orchestration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Part II: Formal Methods (Lectures 5–10)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Hoare logic, VCG, SAT/SMT, static analysis, Datalog, trace verification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Part III: Security (Lectures 11–16)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Threat landscape, supply-chain attacks, fuzzing, multi-agent harnesses, defense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E67E22"/>
                </a:solidFill>
                <a:latin typeface="Trebuchet MS"/>
              </a:defRPr>
            </a:pPr>
            <a:r>
              <a:t>What tied it all together: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Formal methods are the foundation for securing the agentic future.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Every technique from Part II was applied to a real security problem in Part III.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The Agent Lifecycle — One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I.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3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85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Every technique maps to a phase of the agent lifecycle: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0515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E7C7B"/>
                </a:solidFill>
                <a:latin typeface="Trebuchet MS"/>
              </a:defRPr>
            </a:pPr>
            <a:r>
              <a:t>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0515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E7C7B"/>
                </a:solidFill>
                <a:latin typeface="Trebuchet MS"/>
              </a:defRPr>
            </a:pPr>
            <a: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0515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E7C7B"/>
                </a:solidFill>
                <a:latin typeface="Trebuchet MS"/>
              </a:defRPr>
            </a:pPr>
            <a: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10515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E7C7B"/>
                </a:solidFill>
                <a:latin typeface="Trebuchet MS"/>
              </a:defRPr>
            </a:pPr>
            <a:r>
              <a:t>DEPLOY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0515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E7C7B"/>
                </a:solidFill>
                <a:latin typeface="Trebuchet MS"/>
              </a:defRPr>
            </a:pPr>
            <a:r>
              <a:t>MONITOR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353312"/>
            <a:ext cx="8229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E7C7B"/>
                </a:solidFill>
                <a:latin typeface="Trebuchet MS"/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087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  <a:latin typeface="Trebuchet MS"/>
              </a:defRPr>
            </a:pPr>
            <a:r>
              <a:t>Hoare triples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5087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  <a:latin typeface="Trebuchet MS"/>
              </a:defRPr>
            </a:pPr>
            <a:r>
              <a:t>VCG + Z3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15087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  <a:latin typeface="Trebuchet MS"/>
              </a:defRPr>
            </a:pPr>
            <a:r>
              <a:t>Static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15087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  <a:latin typeface="Trebuchet MS"/>
              </a:defRPr>
            </a:pPr>
            <a:r>
              <a:t>DFA monitors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5087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  <a:latin typeface="Trebuchet MS"/>
              </a:defRPr>
            </a:pPr>
            <a:r>
              <a:t>Trace verif.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17830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Courier New"/>
              </a:defRPr>
            </a:pPr>
            <a:r>
              <a:t>{P} C {Q}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17830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Courier New"/>
              </a:defRPr>
            </a:pPr>
            <a:r>
              <a:t>wp()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17830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Courier New"/>
              </a:defRPr>
            </a:pPr>
            <a:r>
              <a:t>Datalog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7830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Courier New"/>
              </a:defRPr>
            </a:pPr>
            <a:r>
              <a:t>ALLOW/DENY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17830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Courier New"/>
              </a:defRPr>
            </a:pPr>
            <a:r>
              <a:t>safety/liveness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05740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Lec 5–6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205740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Lec 6–7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05740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Lec 8–9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205740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Lec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205740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Lec 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423160"/>
            <a:ext cx="8229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DDDDDD"/>
                </a:solidFill>
                <a:latin typeface="Trebuchet MS"/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6060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7E22"/>
                </a:solidFill>
                <a:latin typeface="Trebuchet MS"/>
              </a:defRPr>
            </a:pPr>
            <a:r>
              <a:t>HW1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28803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Trebuchet MS"/>
              </a:defRPr>
            </a:pPr>
            <a:r>
              <a:t>Build a skill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26060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7E22"/>
                </a:solidFill>
                <a:latin typeface="Trebuchet MS"/>
              </a:defRPr>
            </a:pPr>
            <a:r>
              <a:t>HW2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28803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Trebuchet MS"/>
              </a:defRPr>
            </a:pPr>
            <a:r>
              <a:t>Verify programs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26060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7E22"/>
                </a:solidFill>
                <a:latin typeface="Trebuchet MS"/>
              </a:defRPr>
            </a:pPr>
            <a:r>
              <a:t>HW3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28803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Trebuchet MS"/>
              </a:defRPr>
            </a:pPr>
            <a:r>
              <a:t>Audit skills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26060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7E22"/>
                </a:solidFill>
                <a:latin typeface="Trebuchet MS"/>
              </a:defRPr>
            </a:pPr>
            <a:r>
              <a:t>HW4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28803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Trebuchet MS"/>
              </a:defRPr>
            </a:pPr>
            <a:r>
              <a:t>Secure multi-agent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2880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Trebuchet MS"/>
              </a:defRPr>
            </a:pPr>
            <a:r>
              <a:t>Secure multi-agent harnesses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34747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1B2A4A"/>
                </a:solidFill>
                <a:latin typeface="Trebuchet MS"/>
              </a:defRPr>
            </a:pPr>
            <a:r>
              <a:t>Each phase catches different bugs.  Together they cover the full lifecycle.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No single technique is sufficient — that’s why you learned all five.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Your Journey: HW1 → HW4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I.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4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HW1: Build &amp; Test a Skill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You built a skill, wrote 15+ evals,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and found failure modes honestly.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HW2: Formal Verification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You implemented a VCG, found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loop invariants, encoded policies.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HW3: Security Audit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You built a static analyzer that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found real zero-day vulnerabilities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in published skills.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9144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E67E22"/>
                </a:solidFill>
                <a:latin typeface="Trebuchet MS"/>
              </a:defRPr>
            </a:pPr>
            <a:r>
              <a:t>HW4: Multi-Agent Security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You’re analyzing multi-agent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harnesses — the frontier of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agent security research.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The progression: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Single skill → Single program →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Skill ecosystem → Multi-agent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C0392B"/>
                </a:solidFill>
                <a:latin typeface="Trebuchet MS"/>
              </a:defRPr>
            </a:pPr>
            <a:r>
              <a:t>Each HW built on the last.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Each required understanding,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not just code generation.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The Zeroday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I.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5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C0392B"/>
                </a:solidFill>
                <a:latin typeface="Georgia"/>
              </a:defRPr>
            </a:pPr>
            <a:r>
              <a:t>17 zero-day skills found in ClawHub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All passed VirusTotal.  All passed ClawHub’s own scanner.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What caught them: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Static analysis — the techniques from Lectures 8–9 and HW3.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Datalog rules, taint tracking, pattern matching on SKILL.md.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What your analyzers found (HW3 results):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Hardcoded CGNAT IPs, plaintext HTTP, credential leaks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curl|sh, eval, persistence without consent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Behavior-claim contradictions, data exfiltration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Best analyzer: 44/50 on hidden benchmarks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E67E22"/>
                </a:solidFill>
                <a:latin typeface="Trebuchet MS"/>
              </a:defRPr>
            </a:pPr>
            <a:r>
              <a:t>You built tools that catch what industry scanners miss.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Georgia"/>
              </a:defRPr>
            </a:pPr>
            <a:r>
              <a:t>What We Still Can’t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E7C7B"/>
                </a:solidFill>
                <a:latin typeface="Trebuchet MS"/>
              </a:defRPr>
            </a:pPr>
            <a:r>
              <a:t>Five open problems at the frontier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Open Problem 1: Verifying LLM Reasoning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II. OPEN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7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C0392B"/>
                </a:solidFill>
                <a:latin typeface="Trebuchet MS"/>
              </a:defRPr>
            </a:pPr>
            <a:r>
              <a:t>The problem: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We can verify tool calls ({P} tool_call {Q}). We cannot verify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the reasoning that decides WHICH tool to call.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Why it’s hard: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The LLM’s decision is a black-box neural computation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No fixed control flow — different prompts yield different plans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Chain-of-thought is not a proof — it can be wrong or misleading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What would help: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Neuro-symbolic verification: extract a formal plan from CoT,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then verify the plan using classical methods (SMT, model checking).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E67E22"/>
                </a:solidFill>
                <a:latin typeface="Trebuchet MS"/>
              </a:defRPr>
            </a:pPr>
            <a:r>
              <a:t>Status:  Active research. No one has solved this.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Open Problem 2: Semantic Claim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II. OPEN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8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C0392B"/>
                </a:solidFill>
                <a:latin typeface="Trebuchet MS"/>
              </a:defRPr>
            </a:pPr>
            <a:r>
              <a:t>The problem: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A skill says "read-only access" but calls shell_exec.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A skill says "offline" but fetches from a URL.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How do we automatically check claims against behavior?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Why it’s hard: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Claims are in natural language — need NLU to extract semantics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Behavior is in natural language too (SKILL.md instructions)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"Read-only" vs "writes a log file" — is that a contradiction?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Your HW3 analyzers tried this: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Regex on "read-only" + presence of write commands. Works for obvious cases.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Fails for subtle semantic mismatches.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E67E22"/>
                </a:solidFill>
                <a:latin typeface="Trebuchet MS"/>
              </a:defRPr>
            </a:pPr>
            <a:r>
              <a:t>Status:  LLM-assisted analysis is promising but unreliable.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Open Problem 3: Multi-Agent 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II. OPEN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9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C0392B"/>
                </a:solidFill>
                <a:latin typeface="Trebuchet MS"/>
              </a:defRPr>
            </a:pPr>
            <a:r>
              <a:t>The problem: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Each agent is safe alone. The composition is not.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Sensitive data crosses trust boundaries through shared context.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Why it’s hard: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n agents with m tools = n×m cross-boundary data flows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Agents are non-deterministic — different runs, different flows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No formal composition semantics for skill pipelines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This is your HW4: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You’re working on exactly this problem right now.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Cross-skill taint analysis, composition safety, harness verification.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E67E22"/>
                </a:solidFill>
                <a:latin typeface="Trebuchet MS"/>
              </a:defRPr>
            </a:pPr>
            <a:r>
              <a:t>Status:  Emerging research area. Your projects are at the frontier.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Open Problem 4: Prompt Injection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II. OPEN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10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C0392B"/>
                </a:solidFill>
                <a:latin typeface="Trebuchet MS"/>
              </a:defRPr>
            </a:pPr>
            <a:r>
              <a:t>The problem: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An attacker embeds instructions in data (a file, API response).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The LLM follows the injected instructions instead of the user’s.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Why it’s hard: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There’s no formal boundary between "data" and "instruction"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The LLM processes both through the same attention mechanism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Static analysis can’t model what the LLM will do with injected text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Defenses today: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Input sanitization, output filtering, privilege separation.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None are complete. All can be bypassed with clever prompts.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E67E22"/>
                </a:solidFill>
                <a:latin typeface="Trebuchet MS"/>
              </a:defRPr>
            </a:pPr>
            <a:r>
              <a:t>Status:  Fundamental unsolved problem. May require new architectures.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Open Problem 5: Agent Loop Termination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II. OPEN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11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C0392B"/>
                </a:solidFill>
                <a:latin typeface="Trebuchet MS"/>
              </a:defRPr>
            </a:pPr>
            <a:r>
              <a:t>The problem: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An agent stuck in a reasoning loop burns tokens and never finishes.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How do you prove an agent will terminate?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Why it’s hard: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The halting problem — but worse, because the "program" is an LLM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Tool call success depends on external state (files, APIs)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Retry logic without progress detection creates infinite loops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Practical mitigations: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Token budgets, tool-call limits, progress monitors (DFA from Lec 10).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But these are circuit breakers, not proofs.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E67E22"/>
                </a:solidFill>
                <a:latin typeface="Trebuchet MS"/>
              </a:defRPr>
            </a:pPr>
            <a:r>
              <a:t>Status:  Bounded verification works. Unbounded is undecidable.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Georgia"/>
              </a:defRPr>
            </a:pPr>
            <a:r>
              <a:t>Where the Field Is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E7C7B"/>
                </a:solidFill>
                <a:latin typeface="Trebuchet MS"/>
              </a:defRPr>
            </a:pPr>
            <a:r>
              <a:t>Industry trends and research directions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Industry Trends (2025–2026)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III. THE FRONTIER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13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Harness Engineering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OpenAI, Anthropic: the harness matters more than the model.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"Swap the model = 10–15% shift. Swap the harness = works or not."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MCP Everywhere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Model Context Protocol becoming the standard for tool integration.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Security of MCP servers is the next frontier.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Agent-to-Agent Protocols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Google A2A, multi-agent orchestration frameworks (CrewAI, LangGraph).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Verification of inter-agent communication is wide open.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E67E22"/>
                </a:solidFill>
                <a:latin typeface="Trebuchet MS"/>
              </a:defRPr>
            </a:pPr>
            <a:r>
              <a:t>Formal Methods Renaissance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LLMs generating TLA+ specs, Dafny proofs, Z3 encodings.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The tools you learned are becoming the infrastructure of AI safety.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Your Projects in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III. THE FRONTIER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14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What you’re presenting this week is research.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Not homework. Not exercises. Real research on real problems: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Cross-skill taint analysis — no existing tool does this at scale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Harness conformance checking — industry is doing this ad hoc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Permission escalation detection — the confused deputy for agents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Runtime guardrail synthesis — DFA monitors from specs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LLM-assisted semantic auditing — using AI to secure AI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If your tool works on 8 benchmark harnesses and generalizes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to hidden ones — that’s publishable-level work.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E67E22"/>
                </a:solidFill>
                <a:latin typeface="Trebuchet MS"/>
              </a:defRPr>
            </a:pPr>
            <a:r>
              <a:t>Papers in this space: USENIX Security, IEEE S&amp;P, CCS, NDSS.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Georgia"/>
              </a:defRPr>
            </a:pPr>
            <a:r>
              <a:t>Presentation Logistics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E7C7B"/>
                </a:solidFill>
                <a:latin typeface="Trebuchet MS"/>
              </a:defRPr>
            </a:pPr>
            <a:r>
              <a:t>What to expect this week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Presentation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IV. LOGISTICS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16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20 minutes total per student: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Courier New"/>
              </a:defRPr>
            </a:pPr>
            <a:r>
              <a:t>12 min    Talk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          Problem, approach, connection to course, results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Courier New"/>
              </a:defRPr>
            </a:pPr>
            <a:r>
              <a:t> 3 min    Live Demo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          Run your tool on a benchmark, show real output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Courier New"/>
              </a:defRPr>
            </a:pPr>
            <a:r>
              <a:t> 5 min    Q&amp;A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          Instructor + classmates ask questions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E67E22"/>
                </a:solidFill>
                <a:latin typeface="Trebuchet MS"/>
              </a:defRPr>
            </a:pPr>
            <a:r>
              <a:t>Three sessions:  5/28, 6/2, 6/4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Schedule will be posted on Slack.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What Makes a Great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IV. LOGISTICS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17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Do: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Lead with the problem, not the code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Show the demo early (don’t save it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   for the last minute)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Connect to a course technique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Be honest about limitations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Show a real finding on a real harness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Prepare for Q&amp;A: know your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9144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C0392B"/>
                </a:solidFill>
                <a:latin typeface="Trebuchet MS"/>
              </a:defRPr>
            </a:pPr>
            <a:r>
              <a:t>Don’t: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Read your slides word-for-word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Show 20 slides of code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Skip the demo ("it works, trust me")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Overfit to the provided benchmarks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Claim you solved everything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Say "I used Claude to write it"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   without explaining what you learned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HW4 Grading (30% of course)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IV. LOGISTICS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18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Code (60%)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Benchmark detection     25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Analysis approach       15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Code quality            10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JSON compliance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9144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E67E22"/>
                </a:solidFill>
                <a:latin typeface="Trebuchet MS"/>
              </a:defRPr>
            </a:pPr>
            <a:r>
              <a:t>Presentation (40%)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Problem &amp; motivation     8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Technical approach      12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Live demo               12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Q&amp;A                     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C0392B"/>
                </a:solidFill>
                <a:latin typeface="Trebuchet MS"/>
              </a:defRPr>
            </a:pPr>
            <a:r>
              <a:t>Code due: June 4, 11:59pm.  Presentations: 5/28, 6/2, 6/4.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Georgia"/>
              </a:defRPr>
            </a:pPr>
            <a:r>
              <a:t>Key Takeaways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Five Things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V.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20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1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Agents are programs.  Formal methods apply.  {P} tool_call {Q} is real.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2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The harness matters more than the model.  Guardrails, not vibes.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3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Static analysis catches what scanners miss.  Your HW3 proved it.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4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Composition is where the bugs hide.  Safe parts ≠ safe whole.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600" b="1">
                <a:solidFill>
                  <a:srgbClr val="E67E22"/>
                </a:solidFill>
                <a:latin typeface="Trebuchet MS"/>
              </a:defRPr>
            </a:pPr>
            <a:r>
              <a:t>5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You now have skills that industry needs and academia is publishing 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371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Georgia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E7C7B"/>
                </a:solidFill>
                <a:latin typeface="Trebuchet MS"/>
              </a:defRPr>
            </a:pPr>
            <a:r>
              <a:t>CS292C · Spring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FFFFFF"/>
                </a:solidFill>
                <a:latin typeface="Trebuchet MS"/>
              </a:defRPr>
            </a:pPr>
            <a:r>
              <a:t>Good luck with your presentations.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FFFFFF"/>
                </a:solidFill>
                <a:latin typeface="Trebuchet MS"/>
              </a:defRPr>
            </a:pPr>
            <a:r>
              <a:t>I’m excited to see what you built.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8A95A7"/>
                </a:solidFill>
                <a:latin typeface="Trebuchet MS"/>
              </a:defRPr>
            </a:pPr>
            <a:r>
              <a:t>Office hours remain open through finals week.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One More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22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1B2A4A"/>
                </a:solidFill>
                <a:latin typeface="Trebuchet MS"/>
              </a:defRPr>
            </a:pPr>
            <a:r>
              <a:t>Please fill out the course evaluation.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This is a brand-new course. Your feedback directly shapes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whether it runs again and how it improves.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0E7C7B"/>
                </a:solidFill>
                <a:latin typeface="Trebuchet MS"/>
              </a:defRPr>
            </a:pPr>
            <a:r>
              <a:t>What worked?  What didn’t?  What would you change?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E67E22"/>
                </a:solidFill>
                <a:latin typeface="Trebuchet MS"/>
              </a:defRPr>
            </a:pPr>
            <a:r>
              <a:t>Be honest. Be specific. Be constructive.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