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C7293"/>
                </a:solidFill>
                <a:latin typeface="Calibri"/>
              </a:rPr>
              <a:t>CS292C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7772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Building Agents:
API, Tool Use &amp;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Formal Methods for Agentic Programming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474720"/>
            <a:ext cx="13716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Lecture 2  ·  April 2,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8A94A6"/>
                </a:solidFill>
                <a:latin typeface="Calibri"/>
              </a:rPr>
              <a:t>Yu Feng  ·  UC Santa Barbara  ·  Department of Computer Science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CS292C · Formal Methods for Agentic 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A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Recap — Where We Left 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4864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Agentic Programming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4A6"/>
                </a:solidFill>
                <a:latin typeface="Calibri"/>
              </a:rPr>
              <a:t>Autonomous LLM-driven agents that plan, call tools, and iterate.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8046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54864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The Reasoning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4A6"/>
                </a:solidFill>
                <a:latin typeface="Calibri"/>
              </a:rPr>
              <a:t>Sense → Think → Act → Observe. The agent controls its own execution.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26080"/>
            <a:ext cx="8046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926080"/>
            <a:ext cx="54864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Why Formal Methods?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91840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4A6"/>
                </a:solidFill>
                <a:latin typeface="Calibri"/>
              </a:rPr>
              <a:t>Non-determinism, side-effects, and multi-step reasoning need rigorous analysis.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8046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54864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Today’s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06240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4A6"/>
                </a:solidFill>
                <a:latin typeface="Calibri"/>
              </a:rPr>
              <a:t>Build a complete Bug Finder agent from API call to MCP server — one running example, all layers.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CS292C · Formal Methods for Agentic Programming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A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Why Do We Need an Agent?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✗  LLM Alone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8404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91440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</a:rPr>
              <a:t>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691640"/>
            <a:ext cx="109728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69164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1E2761"/>
                </a:solidFill>
                <a:latin typeface="Calibri"/>
              </a:rPr>
              <a:t>Language
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70432" y="2103120"/>
            <a:ext cx="18288" cy="210312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2103120"/>
            <a:ext cx="18288" cy="210312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1E2761"/>
                </a:solidFill>
                <a:latin typeface="Calibri"/>
              </a:rPr>
              <a:t>"Find bugs in app.py"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2514600"/>
            <a:ext cx="2286000" cy="182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2423160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1E2761"/>
                </a:solidFill>
                <a:latin typeface="Calibri"/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788920"/>
            <a:ext cx="3200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E04F5F"/>
                </a:solidFill>
                <a:latin typeface="Calibri"/>
              </a:rPr>
              <a:t>"I'm sorry, I don't have
the ability to read files"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3291840"/>
            <a:ext cx="2286000" cy="18288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246120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E04F5F"/>
                </a:solidFill>
                <a:latin typeface="Calibri"/>
              </a:rPr>
              <a:t>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  LLM + Agent Loop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1554480"/>
            <a:ext cx="38404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0" y="1691640"/>
            <a:ext cx="7315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169164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</a:rPr>
              <a:t>You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691640"/>
            <a:ext cx="822960" cy="365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69164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1691640"/>
            <a:ext cx="91440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16916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LM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76672" y="2103120"/>
            <a:ext cx="18288" cy="219456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11112" y="2103120"/>
            <a:ext cx="18288" cy="219456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36992" y="2103120"/>
            <a:ext cx="18288" cy="219456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214884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"Find bugs"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2359152"/>
            <a:ext cx="1234440" cy="137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4231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msg + tools=[]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9400" y="2633472"/>
            <a:ext cx="1325880" cy="137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269748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1C7293"/>
                </a:solidFill>
                <a:latin typeface="Calibri"/>
              </a:rPr>
              <a:t>read_file("app.py")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29400" y="2907792"/>
            <a:ext cx="1325880" cy="137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297180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2E8B57"/>
                </a:solidFill>
                <a:latin typeface="Calibri"/>
              </a:rPr>
              <a:t>execute tool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15468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&lt;file contents&gt;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9400" y="3364992"/>
            <a:ext cx="1325880" cy="137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342900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E8B57"/>
                </a:solidFill>
                <a:latin typeface="Calibri"/>
              </a:rPr>
              <a:t>"Bug found: ..."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400" y="3639312"/>
            <a:ext cx="1325880" cy="1371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0" y="370332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E8B57"/>
                </a:solidFill>
                <a:latin typeface="Calibri"/>
              </a:rPr>
              <a:t>Bug report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94960" y="3913632"/>
            <a:ext cx="1234440" cy="1371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52628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The model is the brain — but it needs hands. Today we build those hands.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CS292C · Formal Methods for Agentic Programming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A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The Five-Layer Agentic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6858000" cy="6400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4864" cy="64008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8A94A6"/>
                </a:solidFill>
                <a:latin typeface="Calibri"/>
              </a:rPr>
              <a:t>L5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1430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1732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4A6"/>
                </a:solidFill>
                <a:latin typeface="Calibri"/>
              </a:rPr>
              <a:t>SKILL.md · reusable task bundles with governance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280160"/>
            <a:ext cx="685800" cy="27432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280160"/>
            <a:ext cx="685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Lecture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47088"/>
            <a:ext cx="6858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847088"/>
            <a:ext cx="54864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892808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C7293"/>
                </a:solidFill>
                <a:latin typeface="Calibri"/>
              </a:rPr>
              <a:t>L4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189280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167128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4A6"/>
                </a:solidFill>
                <a:latin typeface="Calibri"/>
              </a:rPr>
              <a:t>Model Context Protocol · standard tool transport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029968"/>
            <a:ext cx="68580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029968"/>
            <a:ext cx="685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596896"/>
            <a:ext cx="6858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596896"/>
            <a:ext cx="54864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642616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C7293"/>
                </a:solidFill>
                <a:latin typeface="Calibri"/>
              </a:rPr>
              <a:t>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2642616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916936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4A6"/>
                </a:solidFill>
                <a:latin typeface="Calibri"/>
              </a:rPr>
              <a:t>read_file, run_tests, search_web 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779776"/>
            <a:ext cx="68580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779776"/>
            <a:ext cx="685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346704"/>
            <a:ext cx="6858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346704"/>
            <a:ext cx="54864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392424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C7293"/>
                </a:solidFill>
                <a:latin typeface="Calibri"/>
              </a:rPr>
              <a:t>L2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392424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Agent 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3666744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4A6"/>
                </a:solidFill>
                <a:latin typeface="Calibri"/>
              </a:rPr>
              <a:t>Sense → Think → Act → Observe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3529584"/>
            <a:ext cx="68580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529584"/>
            <a:ext cx="685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096512"/>
            <a:ext cx="6858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096512"/>
            <a:ext cx="54864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142232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C7293"/>
                </a:solidFill>
                <a:latin typeface="Calibri"/>
              </a:rPr>
              <a:t>L1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414223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LLM /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416552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4A6"/>
                </a:solidFill>
                <a:latin typeface="Calibri"/>
              </a:rPr>
              <a:t>Claude Messages API · token generation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4279392"/>
            <a:ext cx="68580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4279392"/>
            <a:ext cx="685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0" y="1097280"/>
            <a:ext cx="1188720" cy="3749039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0" y="1280160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CADCFC"/>
                </a:solidFill>
                <a:latin typeface="Calibri"/>
              </a:rPr>
              <a:t>Running
Example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1828800"/>
            <a:ext cx="100584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Bug
Finder
Agent
Reads a
Python file,
runs tests,
reports
bugs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CS292C · Formal Methods for Agentic Programming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A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Layer 1 — Your First API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The simplest possible interaction: send a message, get a response.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303520" cy="3200400"/>
          </a:xfrm>
          <a:prstGeom prst="rect">
            <a:avLst/>
          </a:prstGeom>
          <a:solidFill>
            <a:srgbClr val="EB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5029200" cy="3017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import anthropic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client = anthropic.Anthropic()   # reads ANTHROPIC_API_KEY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response = client.messages.create(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model="claude-sonnet-4-6",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max_tokens=1024,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messages=[{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    "role": "user",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    "content": "What common bugs appear in Python code?"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}],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)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print(response.content[0].text)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463040"/>
            <a:ext cx="36576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6304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Model to 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874519"/>
            <a:ext cx="36576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874519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Token budget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286000"/>
            <a:ext cx="36576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28600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Conversation history
(just one message here)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520440"/>
            <a:ext cx="36576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52044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Response is a list
of content blocks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CS292C · Formal Methods for Agentic Programming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A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Anatomy of Request &amp;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E2761"/>
                </a:solidFill>
                <a:latin typeface="Consolas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4630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onsolas"/>
              </a:rPr>
              <a:t>"claude-sonnet-4-6"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E2761"/>
                </a:solidFill>
                <a:latin typeface="Consolas"/>
              </a:rPr>
              <a:t>max_tokens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96596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onsolas"/>
              </a:rPr>
              <a:t>1024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E2761"/>
                </a:solidFill>
                <a:latin typeface="Consolas"/>
              </a:rPr>
              <a:t>messages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6888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onsolas"/>
              </a:rPr>
              <a:t>[ {role: "user", content: "..."}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E2761"/>
                </a:solidFill>
                <a:latin typeface="Consolas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97180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onsolas"/>
              </a:rPr>
              <a:t>[ ] (empty for now)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747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E2761"/>
                </a:solidFill>
                <a:latin typeface="Consolas"/>
              </a:rPr>
              <a:t>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47472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onsolas"/>
              </a:rPr>
              <a:t>"You are a helpful..."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2860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>
                <a:solidFill>
                  <a:srgbClr val="1C7293"/>
                </a:solidFill>
                <a:latin typeface="Calibri"/>
              </a:rPr>
              <a:t>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46304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E2761"/>
                </a:solidFill>
                <a:latin typeface="Consolas"/>
              </a:rPr>
              <a:t>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46304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onsolas"/>
              </a:rPr>
              <a:t>"msg_01XY..."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196596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E2761"/>
                </a:solidFill>
                <a:latin typeface="Consolas"/>
              </a:rPr>
              <a:t>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96596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onsolas"/>
              </a:rPr>
              <a:t>"assistant"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46888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E2761"/>
                </a:solidFill>
                <a:latin typeface="Consolas"/>
              </a:rPr>
              <a:t>content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46888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onsolas"/>
              </a:rPr>
              <a:t>[{type: "text", text: "..."}]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297180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E2761"/>
                </a:solidFill>
                <a:latin typeface="Consolas"/>
              </a:rPr>
              <a:t>stop_reason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onsolas"/>
              </a:rPr>
              <a:t>"end_turn"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47472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E2761"/>
                </a:solidFill>
                <a:latin typeface="Consolas"/>
              </a:rPr>
              <a:t>usage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47472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onsolas"/>
              </a:rPr>
              <a:t>{input_tokens: 25, output_tokens: 142}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E2761"/>
                </a:solidFill>
                <a:latin typeface="Calibri"/>
              </a:rPr>
              <a:t>stop_reason = "tool_use" → the model wants to call a tool.  Your loop must handle 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CS292C · Formal Methods for Agentic Programming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A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The Stateless Principle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CADCFC"/>
                </a:solidFill>
                <a:latin typeface="Calibri"/>
              </a:rPr>
              <a:t>"The API has no memory. You own the context."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3931920" cy="32004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✗  Broken: no 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3931920" cy="2194560"/>
          </a:xfrm>
          <a:prstGeom prst="rect">
            <a:avLst/>
          </a:prstGeom>
          <a:solidFill>
            <a:srgbClr val="EB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40280"/>
            <a:ext cx="36576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# Call 1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messages=[{role:"user",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content:"Find bugs in app.py"}]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# ... Claude responds ...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# Call 2 — NEW messages array!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messages=[{role:"user",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content:"What about line 42?"}]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# Claude: "What file? I have no context"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737360"/>
            <a:ext cx="3931920" cy="3200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73736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  Fixed: carry full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148840"/>
            <a:ext cx="3931920" cy="2194560"/>
          </a:xfrm>
          <a:prstGeom prst="rect">
            <a:avLst/>
          </a:prstGeom>
          <a:solidFill>
            <a:srgbClr val="EB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240280"/>
            <a:ext cx="36576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# Call 2 — include ALL prior turns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messages=[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{role:"user",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content:"Find bugs in app.py"},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{role:"assistant",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content:"I found 3 bugs..."},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{role:"user",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content:"What about line 42?"}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messages[] is your entire conversation. The context window (~200K tokens) is finite working memory.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CS292C · Formal Methods for Agentic Programming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A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Layer 2 — The Agent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Our bug finder needs to read a file, then run tests, then analyze. That’s multiple API calls.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943600" cy="3657600"/>
          </a:xfrm>
          <a:prstGeom prst="rect">
            <a:avLst/>
          </a:prstGeom>
          <a:solidFill>
            <a:srgbClr val="EB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5669280" cy="3474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def agent_loop(task):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messages = [{"role": "user", "content": task}]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while True: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response = client.messages.create(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    model="claude-sonnet-4-6",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    max_tokens=4096,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    tools=tools,          # &lt;-- we'll define these next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    messages=messages,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)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# DONE: model finished reasoning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if response.stop_reason == "end_turn":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    return response.content[0].text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# ACT: model wants to call a tool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tool_block = response.content[0]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result = execute(tool_block.name, tool_block.input)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# OBSERVE: append result, loop again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messages.append({"role":"assistant","content":response.content})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messages.append({"role":"user","content":[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    {"type":"tool_result","tool_use_id":tool_block.id,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     "content": result}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]})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417320"/>
            <a:ext cx="73152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0992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Receive task, init messages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965960"/>
            <a:ext cx="73152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THINK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5856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Call the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743200"/>
            <a:ext cx="73152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74320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DONE?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3580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stop = end_turn → return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3246120"/>
            <a:ext cx="73152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24612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3872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Execute the requested tool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794760"/>
            <a:ext cx="73152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79476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OBSERVE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8736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Append result, loop again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CS292C · Formal Methods for Agentic Programming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A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Tracing the Loop: A Complete Run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960120"/>
            <a:ext cx="320040" cy="3200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91440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91440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"Find bugs in app.py"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960120"/>
            <a:ext cx="1188720" cy="228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960120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user msg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1600200"/>
            <a:ext cx="320040" cy="3200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0020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55448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API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155448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stop=tool_use: read_file("app.py")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600200"/>
            <a:ext cx="1188720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00200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assistant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2240280"/>
            <a:ext cx="320040" cy="3200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24028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19456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E8B57"/>
                </a:solidFill>
                <a:latin typeface="Calibri"/>
              </a:rPr>
              <a:t>Execute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19456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Agent reads file, returns contents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240280"/>
            <a:ext cx="1188720" cy="2286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240280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tool_result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2880359"/>
            <a:ext cx="320040" cy="3200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880359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2834639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API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2834639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stop=tool_use: run_tests("app.py")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880359"/>
            <a:ext cx="1188720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880359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assistant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3520440"/>
            <a:ext cx="320040" cy="3200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52044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4747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E8B57"/>
                </a:solidFill>
                <a:latin typeface="Calibri"/>
              </a:rPr>
              <a:t>Execute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347472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Agent runs pytest, returns output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520440"/>
            <a:ext cx="1188720" cy="2286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520440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tool_result</a:t>
            </a:r>
          </a:p>
        </p:txBody>
      </p:sp>
      <p:sp>
        <p:nvSpPr>
          <p:cNvPr id="36" name="Oval 35"/>
          <p:cNvSpPr/>
          <p:nvPr/>
        </p:nvSpPr>
        <p:spPr>
          <a:xfrm>
            <a:off x="548640" y="4160520"/>
            <a:ext cx="320040" cy="3200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16052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411480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API 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411480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stop=end_turn: "Bug found on L12: ..."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160520"/>
            <a:ext cx="1188720" cy="2286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160520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assistant (final)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914400"/>
            <a:ext cx="1097280" cy="384048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0" y="9601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CADCFC"/>
                </a:solidFill>
                <a:latin typeface="Calibri"/>
              </a:rPr>
              <a:t>messages[]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13716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 msg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1920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 msgs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246888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3 msgs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3017519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4 msgs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356616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5 msgs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41148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6 msgs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CS292C · Formal Methods for Agentic Programming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A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Layer 3 — Defining a Tool: read_file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303520" cy="3108960"/>
          </a:xfrm>
          <a:prstGeom prst="rect">
            <a:avLst/>
          </a:prstGeom>
          <a:solidFill>
            <a:srgbClr val="EB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502920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read_file_tool = {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"name": "read_file",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"description":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    "Read the text contents of a file at the given path. "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    "Returns the full file as a string.",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"input_schema": {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    "type": "object",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    "properties": {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        "path": {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            "type": "string",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            "description": "Absolute or relative file path"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        }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    },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    "required": ["path"]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97280"/>
            <a:ext cx="36576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761"/>
                </a:solidFill>
                <a:latin typeface="Consolas"/>
              </a:rPr>
              <a:t>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53312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alibri"/>
              </a:rPr>
              <a:t>Unique identifier the model
uses to request this tool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828800"/>
            <a:ext cx="36576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82880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761"/>
                </a:solidFill>
                <a:latin typeface="Consolas"/>
              </a:rPr>
              <a:t>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84832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alibri"/>
              </a:rPr>
              <a:t>Natural-language explanation.
The model reads this to decide
whether to call the tool.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834640"/>
            <a:ext cx="36576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761"/>
                </a:solidFill>
                <a:latin typeface="Consolas"/>
              </a:rPr>
              <a:t>input_schema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090672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alibri"/>
              </a:rPr>
              <a:t>JSON Schema for parameters.
The model fills these in;
your code validates &amp; executes.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E2761"/>
                </a:solidFill>
                <a:latin typeface="Calibri"/>
              </a:rPr>
              <a:t>⚠  The description is part of your prompt — a vague description leads to wrong or missing tool calls.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CS292C · Formal Methods for Agentic Programming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A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Adding a Second Tool: run_tests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Our agent now has two tools. The model chooses which to call and in what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029200" cy="2926080"/>
          </a:xfrm>
          <a:prstGeom prst="rect">
            <a:avLst/>
          </a:prstGeom>
          <a:solidFill>
            <a:srgbClr val="EB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47548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run_tests_tool = {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"name": "run_tests",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"description":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    "Run pytest on the specified file. "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    "Returns stdout, stderr, and exit code.",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"input_schema": {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    "type": "object",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    "properties": {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        "path": {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            "type": "string",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            "description": "Path to the test file or module"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        }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    },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    "required": ["path"]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1E2761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1887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Pass both to the API: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645920"/>
            <a:ext cx="3108960" cy="2011680"/>
          </a:xfrm>
          <a:prstGeom prst="rect">
            <a:avLst/>
          </a:prstGeom>
          <a:solidFill>
            <a:srgbClr val="EB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737360"/>
            <a:ext cx="283464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response = client.messages.create(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model="claude-sonnet-4-6",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max_tokens=4096,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tools=[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read_file_tool,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run_tests_tool,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],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messages=messages,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840480"/>
            <a:ext cx="3017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A94A6"/>
                </a:solidFill>
                <a:latin typeface="Calibri"/>
              </a:rPr>
              <a:t>The model sees both tool descriptions and decides autonomously which to invoke — and in what sequence.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CS292C · Formal Methods for Agentic Programming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A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The Complete Message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82296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822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77240"/>
            <a:ext cx="5943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822960"/>
            <a:ext cx="5669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"Find bugs in app.py"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822960"/>
            <a:ext cx="274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8A94A6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99032"/>
            <a:ext cx="82296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99032"/>
            <a:ext cx="822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assistant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1399032"/>
            <a:ext cx="5943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1444752"/>
            <a:ext cx="5669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tool_use: read_file({path:"app.py"})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444752"/>
            <a:ext cx="274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8A94A6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20824"/>
            <a:ext cx="822960" cy="2560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20824"/>
            <a:ext cx="822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020824"/>
            <a:ext cx="5943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2066544"/>
            <a:ext cx="5669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tool_result: "def add(a,b): ..."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066544"/>
            <a:ext cx="274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8A94A6"/>
                </a:solidFill>
                <a:latin typeface="Calibr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642616"/>
            <a:ext cx="82296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642616"/>
            <a:ext cx="822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assistant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2642616"/>
            <a:ext cx="5943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2688336"/>
            <a:ext cx="5669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tool_use: run_tests({path:"app.py"})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688336"/>
            <a:ext cx="274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8A94A6"/>
                </a:solidFill>
                <a:latin typeface="Calibr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64408"/>
            <a:ext cx="822960" cy="25603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264408"/>
            <a:ext cx="822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3264408"/>
            <a:ext cx="5943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08760" y="3310128"/>
            <a:ext cx="5669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tool_result: "FAILED test_add ..."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310128"/>
            <a:ext cx="274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8A94A6"/>
                </a:solidFill>
                <a:latin typeface="Calibri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886200"/>
            <a:ext cx="82296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886200"/>
            <a:ext cx="822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assistant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3886200"/>
            <a:ext cx="5943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8760" y="3931920"/>
            <a:ext cx="5669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text: "Bug found on line 12: ..."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3931920"/>
            <a:ext cx="274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8A94A6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1371600"/>
            <a:ext cx="1188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C7293"/>
                </a:solidFill>
                <a:latin typeface="Calibri"/>
              </a:rPr>
              <a:t>↻ loop
until
end_turn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The model never executes tools directly. It only requests them. Execution happens in your code — this boundary is your trust frontier.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CS292C · Formal Methods for Agentic Programming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A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Tool Design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Each principle motivated by "what could go wrong" in our Bug Finder: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170432"/>
            <a:ext cx="320040" cy="3200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0972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Minimal 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371600"/>
            <a:ext cx="7589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alibri"/>
              </a:rPr>
              <a:t>Why separate read_file and run_tests instead of one analyze tool? Smaller tools are easier to verify and compose.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1792224"/>
            <a:ext cx="320040" cy="3200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92224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71907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Descriptive Names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993392"/>
            <a:ext cx="7589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alibri"/>
              </a:rPr>
              <a:t>read_file beats file_op. The description is part of your prompt — the model reads it to decide.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2414016"/>
            <a:ext cx="320040" cy="3200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14016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340864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Explicit Preconditions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615184"/>
            <a:ext cx="7589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alibri"/>
              </a:rPr>
              <a:t>What if path doesn’t exist? Validate inputs before executing. The model will pass invalid arguments.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035808"/>
            <a:ext cx="320040" cy="3200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035808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962656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Prefer Idempotence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236976"/>
            <a:ext cx="7589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alibri"/>
              </a:rPr>
              <a:t>read_file is safe to retry. A write_file is not. Separate read and write for auditability.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3657600"/>
            <a:ext cx="320040" cy="3200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65760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58444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Least Privilege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858768"/>
            <a:ext cx="7589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alibri"/>
              </a:rPr>
              <a:t>read_file should not have network access. run_tests should not write to arbitrary paths.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4279392"/>
            <a:ext cx="320040" cy="3200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279392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206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Return Structured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480560"/>
            <a:ext cx="7589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alibri"/>
              </a:rPr>
              <a:t>Return JSON ({stdout, stderr, exit_code}), not prose. The model parses your output.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CS292C · Formal Methods for Agentic Programming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A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Layer 4 — The Problem: Our Tools Are Trapped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Our bug finder works great — but the tools are hardcoded in our script. What if another team wants read_file? What if we want a third-party linter?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840480" cy="36576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✗  Without MCP:  N × M integrations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Bug Finder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2286000"/>
            <a:ext cx="685800" cy="36576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2286000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E04F5F"/>
                </a:solidFill>
                <a:latin typeface="Calibri"/>
              </a:rPr>
              <a:t>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2286000"/>
            <a:ext cx="685800" cy="36576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2286000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E04F5F"/>
                </a:solidFill>
                <a:latin typeface="Calibri"/>
              </a:rPr>
              <a:t>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286000"/>
            <a:ext cx="685800" cy="36576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286000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E04F5F"/>
                </a:solidFill>
                <a:latin typeface="Calibri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8892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Code 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7360" y="2788920"/>
            <a:ext cx="685800" cy="36576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2788920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E04F5F"/>
                </a:solidFill>
                <a:latin typeface="Calibri"/>
              </a:rPr>
              <a:t>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2788920"/>
            <a:ext cx="685800" cy="36576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2788920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E04F5F"/>
                </a:solidFill>
                <a:latin typeface="Calibri"/>
              </a:rPr>
              <a:t>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2788920"/>
            <a:ext cx="685800" cy="36576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2788920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E04F5F"/>
                </a:solidFill>
                <a:latin typeface="Calibri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918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Refactorer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3291840"/>
            <a:ext cx="685800" cy="36576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3291840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E04F5F"/>
                </a:solidFill>
                <a:latin typeface="Calibri"/>
              </a:rPr>
              <a:t>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0" y="3291840"/>
            <a:ext cx="685800" cy="36576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14600" y="3291840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E04F5F"/>
                </a:solidFill>
                <a:latin typeface="Calibri"/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291840"/>
            <a:ext cx="685800" cy="36576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291840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E04F5F"/>
                </a:solidFill>
                <a:latin typeface="Calibri"/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88620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E04F5F"/>
                </a:solidFill>
                <a:latin typeface="Calibri"/>
              </a:rPr>
              <a:t>= 9 bespoke integrations, no reuse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1645920"/>
            <a:ext cx="3840480" cy="3657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164592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  With MCP:  N + 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2860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Bug Finder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22860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2E8B57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278892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Code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278892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2E8B57"/>
                </a:solidFill>
                <a:latin typeface="Calibr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2918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Refactorer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329184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2E8B57"/>
                </a:solidFill>
                <a:latin typeface="Calibr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2194560"/>
            <a:ext cx="640080" cy="1554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265176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MCP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22860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2E8B57"/>
                </a:solidFill>
                <a:latin typeface="Calibri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22860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E2761"/>
                </a:solidFill>
                <a:latin typeface="Consolas"/>
              </a:rPr>
              <a:t>read_file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278892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2E8B57"/>
                </a:solidFill>
                <a:latin typeface="Calibri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278892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E2761"/>
                </a:solidFill>
                <a:latin typeface="Consolas"/>
              </a:rPr>
              <a:t>run_tests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329184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2E8B57"/>
                </a:solidFill>
                <a:latin typeface="Calibri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32918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E2761"/>
                </a:solidFill>
                <a:latin typeface="Consolas"/>
              </a:rPr>
              <a:t>lint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388620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E8B57"/>
                </a:solidFill>
                <a:latin typeface="Calibri"/>
              </a:rPr>
              <a:t>= 6 connections, tools reused everywhere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343400"/>
            <a:ext cx="7863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ADCFC"/>
                </a:solidFill>
                <a:latin typeface="Calibri"/>
              </a:rPr>
              <a:t>MCP = USB-C for AI agents. Define once, plug in anywhere.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CS292C · Formal Methods for Agentic Programming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A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MCP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5603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56032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2560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MCP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8A94A6"/>
                </a:solidFill>
                <a:latin typeface="Calibri"/>
              </a:rPr>
              <a:t>(Your Agent Loop)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 Discovers available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 Sends tool call requests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 Receives tool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 Manages conversation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286000"/>
            <a:ext cx="9144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2743200"/>
            <a:ext cx="9144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19659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C7293"/>
                </a:solidFill>
                <a:latin typeface="Calibri"/>
              </a:rPr>
              <a:t>stdio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8803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C7293"/>
                </a:solidFill>
                <a:latin typeface="Calibri"/>
              </a:rPr>
              <a:t>or SSE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176272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C7293"/>
                </a:solidFill>
                <a:latin typeface="Calibri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633472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C7293"/>
                </a:solidFill>
                <a:latin typeface="Calibri"/>
              </a:rPr>
              <a:t>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097280"/>
            <a:ext cx="25603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1097280"/>
            <a:ext cx="256032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097280"/>
            <a:ext cx="2560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MCP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16459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8A94A6"/>
                </a:solidFill>
                <a:latin typeface="Calibri"/>
              </a:rPr>
              <a:t>(Tool Host)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0116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 Exposes tools, resources, prompts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4231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 Executes tool calls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83464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 Returns structured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24612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 Local process or remote 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1097280"/>
            <a:ext cx="1645920" cy="3200400"/>
          </a:xfrm>
          <a:prstGeom prst="rect">
            <a:avLst/>
          </a:prstGeom>
          <a:solidFill>
            <a:srgbClr val="EB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118872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Our Tools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9480" y="164592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80" y="1645920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C7293"/>
                </a:solidFill>
                <a:latin typeface="Consolas"/>
              </a:rPr>
              <a:t>read_file()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80" y="219456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80" y="2194560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C7293"/>
                </a:solidFill>
                <a:latin typeface="Consolas"/>
              </a:rPr>
              <a:t>run_tests()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9480" y="274320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2743200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C7293"/>
                </a:solidFill>
                <a:latin typeface="Consolas"/>
              </a:rPr>
              <a:t>lint_code()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CS292C · Formal Methods for Agentic Programming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A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Building Our Bug Finder as an MCP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Turn our two tool functions into a server anyone can connect to: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486400" cy="3566160"/>
          </a:xfrm>
          <a:prstGeom prst="rect">
            <a:avLst/>
          </a:prstGeom>
          <a:solidFill>
            <a:srgbClr val="EB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5212080" cy="3383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from mcp.server.fastmcp import FastMCP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mcp = FastMCP("bug-finder")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@mcp.tool()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def read_file(path: str) -&gt; str: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"""Read the contents of a file at the given path."""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with open(path) as f: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return f.read()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@mcp.tool()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def run_tests(path: str) -&gt; str: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"""Run pytest on the specified file.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Returns stdout and stderr."""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result = subprocess.run(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["pytest", path, "-v"],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capture_output=True, text=True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)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return json.dumps({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"stdout": result.stdout,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"stderr": result.stderr,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    "exit_code": result.returncode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})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if __name__ == "__main__":</a:t>
            </a:r>
          </a:p>
          <a:p>
            <a:pPr algn="l"/>
            <a:r>
              <a:rPr sz="900">
                <a:solidFill>
                  <a:srgbClr val="1E2761"/>
                </a:solidFill>
                <a:latin typeface="Consolas"/>
              </a:rPr>
              <a:t>    mcp.run(transport="stdio")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97280"/>
            <a:ext cx="36576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097280"/>
            <a:ext cx="25603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Create server
with a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691640"/>
            <a:ext cx="36576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25603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@mcp.tool()
decorator exposes
functions as MCP 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383280"/>
            <a:ext cx="36576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383280"/>
            <a:ext cx="25603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Docstring becomes
the tool 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160520"/>
            <a:ext cx="36576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160520"/>
            <a:ext cx="25603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stdio transport —
works with any
MCP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CS292C · Formal Methods for Agentic Programming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A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MCP Primitives: Tools, Resources,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Three primitive types — each shown in our bug-finder server: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6517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65176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Executable functions the agent can 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286000"/>
            <a:ext cx="2377440" cy="914400"/>
          </a:xfrm>
          <a:prstGeom prst="rect">
            <a:avLst/>
          </a:prstGeom>
          <a:solidFill>
            <a:srgbClr val="EB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7744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read_file(path)
run_tests(path)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9184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alibri"/>
              </a:rPr>
              <a:t>Same as our tool definitions — now exposed via the protocol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188720"/>
            <a:ext cx="26517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188720"/>
            <a:ext cx="265176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18872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7373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Readable data sources exposed by the server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2286000"/>
            <a:ext cx="2377440" cy="914400"/>
          </a:xfrm>
          <a:prstGeom prst="rect">
            <a:avLst/>
          </a:prstGeom>
          <a:solidFill>
            <a:srgbClr val="EB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37744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file://repo/src/app.py
db://coverage/report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29184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alibri"/>
              </a:rPr>
              <a:t>Browsable by the client — like a file system the agent can explore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188720"/>
            <a:ext cx="26517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188720"/>
            <a:ext cx="2651760" cy="41148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18872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Prompts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7373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Parameterized prompt templates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286000"/>
            <a:ext cx="2377440" cy="914400"/>
          </a:xfrm>
          <a:prstGeom prst="rect">
            <a:avLst/>
          </a:prstGeom>
          <a:solidFill>
            <a:srgbClr val="EB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37744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"bug_report" template
"code_review" template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29184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alibri"/>
              </a:rPr>
              <a:t>Server provides reusable prompt structures for common tasks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CS292C · Formal Methods for Agentic Programming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A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Extended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Our bug finder sometimes misses subtle bugs. Let the model think harder: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029200" cy="2560320"/>
          </a:xfrm>
          <a:prstGeom prst="rect">
            <a:avLst/>
          </a:prstGeom>
          <a:solidFill>
            <a:srgbClr val="EB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4754880" cy="2377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>
                <a:solidFill>
                  <a:srgbClr val="1E2761"/>
                </a:solidFill>
                <a:latin typeface="Consolas"/>
              </a:rPr>
              <a:t>response = client.messages.create(</a:t>
            </a:r>
          </a:p>
          <a:p>
            <a:pPr algn="l"/>
            <a:r>
              <a:rPr sz="1000">
                <a:solidFill>
                  <a:srgbClr val="1E2761"/>
                </a:solidFill>
                <a:latin typeface="Consolas"/>
              </a:rPr>
              <a:t>    model="claude-sonnet-4-6",</a:t>
            </a:r>
          </a:p>
          <a:p>
            <a:pPr algn="l"/>
            <a:r>
              <a:rPr sz="1000">
                <a:solidFill>
                  <a:srgbClr val="1E2761"/>
                </a:solidFill>
                <a:latin typeface="Consolas"/>
              </a:rPr>
              <a:t>    max_tokens=16000,</a:t>
            </a:r>
          </a:p>
          <a:p>
            <a:pPr algn="l"/>
            <a:r>
              <a:rPr sz="1000">
                <a:solidFill>
                  <a:srgbClr val="1E2761"/>
                </a:solidFill>
                <a:latin typeface="Consolas"/>
              </a:rPr>
              <a:t>    thinking={</a:t>
            </a:r>
          </a:p>
          <a:p>
            <a:pPr algn="l"/>
            <a:r>
              <a:rPr sz="1000">
                <a:solidFill>
                  <a:srgbClr val="1E2761"/>
                </a:solidFill>
                <a:latin typeface="Consolas"/>
              </a:rPr>
              <a:t>        "type": "enabled",</a:t>
            </a:r>
          </a:p>
          <a:p>
            <a:pPr algn="l"/>
            <a:r>
              <a:rPr sz="1000">
                <a:solidFill>
                  <a:srgbClr val="1E2761"/>
                </a:solidFill>
                <a:latin typeface="Consolas"/>
              </a:rPr>
              <a:t>        "budget_tokens": 10000   # dedicated reasoning budget</a:t>
            </a:r>
          </a:p>
          <a:p>
            <a:pPr algn="l"/>
            <a:r>
              <a:rPr sz="1000">
                <a:solidFill>
                  <a:srgbClr val="1E2761"/>
                </a:solidFill>
                <a:latin typeface="Consolas"/>
              </a:rPr>
              <a:t>    },</a:t>
            </a:r>
          </a:p>
          <a:p>
            <a:pPr algn="l"/>
            <a:r>
              <a:rPr sz="1000">
                <a:solidFill>
                  <a:srgbClr val="1E2761"/>
                </a:solidFill>
                <a:latin typeface="Consolas"/>
              </a:rPr>
              <a:t>    tools=tools,</a:t>
            </a:r>
          </a:p>
          <a:p>
            <a:pPr algn="l"/>
            <a:r>
              <a:rPr sz="1000">
                <a:solidFill>
                  <a:srgbClr val="1E2761"/>
                </a:solidFill>
                <a:latin typeface="Consolas"/>
              </a:rPr>
              <a:t>    messages=messages,</a:t>
            </a:r>
          </a:p>
          <a:p>
            <a:pPr algn="l"/>
            <a:r>
              <a:rPr sz="1000">
                <a:solidFill>
                  <a:srgbClr val="1E2761"/>
                </a:solidFill>
                <a:latin typeface="Consolas"/>
              </a:rPr>
              <a:t>)</a:t>
            </a:r>
          </a:p>
          <a:p>
            <a:pPr algn="l"/>
            <a:r>
              <a:rPr sz="1000">
                <a:solidFill>
                  <a:srgbClr val="1E2761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1E2761"/>
                </a:solidFill>
                <a:latin typeface="Consolas"/>
              </a:rPr>
              <a:t># Response now contains thinking blocks:</a:t>
            </a:r>
          </a:p>
          <a:p>
            <a:pPr algn="l"/>
            <a:r>
              <a:rPr sz="1000">
                <a:solidFill>
                  <a:srgbClr val="1E2761"/>
                </a:solidFill>
                <a:latin typeface="Consolas"/>
              </a:rPr>
              <a:t># [</a:t>
            </a:r>
          </a:p>
          <a:p>
            <a:pPr algn="l"/>
            <a:r>
              <a:rPr sz="1000">
                <a:solidFill>
                  <a:srgbClr val="1E2761"/>
                </a:solidFill>
                <a:latin typeface="Consolas"/>
              </a:rPr>
              <a:t>#   {type: "thinking", thinking: "Let me analyze..."},</a:t>
            </a:r>
          </a:p>
          <a:p>
            <a:pPr algn="l"/>
            <a:r>
              <a:rPr sz="1000">
                <a:solidFill>
                  <a:srgbClr val="1E2761"/>
                </a:solidFill>
                <a:latin typeface="Consolas"/>
              </a:rPr>
              <a:t>#   {type: "text",     text: "Bug found: off-by-one..."}</a:t>
            </a:r>
          </a:p>
          <a:p>
            <a:pPr algn="l"/>
            <a:r>
              <a:rPr sz="1000">
                <a:solidFill>
                  <a:srgbClr val="1E2761"/>
                </a:solidFill>
                <a:latin typeface="Consolas"/>
              </a:rPr>
              <a:t>#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09728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What It Enables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4630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•  Multi-step reasoning before answering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9202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•  Self-verification of tool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3774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•  Planning which tools to call 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8346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•  Catching subtle bugs (off-by-one, edge cases)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CADCFC"/>
                </a:solidFill>
                <a:latin typeface="Calibri"/>
              </a:rPr>
              <a:t>Formal Methods Angle:  </a:t>
            </a:r>
            <a:r>
              <a:rPr sz="1100" b="0">
                <a:solidFill>
                  <a:srgbClr val="FFFFFF"/>
                </a:solidFill>
                <a:latin typeface="Calibri"/>
              </a:rPr>
              <a:t>Thinking tokens are unverifiable internal state. The model’s scratchpad is visible but not re-injected as input. How do we specify pre/postconditions over opaque reasoning?  (Lecture 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CS292C · Formal Methods for Agentic Programming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A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We Built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50292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38328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Layer 1:  Messages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3832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Stateless request/response — you own the 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5029200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Layer 2:  Agent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74320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while True: think → act → observe → repeat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03120"/>
            <a:ext cx="5029200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0312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Layer 3: 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10312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read_file + run_tests — typed, named, JSON Schema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463041"/>
            <a:ext cx="5029200" cy="5486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463041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Layer 4:  MCP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1463041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Protocol boundary — tools exposed to any client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914400"/>
            <a:ext cx="5029200" cy="54864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9144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8A94A6"/>
                </a:solidFill>
                <a:latin typeface="Calibri"/>
              </a:rPr>
              <a:t>Layer 5:  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91440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94A6"/>
                </a:solidFill>
                <a:latin typeface="Calibri"/>
              </a:rPr>
              <a:t>SKILL.md · GATE taxonomy · next lecture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914400"/>
            <a:ext cx="2926080" cy="3017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00584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ADCFC"/>
                </a:solidFill>
                <a:latin typeface="Calibri"/>
              </a:rPr>
              <a:t>Lecture 3 Preview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417320"/>
            <a:ext cx="109728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164592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→  SKILL.md format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0574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→  The GATE taxonomy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4688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→  OpenClaw / ClawHub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88036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→  Skills as formal specs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2918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→  HW1 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20624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CADCFC"/>
                </a:solidFill>
                <a:latin typeface="Calibri"/>
              </a:rPr>
              <a:t>Next time we wrap our bug finder into a reusable Skill — executable infrastructure with governance.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A94A6"/>
                </a:solidFill>
                <a:latin typeface="Calibri"/>
              </a:rPr>
              <a:t>CS292C · Formal Methods for Agentic Programming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A94A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