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S 2 9 2 C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7315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Static Analysis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48640" y="22860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4A55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Dataflow to Points-To Analysis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2834640"/>
            <a:ext cx="2286000" cy="4572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3108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9  ·  April 28, 2026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34290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 Feng  ·  UC Santa Barbara  ·  Department of Computer Science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Recap: SAT/SMT Solvers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800600"/>
            <a:ext cx="64008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CS292C  ·  Formal Methods for Agentic Programming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800600"/>
            <a:ext cx="6400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8229600" cy="914400"/>
          </a:xfrm>
          <a:prstGeom prst="rect">
            <a:avLst/>
          </a:prstGeom>
          <a:solidFill>
            <a:srgbClr val="FAFBFD"/>
          </a:solidFill>
          <a:ln w="9525">
            <a:solidFill>
              <a:srgbClr val="EDEFF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005840"/>
            <a:ext cx="54864" cy="91440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07899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Answers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651760" y="1097280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SAT/SMT solvers give definitive results: a formula is satisfiable (SAT) or not (UNSAT). No approximation.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2103120"/>
            <a:ext cx="8229600" cy="914400"/>
          </a:xfrm>
          <a:prstGeom prst="rect">
            <a:avLst/>
          </a:prstGeom>
          <a:solidFill>
            <a:srgbClr val="FAFBFD"/>
          </a:solidFill>
          <a:ln w="9525">
            <a:solidFill>
              <a:srgbClr val="EDEFF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103120"/>
            <a:ext cx="54864" cy="91440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17627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VCG → Z3 Pipeline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651760" y="2194560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Annotated programs produce verification conditions; Z3 decides validity. Correct → UNSAT, buggy → counterexample.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57200" y="3200400"/>
            <a:ext cx="8229600" cy="914400"/>
          </a:xfrm>
          <a:prstGeom prst="rect">
            <a:avLst/>
          </a:prstGeom>
          <a:solidFill>
            <a:srgbClr val="FAFBFD"/>
          </a:solidFill>
          <a:ln w="9525">
            <a:solidFill>
              <a:srgbClr val="EDEFF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200400"/>
            <a:ext cx="54864" cy="91440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327355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 Wall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651760" y="3291840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loop invariants and pre/postconditions for every function. Doesn’t scale to millions of lines of code.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57200" y="4160520"/>
            <a:ext cx="8229600" cy="50292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41605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question: Can we verify properties without annotations, fully automatically?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I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15544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Static Analysis?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8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Analyzing programs without running them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651760"/>
            <a:ext cx="1828800" cy="36576"/>
          </a:xfrm>
          <a:prstGeom prst="rect">
            <a:avLst/>
          </a:prstGeom>
          <a:solidFill>
            <a:srgbClr val="0E7C7B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Core Idea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800600"/>
            <a:ext cx="64008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CS292C  ·  Formal Methods for Agentic Programming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800600"/>
            <a:ext cx="6400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solidFill>
            <a:srgbClr val="EBF5F5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9144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a program without running it — reason about all possible executions at once.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2606040" cy="2377440"/>
          </a:xfrm>
          <a:prstGeom prst="rect">
            <a:avLst/>
          </a:prstGeom>
          <a:solidFill>
            <a:srgbClr val="FAFBFD"/>
          </a:solidFill>
          <a:ln w="9525">
            <a:solidFill>
              <a:srgbClr val="EDEFF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828800"/>
            <a:ext cx="54864" cy="237744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9202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0080" y="23774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finite inputs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28803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some bugs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33832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Concrete, incomplete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91840" y="1828800"/>
            <a:ext cx="2606040" cy="2377440"/>
          </a:xfrm>
          <a:prstGeom prst="rect">
            <a:avLst/>
          </a:prstGeom>
          <a:solidFill>
            <a:srgbClr val="FAFBFD"/>
          </a:solidFill>
          <a:ln w="9525">
            <a:solidFill>
              <a:srgbClr val="EDEFF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91840" y="1828800"/>
            <a:ext cx="54864" cy="2377440"/>
          </a:xfrm>
          <a:prstGeom prst="rect">
            <a:avLst/>
          </a:prstGeom>
          <a:solidFill>
            <a:srgbClr val="6C5B7B"/>
          </a:solidFill>
          <a:ln/>
        </p:spPr>
      </p:sp>
      <p:sp>
        <p:nvSpPr>
          <p:cNvPr id="16" name="Text 14"/>
          <p:cNvSpPr/>
          <p:nvPr/>
        </p:nvSpPr>
        <p:spPr>
          <a:xfrm>
            <a:off x="3474720" y="19202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C5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SMT Verification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474720" y="23774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answers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474720" y="28803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annotations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474720" y="33832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Precise, manual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26480" y="1828800"/>
            <a:ext cx="2606040" cy="2377440"/>
          </a:xfrm>
          <a:prstGeom prst="rect">
            <a:avLst/>
          </a:prstGeom>
          <a:solidFill>
            <a:srgbClr val="FAFBFD"/>
          </a:solidFill>
          <a:ln w="9525">
            <a:solidFill>
              <a:srgbClr val="EDEFF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26480" y="1828800"/>
            <a:ext cx="54864" cy="237744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22" name="Text 20"/>
          <p:cNvSpPr/>
          <p:nvPr/>
        </p:nvSpPr>
        <p:spPr>
          <a:xfrm>
            <a:off x="6309360" y="19202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Analysis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309360" y="23774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executions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309360" y="28803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automatic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309360" y="33832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Approximate, scalable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4343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Static analysis trades precision for automation and scalability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Fundamental Trade-Off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800600"/>
            <a:ext cx="64008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CS292C  ·  Formal Methods for Agentic Programming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800600"/>
            <a:ext cx="6400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Soundness  vs.  Completeness  vs.  Scalability — pick two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8229600" cy="777240"/>
          </a:xfrm>
          <a:prstGeom prst="rect">
            <a:avLst/>
          </a:prstGeom>
          <a:solidFill>
            <a:srgbClr val="FAFBFD"/>
          </a:solidFill>
          <a:ln w="9525">
            <a:solidFill>
              <a:srgbClr val="EDEFF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554480"/>
            <a:ext cx="54864" cy="77724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64592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377440" y="1645920"/>
            <a:ext cx="6126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it says “no bug,” there truly is no bug. May report false alarms.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468880"/>
            <a:ext cx="8229600" cy="777240"/>
          </a:xfrm>
          <a:prstGeom prst="rect">
            <a:avLst/>
          </a:prstGeom>
          <a:solidFill>
            <a:srgbClr val="FAFBFD"/>
          </a:solidFill>
          <a:ln w="9525">
            <a:solidFill>
              <a:srgbClr val="EDEFF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468880"/>
            <a:ext cx="54864" cy="77724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256032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377440" y="2560320"/>
            <a:ext cx="6126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there is a bug, it will find it. Usually undecidable in general.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383280"/>
            <a:ext cx="8229600" cy="777240"/>
          </a:xfrm>
          <a:prstGeom prst="rect">
            <a:avLst/>
          </a:prstGeom>
          <a:solidFill>
            <a:srgbClr val="FAFBFD"/>
          </a:solidFill>
          <a:ln w="9525">
            <a:solidFill>
              <a:srgbClr val="EDEFF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3383280"/>
            <a:ext cx="54864" cy="777240"/>
          </a:xfrm>
          <a:prstGeom prst="rect">
            <a:avLst/>
          </a:prstGeom>
          <a:solidFill>
            <a:srgbClr val="6C5B7B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347472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C5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377440" y="3474720"/>
            <a:ext cx="6126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millions of lines of code in minutes, not hours.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4251960"/>
            <a:ext cx="8229600" cy="457200"/>
          </a:xfrm>
          <a:prstGeom prst="rect">
            <a:avLst/>
          </a:prstGeom>
          <a:solidFill>
            <a:srgbClr val="FAFBFD"/>
          </a:solidFill>
          <a:ln w="9525">
            <a:solidFill>
              <a:srgbClr val="EDEFF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42519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practice: most useful analyses are sound but incomplete — they over-approximate.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Abstract Interpretation in One Slide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800600"/>
            <a:ext cx="64008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CS292C  ·  Formal Methods for Agentic Programming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800600"/>
            <a:ext cx="6400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3931920" cy="1828800"/>
          </a:xfrm>
          <a:prstGeom prst="rect">
            <a:avLst/>
          </a:prstGeom>
          <a:solidFill>
            <a:srgbClr val="FAFBFD"/>
          </a:solidFill>
          <a:ln w="9525">
            <a:solidFill>
              <a:srgbClr val="EDEFF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005840"/>
            <a:ext cx="54864" cy="18288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0972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Concrete Semantics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" y="146304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possible program states at each point.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Infinite, uncomputable.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21488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∈ {3, 7, 15, 42, ...}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754880" y="1005840"/>
            <a:ext cx="3931920" cy="1828800"/>
          </a:xfrm>
          <a:prstGeom prst="rect">
            <a:avLst/>
          </a:prstGeom>
          <a:solidFill>
            <a:srgbClr val="FAFBFD"/>
          </a:solidFill>
          <a:ln w="9525">
            <a:solidFill>
              <a:srgbClr val="EDEFF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54880" y="1005840"/>
            <a:ext cx="54864" cy="182880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3" name="Text 11"/>
          <p:cNvSpPr/>
          <p:nvPr/>
        </p:nvSpPr>
        <p:spPr>
          <a:xfrm>
            <a:off x="4983480" y="10972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Semantics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83480" y="146304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Finite approximation of all states.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Sound, computable, terminates.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83480" y="21488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∈ [3, 42]  →  x &gt; 0 ✓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114800" y="155448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457200" y="3108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Abstract Domains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57200" y="3566160"/>
            <a:ext cx="1920240" cy="777240"/>
          </a:xfrm>
          <a:prstGeom prst="rect">
            <a:avLst/>
          </a:prstGeom>
          <a:solidFill>
            <a:srgbClr val="FAFBFD"/>
          </a:solidFill>
          <a:ln w="9525">
            <a:solidFill>
              <a:srgbClr val="EDEFF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36118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Intervals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94360" y="39319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[lo, hi]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2606040" y="3566160"/>
            <a:ext cx="1920240" cy="777240"/>
          </a:xfrm>
          <a:prstGeom prst="rect">
            <a:avLst/>
          </a:prstGeom>
          <a:solidFill>
            <a:srgbClr val="FAFBFD"/>
          </a:solidFill>
          <a:ln w="9525">
            <a:solidFill>
              <a:srgbClr val="EDEFF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0" y="36118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743200" y="39319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{+, −, 0}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754880" y="3566160"/>
            <a:ext cx="1920240" cy="777240"/>
          </a:xfrm>
          <a:prstGeom prst="rect">
            <a:avLst/>
          </a:prstGeom>
          <a:solidFill>
            <a:srgbClr val="FAFBFD"/>
          </a:solidFill>
          <a:ln w="9525">
            <a:solidFill>
              <a:srgbClr val="EDEFF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92040" y="36118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Parity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892040" y="39319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{even, odd}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903720" y="3566160"/>
            <a:ext cx="1920240" cy="777240"/>
          </a:xfrm>
          <a:prstGeom prst="rect">
            <a:avLst/>
          </a:prstGeom>
          <a:solidFill>
            <a:srgbClr val="FAFBFD"/>
          </a:solidFill>
          <a:ln w="9525">
            <a:solidFill>
              <a:srgbClr val="EDEFF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040880" y="36118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Taint Labels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040880" y="39319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{tainted, clean}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This Matters for Agents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800600"/>
            <a:ext cx="64008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CS292C  ·  Formal Methods for Agentic Programming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800600"/>
            <a:ext cx="6400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8229600" cy="731520"/>
          </a:xfrm>
          <a:prstGeom prst="rect">
            <a:avLst/>
          </a:prstGeom>
          <a:solidFill>
            <a:srgbClr val="FAFBFD"/>
          </a:solidFill>
          <a:ln w="9525">
            <a:solidFill>
              <a:srgbClr val="EDEFF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960120"/>
            <a:ext cx="54864" cy="73152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0058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Code, Real Bugs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926080" y="1005840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systems are built from Python/TypeScript: API clients, tool dispatchers, output parsers. This is ordinary code we can analyze.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solidFill>
            <a:srgbClr val="FAFBFD"/>
          </a:solidFill>
          <a:ln w="9525">
            <a:solidFill>
              <a:srgbClr val="EDEFF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828800"/>
            <a:ext cx="54864" cy="73152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18745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Untrusted Data Flows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926080" y="1874520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outputs and user messages flow into dangerous operations: subprocess.run, file writes, HTTP requests — classic injection patterns.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697480"/>
            <a:ext cx="8229600" cy="731520"/>
          </a:xfrm>
          <a:prstGeom prst="rect">
            <a:avLst/>
          </a:prstGeom>
          <a:solidFill>
            <a:srgbClr val="FAFBFD"/>
          </a:solidFill>
          <a:ln w="9525">
            <a:solidFill>
              <a:srgbClr val="EDEFF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697480"/>
            <a:ext cx="54864" cy="73152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27432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Automatic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926080" y="2743200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annotations needed. Run taint analysis on the entire codebase and get results in minutes.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566160"/>
            <a:ext cx="8229600" cy="731520"/>
          </a:xfrm>
          <a:prstGeom prst="rect">
            <a:avLst/>
          </a:prstGeom>
          <a:solidFill>
            <a:srgbClr val="FAFBFD"/>
          </a:solidFill>
          <a:ln w="9525">
            <a:solidFill>
              <a:srgbClr val="EDEFF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3566160"/>
            <a:ext cx="54864" cy="73152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36118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to Frameworks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926080" y="3611880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frameworks (LangChain, CrewAI, Claude SDK) have millions of lines. Static analysis handles this.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II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15544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Classical Dataflow Analysis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8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Computing facts about programs via fixed-point iteration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651760"/>
            <a:ext cx="1828800" cy="36576"/>
          </a:xfrm>
          <a:prstGeom prst="rect">
            <a:avLst/>
          </a:prstGeom>
          <a:solidFill>
            <a:srgbClr val="0E7C7B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Control Flow Graphs (CFGs)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800600"/>
            <a:ext cx="64008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CS292C  ·  Formal Methods for Agentic Programming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800600"/>
            <a:ext cx="6400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solidFill>
            <a:srgbClr val="EBF5F5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91440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program as a directed graph: nodes = basic blocks, edges = control flow (branches, loops)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3931920" cy="2743200"/>
          </a:xfrm>
          <a:prstGeom prst="rect">
            <a:avLst/>
          </a:prstGeom>
          <a:solidFill>
            <a:srgbClr val="FAFBFD"/>
          </a:solidFill>
          <a:ln w="9525">
            <a:solidFill>
              <a:srgbClr val="EDEFF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691640"/>
            <a:ext cx="54864" cy="2743200"/>
          </a:xfrm>
          <a:prstGeom prst="rect">
            <a:avLst/>
          </a:prstGeom>
          <a:solidFill>
            <a:srgbClr val="6C5B7B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17830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C5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Program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5800" y="2148840"/>
            <a:ext cx="3474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input()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x &gt; 0: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y = x * 2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y = 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print(y)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754880" y="1691640"/>
            <a:ext cx="3931920" cy="2743200"/>
          </a:xfrm>
          <a:prstGeom prst="rect">
            <a:avLst/>
          </a:prstGeom>
          <a:solidFill>
            <a:srgbClr val="FAFBFD"/>
          </a:solidFill>
          <a:ln w="9525">
            <a:solidFill>
              <a:srgbClr val="EDEFF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54880" y="1691640"/>
            <a:ext cx="54864" cy="274320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4" name="Text 12"/>
          <p:cNvSpPr/>
          <p:nvPr/>
        </p:nvSpPr>
        <p:spPr>
          <a:xfrm>
            <a:off x="4983480" y="17830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Flow Graph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669280" y="2240280"/>
            <a:ext cx="219456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0" y="22402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B1: x = input()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126480" y="2697480"/>
            <a:ext cx="128016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26480" y="269748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&gt; 0 ?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120640" y="3246120"/>
            <a:ext cx="16459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20640" y="32461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B2: y = x*2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949440" y="3246120"/>
            <a:ext cx="146304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49440" y="32461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B3: y = 0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669280" y="3794760"/>
            <a:ext cx="219456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9280" y="37947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B4: print(y)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Dataflow Analysis Framework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800600"/>
            <a:ext cx="64008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CS292C  ·  Formal Methods for Agentic Programming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800600"/>
            <a:ext cx="6400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ingredients for any dataflow analysis: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1920240" cy="2286000"/>
          </a:xfrm>
          <a:prstGeom prst="rect">
            <a:avLst/>
          </a:prstGeom>
          <a:solidFill>
            <a:srgbClr val="FAFBFD"/>
          </a:solidFill>
          <a:ln w="9525">
            <a:solidFill>
              <a:srgbClr val="EDEFF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417320"/>
            <a:ext cx="54864" cy="228600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9" name="Shape 7"/>
          <p:cNvSpPr/>
          <p:nvPr/>
        </p:nvSpPr>
        <p:spPr>
          <a:xfrm>
            <a:off x="594360" y="1508760"/>
            <a:ext cx="365760" cy="36576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508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51560" y="15087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(D)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94360" y="2011680"/>
            <a:ext cx="1645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set of abstract values being tracked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(e.g., sets of definitions, taint labels)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606040" y="1417320"/>
            <a:ext cx="1920240" cy="2286000"/>
          </a:xfrm>
          <a:prstGeom prst="rect">
            <a:avLst/>
          </a:prstGeom>
          <a:solidFill>
            <a:srgbClr val="FAFBFD"/>
          </a:solidFill>
          <a:ln w="9525">
            <a:solidFill>
              <a:srgbClr val="EDEFF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606040" y="1417320"/>
            <a:ext cx="54864" cy="228600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5" name="Shape 13"/>
          <p:cNvSpPr/>
          <p:nvPr/>
        </p:nvSpPr>
        <p:spPr>
          <a:xfrm>
            <a:off x="2743200" y="1508760"/>
            <a:ext cx="365760" cy="36576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16" name="Text 14"/>
          <p:cNvSpPr/>
          <p:nvPr/>
        </p:nvSpPr>
        <p:spPr>
          <a:xfrm>
            <a:off x="2743200" y="1508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200400" y="15087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743200" y="2011680"/>
            <a:ext cx="1645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(entry → exit) or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backward (exit → entry)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1417320"/>
            <a:ext cx="1920240" cy="2286000"/>
          </a:xfrm>
          <a:prstGeom prst="rect">
            <a:avLst/>
          </a:prstGeom>
          <a:solidFill>
            <a:srgbClr val="FAFBFD"/>
          </a:solidFill>
          <a:ln w="9525">
            <a:solidFill>
              <a:srgbClr val="EDEFF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54880" y="1417320"/>
            <a:ext cx="54864" cy="228600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21" name="Shape 19"/>
          <p:cNvSpPr/>
          <p:nvPr/>
        </p:nvSpPr>
        <p:spPr>
          <a:xfrm>
            <a:off x="4892040" y="1508760"/>
            <a:ext cx="365760" cy="36576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22" name="Text 20"/>
          <p:cNvSpPr/>
          <p:nvPr/>
        </p:nvSpPr>
        <p:spPr>
          <a:xfrm>
            <a:off x="4892040" y="1508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349240" y="15087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Functions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92040" y="2011680"/>
            <a:ext cx="1645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each statement transforms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abstract state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903720" y="1417320"/>
            <a:ext cx="1920240" cy="2286000"/>
          </a:xfrm>
          <a:prstGeom prst="rect">
            <a:avLst/>
          </a:prstGeom>
          <a:solidFill>
            <a:srgbClr val="FAFBFD"/>
          </a:solidFill>
          <a:ln w="9525">
            <a:solidFill>
              <a:srgbClr val="EDEFF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903720" y="1417320"/>
            <a:ext cx="54864" cy="228600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27" name="Shape 25"/>
          <p:cNvSpPr/>
          <p:nvPr/>
        </p:nvSpPr>
        <p:spPr>
          <a:xfrm>
            <a:off x="7040880" y="1508760"/>
            <a:ext cx="365760" cy="36576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28" name="Text 26"/>
          <p:cNvSpPr/>
          <p:nvPr/>
        </p:nvSpPr>
        <p:spPr>
          <a:xfrm>
            <a:off x="7040880" y="1508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498080" y="15087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/ Join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040880" y="2011680"/>
            <a:ext cx="1645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combine information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merge points (union, intersection)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57200" y="3931920"/>
            <a:ext cx="8229600" cy="731520"/>
          </a:xfrm>
          <a:prstGeom prst="rect">
            <a:avLst/>
          </a:prstGeom>
          <a:solidFill>
            <a:srgbClr val="EBF5F5"/>
          </a:solidFill>
          <a:ln/>
        </p:spPr>
      </p:sp>
      <p:sp>
        <p:nvSpPr>
          <p:cNvPr id="32" name="Text 30"/>
          <p:cNvSpPr/>
          <p:nvPr/>
        </p:nvSpPr>
        <p:spPr>
          <a:xfrm>
            <a:off x="640080" y="393192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Fixed-point computation: </a:t>
            </a:r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Iterate transfer functions over the CFG until nothing changes. Termination guaranteed if the domain has finite height.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Classic Analysis: Reaching Definitions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800600"/>
            <a:ext cx="64008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CS292C  ·  Formal Methods for Agentic Programming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800600"/>
            <a:ext cx="6400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8229600" cy="502920"/>
          </a:xfrm>
          <a:prstGeom prst="rect">
            <a:avLst/>
          </a:prstGeom>
          <a:solidFill>
            <a:srgbClr val="EBF5F5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9144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“Which assignments to variable x could reach this program point?”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600200"/>
            <a:ext cx="8229600" cy="548640"/>
          </a:xfrm>
          <a:prstGeom prst="rect">
            <a:avLst/>
          </a:prstGeom>
          <a:solidFill>
            <a:srgbClr val="FAFBFD"/>
          </a:solidFill>
          <a:ln w="9525">
            <a:solidFill>
              <a:srgbClr val="EDEFF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600200"/>
            <a:ext cx="54864" cy="54864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16459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194560" y="1645920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of (variable, definition-site) pairs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200" y="2240280"/>
            <a:ext cx="8229600" cy="548640"/>
          </a:xfrm>
          <a:prstGeom prst="rect">
            <a:avLst/>
          </a:prstGeom>
          <a:solidFill>
            <a:srgbClr val="FAFBFD"/>
          </a:solidFill>
          <a:ln w="9525">
            <a:solidFill>
              <a:srgbClr val="EDEFF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240280"/>
            <a:ext cx="54864" cy="54864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22860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194560" y="2286000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(from entry to exit)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57200" y="2880360"/>
            <a:ext cx="8229600" cy="548640"/>
          </a:xfrm>
          <a:prstGeom prst="rect">
            <a:avLst/>
          </a:prstGeom>
          <a:solidFill>
            <a:srgbClr val="FAFBFD"/>
          </a:solidFill>
          <a:ln w="9525">
            <a:solidFill>
              <a:srgbClr val="EDEFF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2880360"/>
            <a:ext cx="54864" cy="54864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29260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194560" y="2926080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GEN: add new definition;  KILL: remove old definitions of same variable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57200" y="3520440"/>
            <a:ext cx="8229600" cy="548640"/>
          </a:xfrm>
          <a:prstGeom prst="rect">
            <a:avLst/>
          </a:prstGeom>
          <a:solidFill>
            <a:srgbClr val="FAFBFD"/>
          </a:solidFill>
          <a:ln w="9525">
            <a:solidFill>
              <a:srgbClr val="EDEFF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3520440"/>
            <a:ext cx="54864" cy="54864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35661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194560" y="3566160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Union — a definition reaches a point if it reaches along any path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Applications: use-before-def detection, dead code elimination, constant propagation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Classic Analysis: Taint Tracking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800600"/>
            <a:ext cx="64008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CS292C  ·  Formal Methods for Agentic Programming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800600"/>
            <a:ext cx="6400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8229600" cy="502920"/>
          </a:xfrm>
          <a:prstGeom prst="rect">
            <a:avLst/>
          </a:prstGeom>
          <a:solidFill>
            <a:srgbClr val="EBF5F5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9144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“Can data from an untrusted source reach a security-sensitive sink?”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645920"/>
            <a:ext cx="2651760" cy="2468880"/>
          </a:xfrm>
          <a:prstGeom prst="rect">
            <a:avLst/>
          </a:prstGeom>
          <a:solidFill>
            <a:srgbClr val="FAFBFD"/>
          </a:solidFill>
          <a:ln w="9525">
            <a:solidFill>
              <a:srgbClr val="EDEFF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645920"/>
            <a:ext cx="54864" cy="246888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7373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0080" y="2148840"/>
            <a:ext cx="2286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 input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Network reads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Environment vars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 outputs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355848" y="1645920"/>
            <a:ext cx="2651760" cy="2468880"/>
          </a:xfrm>
          <a:prstGeom prst="rect">
            <a:avLst/>
          </a:prstGeom>
          <a:solidFill>
            <a:srgbClr val="FAFBFD"/>
          </a:solidFill>
          <a:ln w="9525">
            <a:solidFill>
              <a:srgbClr val="EDEFF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55848" y="1645920"/>
            <a:ext cx="54864" cy="246888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4" name="Text 12"/>
          <p:cNvSpPr/>
          <p:nvPr/>
        </p:nvSpPr>
        <p:spPr>
          <a:xfrm>
            <a:off x="3538728" y="17373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Propagation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538728" y="2148840"/>
            <a:ext cx="2286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is tainted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 = f(x)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∴ y is tainted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(unless sanitized)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54496" y="1645920"/>
            <a:ext cx="2651760" cy="2468880"/>
          </a:xfrm>
          <a:prstGeom prst="rect">
            <a:avLst/>
          </a:prstGeom>
          <a:solidFill>
            <a:srgbClr val="FAFBFD"/>
          </a:solidFill>
          <a:ln w="9525">
            <a:solidFill>
              <a:srgbClr val="EDEFF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54496" y="1645920"/>
            <a:ext cx="54864" cy="2468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8" name="Text 16"/>
          <p:cNvSpPr/>
          <p:nvPr/>
        </p:nvSpPr>
        <p:spPr>
          <a:xfrm>
            <a:off x="6437376" y="17373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Sinks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37376" y="2148840"/>
            <a:ext cx="2286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subprocess.run()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open() / write()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 queries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requests.post()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926080" y="25603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5852160" y="25603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Taint analysis is the core of tools like CodeQL, Pysa (Meta), and Semgrep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III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15544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Datalog: A Language for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Static Analysis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8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Declarative rules, automatic fixed-point computation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651760"/>
            <a:ext cx="1828800" cy="36576"/>
          </a:xfrm>
          <a:prstGeom prst="rect">
            <a:avLst/>
          </a:prstGeom>
          <a:solidFill>
            <a:srgbClr val="0E7C7B"/>
          </a:solidFill>
          <a:ln/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Datalog?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800600"/>
            <a:ext cx="64008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CS292C  ·  Formal Methods for Agentic Programming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800600"/>
            <a:ext cx="6400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8229600" cy="914400"/>
          </a:xfrm>
          <a:prstGeom prst="rect">
            <a:avLst/>
          </a:prstGeom>
          <a:solidFill>
            <a:srgbClr val="FAFBFD"/>
          </a:solidFill>
          <a:ln w="9525">
            <a:solidFill>
              <a:srgbClr val="EDEFF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005840"/>
            <a:ext cx="54864" cy="91440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09728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Fit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743200" y="1097280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Dataflow analysis = fixed-point computation over relations.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Datalog computes exactly this.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2057400"/>
            <a:ext cx="8229600" cy="914400"/>
          </a:xfrm>
          <a:prstGeom prst="rect">
            <a:avLst/>
          </a:prstGeom>
          <a:solidFill>
            <a:srgbClr val="FAFBFD"/>
          </a:solidFill>
          <a:ln w="9525">
            <a:solidFill>
              <a:srgbClr val="EDEFF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057400"/>
            <a:ext cx="54864" cy="91440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14884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Declarative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743200" y="2148840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what to compute, not how to iterate.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Separation of analysis spec from solver engine.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57200" y="3108960"/>
            <a:ext cx="8229600" cy="914400"/>
          </a:xfrm>
          <a:prstGeom prst="rect">
            <a:avLst/>
          </a:prstGeom>
          <a:solidFill>
            <a:srgbClr val="FAFBFD"/>
          </a:solidFill>
          <a:ln w="9525">
            <a:solidFill>
              <a:srgbClr val="EDEFF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108960"/>
            <a:ext cx="54864" cy="91440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320040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Adoption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743200" y="3200400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(Doop/Infer), GitHub (CodeQL), Google (Error Prone),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Souffle — all Datalog-based or Datalog-inspired.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57200" y="4114800"/>
            <a:ext cx="8229600" cy="548640"/>
          </a:xfrm>
          <a:prstGeom prst="rect">
            <a:avLst/>
          </a:prstGeom>
          <a:solidFill>
            <a:srgbClr val="EBF5F5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411480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Analogy: Just as Z3 lets us state VCs without implementing DPLL, Datalog lets us state analyses without implementing fixed-point iteration.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Datalog Basics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800600"/>
            <a:ext cx="64008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CS292C  ·  Formal Methods for Agentic Programming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800600"/>
            <a:ext cx="6400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3931920" cy="1188720"/>
          </a:xfrm>
          <a:prstGeom prst="rect">
            <a:avLst/>
          </a:prstGeom>
          <a:solidFill>
            <a:srgbClr val="FAFBFD"/>
          </a:solidFill>
          <a:ln w="9525">
            <a:solidFill>
              <a:srgbClr val="EDEFF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914400"/>
            <a:ext cx="54864" cy="118872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9601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" y="123444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tuples — the base data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" y="15544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edge(a, b).   source("input").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54880" y="914400"/>
            <a:ext cx="3931920" cy="1188720"/>
          </a:xfrm>
          <a:prstGeom prst="rect">
            <a:avLst/>
          </a:prstGeom>
          <a:solidFill>
            <a:srgbClr val="FAFBFD"/>
          </a:solidFill>
          <a:ln w="9525">
            <a:solidFill>
              <a:srgbClr val="EDEFF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54880" y="914400"/>
            <a:ext cx="54864" cy="118872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3" name="Text 11"/>
          <p:cNvSpPr/>
          <p:nvPr/>
        </p:nvSpPr>
        <p:spPr>
          <a:xfrm>
            <a:off x="4983480" y="9601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83480" y="123444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Horn clauses — derive new facts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83480" y="15544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path(X,Z) :- path(X,Y), edge(Y,Z).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2331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Properties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48640" y="2862072"/>
            <a:ext cx="274320" cy="27432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28620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60120" y="27889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minimal model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200400" y="27889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 fixed point — no ambiguity in the result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3364992"/>
            <a:ext cx="274320" cy="27432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33649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60120" y="32918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Guaranteed termination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200400" y="329184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function symbols, restricted negation → always terminates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3867912"/>
            <a:ext cx="274320" cy="27432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38679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60120" y="37947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Monotonic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200400" y="379476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facts can only derive more facts, never retract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Datalog Example: Transitive Closure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800600"/>
            <a:ext cx="64008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CS292C  ·  Formal Methods for Agentic Programming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800600"/>
            <a:ext cx="6400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3931920" cy="1554480"/>
          </a:xfrm>
          <a:prstGeom prst="rect">
            <a:avLst/>
          </a:prstGeom>
          <a:solidFill>
            <a:srgbClr val="FAFBFD"/>
          </a:solidFill>
          <a:ln w="9525">
            <a:solidFill>
              <a:srgbClr val="EDEFF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914400"/>
            <a:ext cx="54864" cy="155448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0058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Facts (edges)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137160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edge(a, b).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edge(b, c).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edge(c, d).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754880" y="914400"/>
            <a:ext cx="3931920" cy="1554480"/>
          </a:xfrm>
          <a:prstGeom prst="rect">
            <a:avLst/>
          </a:prstGeom>
          <a:solidFill>
            <a:srgbClr val="FAFBFD"/>
          </a:solidFill>
          <a:ln w="9525">
            <a:solidFill>
              <a:srgbClr val="EDEFF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914400"/>
            <a:ext cx="54864" cy="155448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2" name="Text 10"/>
          <p:cNvSpPr/>
          <p:nvPr/>
        </p:nvSpPr>
        <p:spPr>
          <a:xfrm>
            <a:off x="4983480" y="10058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Datalog Rules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83480" y="137160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path(X, Y) :- edge(X, Y).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path(X, Z) :- path(X, Y),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edge(Y, Z).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2743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Fixed-Point Iteration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57200" y="3200400"/>
            <a:ext cx="8229600" cy="384048"/>
          </a:xfrm>
          <a:prstGeom prst="rect">
            <a:avLst/>
          </a:prstGeom>
          <a:solidFill>
            <a:srgbClr val="FAFBFD"/>
          </a:solidFill>
          <a:ln w="6350">
            <a:solidFill>
              <a:srgbClr val="EDEFF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20040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 1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554480" y="320040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path(a,b)  path(b,c)  path(c,d)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00800" y="320040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edges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639312"/>
            <a:ext cx="8229600" cy="384048"/>
          </a:xfrm>
          <a:prstGeom prst="rect">
            <a:avLst/>
          </a:prstGeom>
          <a:solidFill>
            <a:srgbClr val="FAFBFD"/>
          </a:solidFill>
          <a:ln w="6350">
            <a:solidFill>
              <a:srgbClr val="EDEFF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3639312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 2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554480" y="3639312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path(a,c)  path(b,d)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400800" y="363931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a→b→c, b→c→d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4078224"/>
            <a:ext cx="8229600" cy="384048"/>
          </a:xfrm>
          <a:prstGeom prst="rect">
            <a:avLst/>
          </a:prstGeom>
          <a:solidFill>
            <a:srgbClr val="FAFBFD"/>
          </a:solidFill>
          <a:ln w="6350">
            <a:solidFill>
              <a:srgbClr val="EDEFF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4078224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 3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554480" y="4078224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path(a,d)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400800" y="4078224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a→b→c→d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4517136"/>
            <a:ext cx="8229600" cy="384048"/>
          </a:xfrm>
          <a:prstGeom prst="rect">
            <a:avLst/>
          </a:prstGeom>
          <a:solidFill>
            <a:srgbClr val="EBF5F5"/>
          </a:solidFill>
          <a:ln w="6350">
            <a:solidFill>
              <a:srgbClr val="EDEFF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4360" y="4517136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 4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554480" y="4517136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(no new facts — fixed point!)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6400800" y="4517136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Reaching Definitions in Datalog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800600"/>
            <a:ext cx="64008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CS292C  ·  Formal Methods for Agentic Programming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800600"/>
            <a:ext cx="6400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3931920" cy="1828800"/>
          </a:xfrm>
          <a:prstGeom prst="rect">
            <a:avLst/>
          </a:prstGeom>
          <a:solidFill>
            <a:srgbClr val="FAFBFD"/>
          </a:solidFill>
          <a:ln w="9525">
            <a:solidFill>
              <a:srgbClr val="EDEFF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914400"/>
            <a:ext cx="54864" cy="182880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0058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Relations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137160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assign(Var, Def)   — definition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succ(From, To)     — CFG edge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kills(Var, Point)  — redefinition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754880" y="914400"/>
            <a:ext cx="3931920" cy="1828800"/>
          </a:xfrm>
          <a:prstGeom prst="rect">
            <a:avLst/>
          </a:prstGeom>
          <a:solidFill>
            <a:srgbClr val="FAFBFD"/>
          </a:solidFill>
          <a:ln w="9525">
            <a:solidFill>
              <a:srgbClr val="EDEFF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914400"/>
            <a:ext cx="54864" cy="182880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2" name="Text 10"/>
          <p:cNvSpPr/>
          <p:nvPr/>
        </p:nvSpPr>
        <p:spPr>
          <a:xfrm>
            <a:off x="4983480" y="10058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Rules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83480" y="1371600"/>
            <a:ext cx="3474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reaches(V, D, D) :-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assign(V, D).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reaches(V, D, Q) :-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reaches(V, D, P),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succ(P, Q),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!kills(V, Q).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017520"/>
            <a:ext cx="8229600" cy="1371600"/>
          </a:xfrm>
          <a:prstGeom prst="rect">
            <a:avLst/>
          </a:prstGeom>
          <a:solidFill>
            <a:srgbClr val="FAFBFD"/>
          </a:solidFill>
          <a:ln w="9525">
            <a:solidFill>
              <a:srgbClr val="EDEFF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31089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Datalog vs. Imperative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" y="3520440"/>
            <a:ext cx="3657600" cy="731520"/>
          </a:xfrm>
          <a:prstGeom prst="rect">
            <a:avLst/>
          </a:prstGeom>
          <a:solidFill>
            <a:srgbClr val="FAFBFD"/>
          </a:solidFill>
          <a:ln w="9525">
            <a:solidFill>
              <a:srgbClr val="EDEFF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3520440"/>
            <a:ext cx="54864" cy="73152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352044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rules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2011680" y="352044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Datalog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114800" y="352044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754880" y="3520440"/>
            <a:ext cx="3657600" cy="731520"/>
          </a:xfrm>
          <a:prstGeom prst="rect">
            <a:avLst/>
          </a:prstGeom>
          <a:solidFill>
            <a:srgbClr val="FAFBFD"/>
          </a:solidFill>
          <a:ln w="9525">
            <a:solidFill>
              <a:srgbClr val="EDEFF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54880" y="3520440"/>
            <a:ext cx="54864" cy="73152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23" name="Text 21"/>
          <p:cNvSpPr/>
          <p:nvPr/>
        </p:nvSpPr>
        <p:spPr>
          <a:xfrm>
            <a:off x="4937760" y="352044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 lines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6720840" y="352044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Python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Taint Analysis in Datalog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800600"/>
            <a:ext cx="64008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CS292C  ·  Formal Methods for Agentic Programming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800600"/>
            <a:ext cx="6400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8229600" cy="25603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0058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Complete Analysis — 3 Rules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71600" y="1417320"/>
            <a:ext cx="6858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tainted(X) :- source(X).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tainted(Y) :- tainted(X),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assign(Y, X),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!sanitize(Y).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alarm(V)   :- tainted(V), sink(V).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3657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Relations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4023360"/>
            <a:ext cx="1920240" cy="640080"/>
          </a:xfrm>
          <a:prstGeom prst="rect">
            <a:avLst/>
          </a:prstGeom>
          <a:solidFill>
            <a:srgbClr val="FAFBFD"/>
          </a:solidFill>
          <a:ln w="9525">
            <a:solidFill>
              <a:srgbClr val="EDEFF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404164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source(V)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43434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untrusted data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606040" y="4023360"/>
            <a:ext cx="1920240" cy="640080"/>
          </a:xfrm>
          <a:prstGeom prst="rect">
            <a:avLst/>
          </a:prstGeom>
          <a:solidFill>
            <a:srgbClr val="FAFBFD"/>
          </a:solidFill>
          <a:ln w="9525">
            <a:solidFill>
              <a:srgbClr val="EDEFF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97480" y="404164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sink(V)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697480" y="43434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dangerous op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0" y="4023360"/>
            <a:ext cx="1920240" cy="640080"/>
          </a:xfrm>
          <a:prstGeom prst="rect">
            <a:avLst/>
          </a:prstGeom>
          <a:solidFill>
            <a:srgbClr val="FAFBFD"/>
          </a:solidFill>
          <a:ln w="9525">
            <a:solidFill>
              <a:srgbClr val="EDEFF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0" y="404164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assign(To,From)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46320" y="43434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903720" y="4023360"/>
            <a:ext cx="1920240" cy="640080"/>
          </a:xfrm>
          <a:prstGeom prst="rect">
            <a:avLst/>
          </a:prstGeom>
          <a:solidFill>
            <a:srgbClr val="FAFBFD"/>
          </a:solidFill>
          <a:ln w="9525">
            <a:solidFill>
              <a:srgbClr val="EDEFF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95160" y="404164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sanitize(V)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995160" y="43434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 data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Running Datalog: Soufflé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800600"/>
            <a:ext cx="64008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CS292C  ·  Formal Methods for Agentic Programming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800600"/>
            <a:ext cx="6400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8229600" cy="502920"/>
          </a:xfrm>
          <a:prstGeom prst="rect">
            <a:avLst/>
          </a:prstGeom>
          <a:solidFill>
            <a:srgbClr val="EBF5F5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9144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Soufflé: high-performance Datalog engine — compiles Datalog to parallel C++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645920"/>
            <a:ext cx="1920240" cy="2011680"/>
          </a:xfrm>
          <a:prstGeom prst="rect">
            <a:avLst/>
          </a:prstGeom>
          <a:solidFill>
            <a:srgbClr val="FAFBFD"/>
          </a:solidFill>
          <a:ln w="9525">
            <a:solidFill>
              <a:srgbClr val="EDEFF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645920"/>
            <a:ext cx="54864" cy="201168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7373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94360" y="2148840"/>
            <a:ext cx="1645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files or inline facts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representing the program’s CFG and data flow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606040" y="1645920"/>
            <a:ext cx="1920240" cy="2011680"/>
          </a:xfrm>
          <a:prstGeom prst="rect">
            <a:avLst/>
          </a:prstGeom>
          <a:solidFill>
            <a:srgbClr val="FAFBFD"/>
          </a:solidFill>
          <a:ln w="9525">
            <a:solidFill>
              <a:srgbClr val="EDEFF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606040" y="1645920"/>
            <a:ext cx="54864" cy="201168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4" name="Text 12"/>
          <p:cNvSpPr/>
          <p:nvPr/>
        </p:nvSpPr>
        <p:spPr>
          <a:xfrm>
            <a:off x="2743200" y="17373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Compilation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743200" y="2148840"/>
            <a:ext cx="1645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Datalog rules → C++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Massively parallel evaluation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multi-core machines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1645920"/>
            <a:ext cx="1920240" cy="2011680"/>
          </a:xfrm>
          <a:prstGeom prst="rect">
            <a:avLst/>
          </a:prstGeom>
          <a:solidFill>
            <a:srgbClr val="FAFBFD"/>
          </a:solidFill>
          <a:ln w="9525">
            <a:solidFill>
              <a:srgbClr val="EDEFF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54880" y="1645920"/>
            <a:ext cx="54864" cy="201168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8" name="Text 16"/>
          <p:cNvSpPr/>
          <p:nvPr/>
        </p:nvSpPr>
        <p:spPr>
          <a:xfrm>
            <a:off x="4892040" y="17373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92040" y="2148840"/>
            <a:ext cx="1645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alarm relation listing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analysis results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903720" y="1645920"/>
            <a:ext cx="1920240" cy="2011680"/>
          </a:xfrm>
          <a:prstGeom prst="rect">
            <a:avLst/>
          </a:prstGeom>
          <a:solidFill>
            <a:srgbClr val="FAFBFD"/>
          </a:solidFill>
          <a:ln w="9525">
            <a:solidFill>
              <a:srgbClr val="EDEFF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903720" y="1645920"/>
            <a:ext cx="54864" cy="201168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22" name="Text 20"/>
          <p:cNvSpPr/>
          <p:nvPr/>
        </p:nvSpPr>
        <p:spPr>
          <a:xfrm>
            <a:off x="7040880" y="17373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040880" y="2148840"/>
            <a:ext cx="1645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Millions of facts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analyzed in seconds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(entire JDK, Android apps)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3931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changing the analysis = changing a few Datalog rules, not rewriting an engine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IV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15544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Points-To Analysis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4 Rules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8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canonical Datalog application — and the foundation of all serious static analysis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651760"/>
            <a:ext cx="1828800" cy="36576"/>
          </a:xfrm>
          <a:prstGeom prst="rect">
            <a:avLst/>
          </a:prstGeom>
          <a:solidFill>
            <a:srgbClr val="0E7C7B"/>
          </a:solidFill>
          <a:ln/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Pointers Make Everything Hard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800600"/>
            <a:ext cx="64008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CS292C  ·  Formal Methods for Agentic Programming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800600"/>
            <a:ext cx="6400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91440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fundamental question: when I call x.foo(), which foo actually runs?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8229600" cy="731520"/>
          </a:xfrm>
          <a:prstGeom prst="rect">
            <a:avLst/>
          </a:prstGeom>
          <a:solidFill>
            <a:srgbClr val="FAFBFD"/>
          </a:solidFill>
          <a:ln w="9525">
            <a:solidFill>
              <a:srgbClr val="EDEFF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691640"/>
            <a:ext cx="54864" cy="73152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17373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Objects are heap-allocated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83280" y="173736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could point to any subclass — which method gets dispatched?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200" y="2560320"/>
            <a:ext cx="8229600" cy="731520"/>
          </a:xfrm>
          <a:prstGeom prst="rect">
            <a:avLst/>
          </a:prstGeom>
          <a:solidFill>
            <a:srgbClr val="FAFBFD"/>
          </a:solidFill>
          <a:ln w="9525">
            <a:solidFill>
              <a:srgbClr val="EDEFF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560320"/>
            <a:ext cx="54864" cy="73152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26060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call graph without it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83280" y="260604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knowing what x points to, every interprocedural analysis is useless.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57200" y="3429000"/>
            <a:ext cx="8229600" cy="731520"/>
          </a:xfrm>
          <a:prstGeom prst="rect">
            <a:avLst/>
          </a:prstGeom>
          <a:solidFill>
            <a:srgbClr val="FAFBFD"/>
          </a:solidFill>
          <a:ln w="9525">
            <a:solidFill>
              <a:srgbClr val="EDEFF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429000"/>
            <a:ext cx="54864" cy="73152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34747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Points-to is foundational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383280" y="347472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Taint analysis, typestate, information flow — all need a call graph. Points-to builds it.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57200" y="4206240"/>
            <a:ext cx="8229600" cy="502920"/>
          </a:xfrm>
          <a:prstGeom prst="rect">
            <a:avLst/>
          </a:prstGeom>
          <a:solidFill>
            <a:srgbClr val="EBF5F5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2062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good news: Andersen’s points-to analysis fits in 4 lines of Datalog.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Kinds of Pointer Statements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800600"/>
            <a:ext cx="64008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CS292C  ·  Formal Methods for Agentic Programming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800600"/>
            <a:ext cx="6400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pointer-manipulating program decomposes into four statement types: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8229600" cy="685800"/>
          </a:xfrm>
          <a:prstGeom prst="rect">
            <a:avLst/>
          </a:prstGeom>
          <a:solidFill>
            <a:srgbClr val="FAFBFD"/>
          </a:solidFill>
          <a:ln w="9525">
            <a:solidFill>
              <a:srgbClr val="EDEFF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371600"/>
            <a:ext cx="54864" cy="68580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9" name="Shape 7"/>
          <p:cNvSpPr/>
          <p:nvPr/>
        </p:nvSpPr>
        <p:spPr>
          <a:xfrm>
            <a:off x="640080" y="1527048"/>
            <a:ext cx="365760" cy="36576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527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43000" y="141732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834640" y="141732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new T()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029200" y="141732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points to a fresh object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194560"/>
            <a:ext cx="8229600" cy="685800"/>
          </a:xfrm>
          <a:prstGeom prst="rect">
            <a:avLst/>
          </a:prstGeom>
          <a:solidFill>
            <a:srgbClr val="FAFBFD"/>
          </a:solidFill>
          <a:ln w="9525">
            <a:solidFill>
              <a:srgbClr val="EDEFF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194560"/>
            <a:ext cx="54864" cy="68580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6" name="Shape 14"/>
          <p:cNvSpPr/>
          <p:nvPr/>
        </p:nvSpPr>
        <p:spPr>
          <a:xfrm>
            <a:off x="640080" y="2350008"/>
            <a:ext cx="365760" cy="36576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23500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43000" y="224028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834640" y="224028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y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029200" y="224028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points to whatever y points to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017520"/>
            <a:ext cx="8229600" cy="685800"/>
          </a:xfrm>
          <a:prstGeom prst="rect">
            <a:avLst/>
          </a:prstGeom>
          <a:solidFill>
            <a:srgbClr val="FAFBFD"/>
          </a:solidFill>
          <a:ln w="9525">
            <a:solidFill>
              <a:srgbClr val="EDEFF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3017520"/>
            <a:ext cx="54864" cy="685800"/>
          </a:xfrm>
          <a:prstGeom prst="rect">
            <a:avLst/>
          </a:prstGeom>
          <a:solidFill>
            <a:srgbClr val="6C5B7B"/>
          </a:solidFill>
          <a:ln/>
        </p:spPr>
      </p:sp>
      <p:sp>
        <p:nvSpPr>
          <p:cNvPr id="23" name="Shape 21"/>
          <p:cNvSpPr/>
          <p:nvPr/>
        </p:nvSpPr>
        <p:spPr>
          <a:xfrm>
            <a:off x="640080" y="3172968"/>
            <a:ext cx="365760" cy="365760"/>
          </a:xfrm>
          <a:prstGeom prst="ellipse">
            <a:avLst/>
          </a:prstGeom>
          <a:solidFill>
            <a:srgbClr val="6C5B7B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3172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143000" y="306324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C5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Store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2834640" y="306324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x.f = y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029200" y="306324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f-field of x’s object points to y’s target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" y="3840480"/>
            <a:ext cx="8229600" cy="685800"/>
          </a:xfrm>
          <a:prstGeom prst="rect">
            <a:avLst/>
          </a:prstGeom>
          <a:solidFill>
            <a:srgbClr val="FAFBFD"/>
          </a:solidFill>
          <a:ln w="9525">
            <a:solidFill>
              <a:srgbClr val="EDEFF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" y="3840480"/>
            <a:ext cx="54864" cy="6858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0" name="Shape 28"/>
          <p:cNvSpPr/>
          <p:nvPr/>
        </p:nvSpPr>
        <p:spPr>
          <a:xfrm>
            <a:off x="640080" y="3995928"/>
            <a:ext cx="365760" cy="36576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" y="39959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143000" y="388620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Load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2834640" y="388620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y.f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5029200" y="388620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points to what’s in f-field of y’s target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Worked Example: A Java Snippet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800600"/>
            <a:ext cx="64008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CS292C  ·  Formal Methods for Agentic Programming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800600"/>
            <a:ext cx="6400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3931920" cy="3017520"/>
          </a:xfrm>
          <a:prstGeom prst="rect">
            <a:avLst/>
          </a:prstGeom>
          <a:solidFill>
            <a:srgbClr val="FAFBFD"/>
          </a:solidFill>
          <a:ln w="9525">
            <a:solidFill>
              <a:srgbClr val="EDEFF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914400"/>
            <a:ext cx="54864" cy="3017520"/>
          </a:xfrm>
          <a:prstGeom prst="rect">
            <a:avLst/>
          </a:prstGeom>
          <a:solidFill>
            <a:srgbClr val="6C5B7B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0058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C5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Code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1417320"/>
            <a:ext cx="3474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a = new A();     // alloc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b = new B();     // alloc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a.f = b;           // store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 c = a.f;         // load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 d = c;           // copy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d.run();           // call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914400"/>
            <a:ext cx="3931920" cy="3017520"/>
          </a:xfrm>
          <a:prstGeom prst="rect">
            <a:avLst/>
          </a:prstGeom>
          <a:solidFill>
            <a:srgbClr val="FAFBFD"/>
          </a:solidFill>
          <a:ln w="9525">
            <a:solidFill>
              <a:srgbClr val="EDEFF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914400"/>
            <a:ext cx="54864" cy="301752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2" name="Text 10"/>
          <p:cNvSpPr/>
          <p:nvPr/>
        </p:nvSpPr>
        <p:spPr>
          <a:xfrm>
            <a:off x="4983480" y="10058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Extracted Datalog Facts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83480" y="1417320"/>
            <a:ext cx="3474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alloc(a, obj₁).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alloc(b, obj₂).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store(a, f, b).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load(c, a, f).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assign(d, c).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4114800"/>
            <a:ext cx="8229600" cy="5486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411480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Question: What does d point to?  →  Which run() gets called?</a:t>
            </a:r>
            <a:endParaRPr lang="en-US" sz="15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Andersen’s Analysis: 4 Datalog Rules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800600"/>
            <a:ext cx="64008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CS292C  ·  Formal Methods for Agentic Programming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800600"/>
            <a:ext cx="6400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868680"/>
            <a:ext cx="8229600" cy="32004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9601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Complete Points-To Analysis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46304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88720" y="1463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pointsTo(V, O)          :- alloc(V, O).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0" y="14630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5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allocation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192024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88720" y="1920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pointsTo(V, O)          :- assign(V, W), pointsTo(W, O).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858000" y="19202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5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copy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2960" y="242316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88720" y="24231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fieldPointsTo(O, F, O2) :- store(V, F, W),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88720" y="2697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pointsTo(V, O), pointsTo(W, O2).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858000" y="24231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5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store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22960" y="315468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88720" y="31546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pointsTo(V, O)          :- load(V, W, F),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88720" y="34290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pointsTo(W, O1), fieldPointsTo(O1, F, O).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858000" y="31546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5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load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4160520"/>
            <a:ext cx="8229600" cy="502920"/>
          </a:xfrm>
          <a:prstGeom prst="rect">
            <a:avLst/>
          </a:prstGeom>
          <a:solidFill>
            <a:srgbClr val="EBF5F5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41605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4 rules, run by Soufflé, analyze the entire JDK (200K+ classes) in minutes.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Tracing the Fixed Point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800600"/>
            <a:ext cx="64008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CS292C  ·  Formal Methods for Agentic Programming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800600"/>
            <a:ext cx="6400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Walking through our Java example: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8229600" cy="640080"/>
          </a:xfrm>
          <a:prstGeom prst="rect">
            <a:avLst/>
          </a:prstGeom>
          <a:solidFill>
            <a:srgbClr val="FAFBFD"/>
          </a:solidFill>
          <a:ln w="9525">
            <a:solidFill>
              <a:srgbClr val="EDEFF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280160"/>
            <a:ext cx="54864" cy="64008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32588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 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645920" y="132588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pointsTo(a, obj₁)    pointsTo(b, obj₂)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217920" y="13258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1: alloc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2057400"/>
            <a:ext cx="8229600" cy="640080"/>
          </a:xfrm>
          <a:prstGeom prst="rect">
            <a:avLst/>
          </a:prstGeom>
          <a:solidFill>
            <a:srgbClr val="FAFBFD"/>
          </a:solidFill>
          <a:ln w="9525">
            <a:solidFill>
              <a:srgbClr val="EDEFF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057400"/>
            <a:ext cx="54864" cy="64008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21031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 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645920" y="210312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fieldPointsTo(obj₁, f, obj₂)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17920" y="21031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3: a.f = b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57200" y="2834640"/>
            <a:ext cx="8229600" cy="640080"/>
          </a:xfrm>
          <a:prstGeom prst="rect">
            <a:avLst/>
          </a:prstGeom>
          <a:solidFill>
            <a:srgbClr val="FAFBFD"/>
          </a:solidFill>
          <a:ln w="9525">
            <a:solidFill>
              <a:srgbClr val="EDEFF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2834640"/>
            <a:ext cx="54864" cy="640080"/>
          </a:xfrm>
          <a:prstGeom prst="rect">
            <a:avLst/>
          </a:prstGeom>
          <a:solidFill>
            <a:srgbClr val="6C5B7B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28803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C5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 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645920" y="288036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pointsTo(c, obj₂)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217920" y="28803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4: c = a.f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57200" y="3611880"/>
            <a:ext cx="8229600" cy="640080"/>
          </a:xfrm>
          <a:prstGeom prst="rect">
            <a:avLst/>
          </a:prstGeom>
          <a:solidFill>
            <a:srgbClr val="FAFBFD"/>
          </a:solidFill>
          <a:ln w="9525">
            <a:solidFill>
              <a:srgbClr val="EDEFF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611880"/>
            <a:ext cx="54864" cy="6400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" y="36576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 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645920" y="365760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pointsTo(d, obj₂)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217920" y="36576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2: d = c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" y="44348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FDB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d points to obj₂ (a B instance)  →  d.run() resolves to B.run()</a:t>
            </a:r>
            <a:endParaRPr lang="en-US" sz="12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Points-To to Call Graphs to Everything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800600"/>
            <a:ext cx="64008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CS292C  ·  Formal Methods for Agentic Programming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800600"/>
            <a:ext cx="6400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2560320" cy="1645920"/>
          </a:xfrm>
          <a:prstGeom prst="rect">
            <a:avLst/>
          </a:prstGeom>
          <a:solidFill>
            <a:srgbClr val="FAFBFD"/>
          </a:solidFill>
          <a:ln w="9525">
            <a:solidFill>
              <a:srgbClr val="EDEFF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914400"/>
            <a:ext cx="54864" cy="164592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0058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Points-To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94360" y="169164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can each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point to?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474720" y="914400"/>
            <a:ext cx="2560320" cy="1645920"/>
          </a:xfrm>
          <a:prstGeom prst="rect">
            <a:avLst/>
          </a:prstGeom>
          <a:solidFill>
            <a:srgbClr val="FAFBFD"/>
          </a:solidFill>
          <a:ln w="9525">
            <a:solidFill>
              <a:srgbClr val="EDEFF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74720" y="914400"/>
            <a:ext cx="54864" cy="164592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2" name="Text 10"/>
          <p:cNvSpPr/>
          <p:nvPr/>
        </p:nvSpPr>
        <p:spPr>
          <a:xfrm>
            <a:off x="3611880" y="10058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Graph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611880" y="169164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each call site,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the target method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92240" y="914400"/>
            <a:ext cx="2560320" cy="1645920"/>
          </a:xfrm>
          <a:prstGeom prst="rect">
            <a:avLst/>
          </a:prstGeom>
          <a:solidFill>
            <a:srgbClr val="FAFBFD"/>
          </a:solidFill>
          <a:ln w="9525">
            <a:solidFill>
              <a:srgbClr val="EDEFF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92240" y="914400"/>
            <a:ext cx="54864" cy="1645920"/>
          </a:xfrm>
          <a:prstGeom prst="rect">
            <a:avLst/>
          </a:prstGeom>
          <a:solidFill>
            <a:srgbClr val="6C5B7B"/>
          </a:solidFill>
          <a:ln/>
        </p:spPr>
      </p:sp>
      <p:sp>
        <p:nvSpPr>
          <p:cNvPr id="16" name="Text 14"/>
          <p:cNvSpPr/>
          <p:nvPr/>
        </p:nvSpPr>
        <p:spPr>
          <a:xfrm>
            <a:off x="6629400" y="10058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C5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Interprocedural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6C5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629400" y="169164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Taint, typestate,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flow, ...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834640" y="14630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5852160" y="14630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457200" y="2834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Doop Architecture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48640" y="3364992"/>
            <a:ext cx="274320" cy="27432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33649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60120" y="32918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Doop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743200" y="329184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widely-cited Datalog-based Java analysis framework (OOPSLA 2009)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3913632"/>
            <a:ext cx="274320" cy="27432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39136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60120" y="38404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Sensitivity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2743200" y="384048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calling-context columns to the same 4 rules — still Datalog, just more precise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48640" y="4462272"/>
            <a:ext cx="274320" cy="27432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30" name="Text 28"/>
          <p:cNvSpPr/>
          <p:nvPr/>
        </p:nvSpPr>
        <p:spPr>
          <a:xfrm>
            <a:off x="548640" y="44622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60120" y="43891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2743200" y="438912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Analyzes Android apps with millions of facts in under 10 minutes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Power and Limits of Datalog for Analysis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800600"/>
            <a:ext cx="64008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CS292C  ·  Formal Methods for Agentic Programming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800600"/>
            <a:ext cx="6400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3931920" cy="2286000"/>
          </a:xfrm>
          <a:prstGeom prst="rect">
            <a:avLst/>
          </a:prstGeom>
          <a:solidFill>
            <a:srgbClr val="FAFBFD"/>
          </a:solidFill>
          <a:ln w="9525">
            <a:solidFill>
              <a:srgbClr val="EDEFF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914400"/>
            <a:ext cx="54864" cy="228600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0058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85800" y="14173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Declarative — swap rules to change analysis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18288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Modular — spec separate from engine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5800" y="22402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Scalable — Soufflé compiles to parallel C++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85800" y="26517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Proven — CodeQL, Doop used in production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0" y="914400"/>
            <a:ext cx="3931920" cy="2286000"/>
          </a:xfrm>
          <a:prstGeom prst="rect">
            <a:avLst/>
          </a:prstGeom>
          <a:solidFill>
            <a:srgbClr val="FAFBFD"/>
          </a:solidFill>
          <a:ln w="9525">
            <a:solidFill>
              <a:srgbClr val="EDEFF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914400"/>
            <a:ext cx="54864" cy="228600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5" name="Text 13"/>
          <p:cNvSpPr/>
          <p:nvPr/>
        </p:nvSpPr>
        <p:spPr>
          <a:xfrm>
            <a:off x="4983480" y="10058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983480" y="14173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No arithmetic / string ops (need extensions)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83480" y="18288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Stratified negation only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83480" y="22402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Over-approximation → false positives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83480" y="26517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Can’t analyze LLM runtime behavior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429000"/>
            <a:ext cx="8229600" cy="1188720"/>
          </a:xfrm>
          <a:prstGeom prst="rect">
            <a:avLst/>
          </a:prstGeom>
          <a:solidFill>
            <a:srgbClr val="FAFBFD"/>
          </a:solidFill>
          <a:ln w="9525">
            <a:solidFill>
              <a:srgbClr val="EDEFF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35204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 to Agents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85800" y="384048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frameworks (LangChain, CrewAI, Claude SDK) are real Python/TypeScript codebases with pointers, virtual dispatch, and callbacks. Points-to analysis reveals: “this user-supplied callback can be dispatched at 17 call sites” — that’s where your security audit starts.</a:t>
            </a:r>
            <a:endParaRPr lang="en-US" sz="12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800600"/>
            <a:ext cx="64008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CS292C  ·  Formal Methods for Agentic Programming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800600"/>
            <a:ext cx="6400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1024128"/>
            <a:ext cx="365760" cy="36576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0241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91440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analysis reasons about all executions without running the program — trading precision for automation and scalability.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02920" y="1801368"/>
            <a:ext cx="365760" cy="36576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18013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05840" y="169164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Dataflow analysis computes facts about programs via fixed-point iteration over a CFG: reaching definitions, taint tracking.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02920" y="2578608"/>
            <a:ext cx="365760" cy="36576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25786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05840" y="246888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Datalog is the natural language for static analysis: declarative rules, automatic fixed-point computation, spec separate from engine.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02920" y="3355848"/>
            <a:ext cx="365760" cy="36576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33558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05840" y="324612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Andersen’s points-to analysis — the foundation of all whole-program analysis — is just 4 Datalog rules.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02920" y="4133088"/>
            <a:ext cx="365760" cy="36576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41330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05840" y="402336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SMT (exact, annotation-heavy) to static analysis (approximate, fully automatic): both have roles in the verification toolkit.</a:t>
            </a:r>
            <a:endParaRPr lang="en-US" sz="12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What’s Next &amp; HW2 Reminder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800600"/>
            <a:ext cx="64008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CS292C  ·  Formal Methods for Agentic Programming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800600"/>
            <a:ext cx="6400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3931920" cy="2286000"/>
          </a:xfrm>
          <a:prstGeom prst="rect">
            <a:avLst/>
          </a:prstGeom>
          <a:solidFill>
            <a:srgbClr val="FAFBFD"/>
          </a:solidFill>
          <a:ln w="9525">
            <a:solidFill>
              <a:srgbClr val="EDEFF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914400"/>
            <a:ext cx="54864" cy="228600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0058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10: Model Checking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" y="1417320"/>
            <a:ext cx="3474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Agent lifecycles as state transition systems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85800" y="1755648"/>
            <a:ext cx="3474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Temporal logic (LTL/CTL) for safety &amp; liveness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85800" y="2093976"/>
            <a:ext cx="3474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“Bad states are never reached”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85800" y="2432304"/>
            <a:ext cx="3474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“The agent eventually completes its task”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85800" y="2770632"/>
            <a:ext cx="3474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Four formalization levels: step, skill, trace, system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754880" y="914400"/>
            <a:ext cx="3931920" cy="2286000"/>
          </a:xfrm>
          <a:prstGeom prst="rect">
            <a:avLst/>
          </a:prstGeom>
          <a:solidFill>
            <a:srgbClr val="FAFBFD"/>
          </a:solidFill>
          <a:ln w="9525">
            <a:solidFill>
              <a:srgbClr val="EDEFF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0" y="914400"/>
            <a:ext cx="54864" cy="228600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6" name="Text 14"/>
          <p:cNvSpPr/>
          <p:nvPr/>
        </p:nvSpPr>
        <p:spPr>
          <a:xfrm>
            <a:off x="4983480" y="10058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HW2: Due May 5 (Midterm)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983480" y="14173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Part 1: Hoare-logic verifier for IMP via Z3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83480" y="18288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Part 2: SMT encoding of an agent permission policy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83480" y="22402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Office hours: Tue 1:30–2:30pm, HFH 2157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3246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 Readings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7200" y="358444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Møller &amp; Schwartzbach, Static Program Analysis (free online), Ch. 1–5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384048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Smaragdakis &amp; Bravenboer, “Using Datalog for Fast and Easy Program Analysis” (CGO 2010)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409651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Bravenboer &amp; Smaragdakis, “Strictly Declarative Specification of Pointer Analyses” (OOPSLA 2009)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435254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Scholz et al., “On Fast Large-Scale Program Analysis in Datalog” (CC 2016) — Soufflé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9: Static Analysis</dc:title>
  <dc:subject>PptxGenJS Presentation</dc:subject>
  <dc:creator>Yu Feng</dc:creator>
  <cp:lastModifiedBy>Yu Feng</cp:lastModifiedBy>
  <cp:revision>1</cp:revision>
  <dcterms:created xsi:type="dcterms:W3CDTF">2026-04-12T19:08:49Z</dcterms:created>
  <dcterms:modified xsi:type="dcterms:W3CDTF">2026-04-12T19:08:49Z</dcterms:modified>
</cp:coreProperties>
</file>