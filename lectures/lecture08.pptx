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85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23"/>
    <p:restoredTop sz="94610"/>
  </p:normalViewPr>
  <p:slideViewPr>
    <p:cSldViewPr snapToGrid="0" snapToObjects="1">
      <p:cViewPr varScale="1">
        <p:scale>
          <a:sx n="166" d="100"/>
          <a:sy n="166" d="100"/>
        </p:scale>
        <p:origin x="27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1840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14300" y="365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S 2 9 2 C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Static Analysis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4A55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Dataflow to Points-To Analysis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2286000" cy="4572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9  ·  April 28,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 Feng  ·  UC Santa Barbara  ·  Department of Computer Science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Recap: SAT/SMT Solvers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4864" cy="9144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0789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Answers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651760" y="10972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SAT/SMT solvers give definitive results: a formula is satisfiable (SAT) or not (UNSAT). No approximation.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54864" cy="9144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5800" y="217627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VCG → Z3 Pipeline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51760" y="219456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programs produce verification conditions; Z3 decides validity. Correct → UNSAT, buggy → counterexample.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8229600" cy="9144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54864" cy="9144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" y="327355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Wall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651760" y="32918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loop invariants and pre/postconditions for every function. Doesn’t scale to millions of lines of code.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5800" y="41605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question: Can we verify properties without annotations, fully automatically?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4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Static Analysis?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Analyzing programs without running them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1828800" cy="36576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Idea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solidFill>
            <a:srgbClr val="EB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a program without running it — reason about all possible executions at once.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606040" cy="237744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54864" cy="237744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1920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23774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finite inputs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880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some bugs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Concrete, incomplete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91840" y="1828800"/>
            <a:ext cx="2606040" cy="237744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91840" y="1828800"/>
            <a:ext cx="54864" cy="2377440"/>
          </a:xfrm>
          <a:prstGeom prst="rect">
            <a:avLst/>
          </a:prstGeom>
          <a:solidFill>
            <a:srgbClr val="6C5B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74720" y="1920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C5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 Verification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74720" y="23774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answers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474720" y="2880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annotations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7472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Precise, manual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26480" y="1828800"/>
            <a:ext cx="2606040" cy="237744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126480" y="1828800"/>
            <a:ext cx="54864" cy="237744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09360" y="1920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Analysis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09360" y="23774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executions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09360" y="2880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automatic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0936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Approximate, scalable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Static analysis trades precision for automation and scalability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Fundamental Trade-Off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Soundness  vs.  Completeness  vs.  Scalability — pick two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8229600" cy="77724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54864" cy="77724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5800" y="16459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377440" y="1645920"/>
            <a:ext cx="6126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says “no bug,” there truly is no bug. May report false alarms.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8229600" cy="77724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54864" cy="77724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5800" y="25603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377440" y="2560320"/>
            <a:ext cx="6126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there is a bug, it will find it. Usually undecidable in general.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383280"/>
            <a:ext cx="8229600" cy="77724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3383280"/>
            <a:ext cx="54864" cy="777240"/>
          </a:xfrm>
          <a:prstGeom prst="rect">
            <a:avLst/>
          </a:prstGeom>
          <a:solidFill>
            <a:srgbClr val="6C5B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" y="34747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C5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377440" y="3474720"/>
            <a:ext cx="6126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millions of lines of code in minutes, not hours.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practice: most useful analyses are sound but incomplete — they over-approximate.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Abstract Interpretation in One Slide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931920" cy="18288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4864" cy="18288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097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Semantics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4630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possible program states at each point.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Infinite, uncomputable.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2148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∈ {3, 7, 15, 42, ...}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3931920" cy="18288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54864" cy="18288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83480" y="1097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Semantics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83480" y="14630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 approximation of all states.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computable, terminates.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2148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∈ [3, 42]  →  x &gt; 0 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114800" y="1554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Abstract Domains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3566160"/>
            <a:ext cx="1920240" cy="77724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" y="3611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" y="39319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[lo, hi]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606040" y="3566160"/>
            <a:ext cx="1920240" cy="77724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743200" y="3611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743200" y="39319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{+, −, 0}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754880" y="3566160"/>
            <a:ext cx="1920240" cy="77724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92040" y="3611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92040" y="39319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{even, odd}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903720" y="3566160"/>
            <a:ext cx="1920240" cy="77724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040880" y="3611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 Labels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040880" y="39319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{tainted, clean}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 for Agents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8229600" cy="73152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" cy="73152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0058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Code, Real Bugs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26080" y="100584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systems are built from Python/TypeScript: API clients, tool dispatchers, output parsers. This is ordinary code we can analyze.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54864" cy="73152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5800" y="1874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Data Flows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26080" y="187452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outputs and user messages flow into dangerous operations: subprocess.run, file writes, HTTP requests — classic injection patterns.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697480"/>
            <a:ext cx="8229600" cy="73152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54864" cy="73152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" y="27432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Automatic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926080" y="274320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annotations needed. Run taint analysis on the entire codebase and get results in minutes.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54864" cy="73152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85800" y="3611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Frameworks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926080" y="36118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frameworks (LangChain, CrewAI, Claude SDK) have millions of lines. Static analysis handles this.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4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Classical Dataflow Analysis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facts about programs via fixed-point iteration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1828800" cy="36576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 Flow Graphs (CFGs)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solidFill>
            <a:srgbClr val="EB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 as a directed graph: nodes = basic blocks, edges = control flow (branches, loops)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27432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54864" cy="2743200"/>
          </a:xfrm>
          <a:prstGeom prst="rect">
            <a:avLst/>
          </a:prstGeom>
          <a:solidFill>
            <a:srgbClr val="6C5B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5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Program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148840"/>
            <a:ext cx="3474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input()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x &gt; 0: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y = x * 2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y = 0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print(y)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1691640"/>
            <a:ext cx="3931920" cy="27432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754880" y="1691640"/>
            <a:ext cx="54864" cy="27432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8348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Flow Graph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0" y="2240280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66928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B1: x = input()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2697480"/>
            <a:ext cx="12801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126480" y="26974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&gt; 0 ?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20640" y="3246120"/>
            <a:ext cx="16459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120640" y="32461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B2: y = x*2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3246120"/>
            <a:ext cx="14630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949440" y="32461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B3: y = 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0" y="3794760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669280" y="3794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B4: print(y)</a:t>
            </a:r>
            <a:endParaRPr lang="en-US" sz="1000" dirty="0"/>
          </a:p>
        </p:txBody>
      </p:sp>
      <p:sp>
        <p:nvSpPr>
          <p:cNvPr id="100" name="Arrow 100"/>
          <p:cNvSpPr>
            <a:spLocks noGrp="1"/>
          </p:cNvSpPr>
          <p:nvPr/>
        </p:nvSpPr>
        <p:spPr>
          <a:xfrm rot="5400000">
            <a:off x="6692900" y="2609850"/>
            <a:ext cx="139700" cy="25400"/>
          </a:xfrm>
          <a:prstGeom prst="line">
            <a:avLst/>
          </a:prstGeom>
          <a:ln w="19050">
            <a:solidFill>
              <a:srgbClr val="0E7C7B"/>
            </a:solidFill>
            <a:tailEnd type="arrow" w="med" len="me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1" name="Arrow 101"/>
          <p:cNvSpPr>
            <a:spLocks noGrp="1"/>
          </p:cNvSpPr>
          <p:nvPr/>
        </p:nvSpPr>
        <p:spPr>
          <a:xfrm rot="9479323">
            <a:off x="5920136" y="3117850"/>
            <a:ext cx="643829" cy="25400"/>
          </a:xfrm>
          <a:prstGeom prst="line">
            <a:avLst/>
          </a:prstGeom>
          <a:ln w="19050">
            <a:solidFill>
              <a:srgbClr val="0E7C7B"/>
            </a:solidFill>
            <a:tailEnd type="arrow" w="med" len="me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2" name="Label 102"/>
          <p:cNvSpPr txBox="1">
            <a:spLocks noGrp="1"/>
          </p:cNvSpPr>
          <p:nvPr/>
        </p:nvSpPr>
        <p:spPr>
          <a:xfrm>
            <a:off x="6045200" y="3035300"/>
            <a:ext cx="457200" cy="177800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>
              <a:buNone/>
            </a:pPr>
            <a:r>
              <a:rPr lang="en-US" sz="900" b="1" dirty="0">
                <a:solidFill>
                  <a:srgbClr val="2D6A4F"/>
                </a:solidFill>
                <a:latin typeface="Calibri" pitchFamily="34" charset="0"/>
              </a:rPr>
              <a:t>T</a:t>
            </a:r>
          </a:p>
        </p:txBody>
      </p:sp>
      <p:sp>
        <p:nvSpPr>
          <p:cNvPr id="103" name="Arrow 103"/>
          <p:cNvSpPr>
            <a:spLocks noGrp="1"/>
          </p:cNvSpPr>
          <p:nvPr/>
        </p:nvSpPr>
        <p:spPr>
          <a:xfrm rot="1153186">
            <a:off x="6964572" y="3117850"/>
            <a:ext cx="733006" cy="25400"/>
          </a:xfrm>
          <a:prstGeom prst="line">
            <a:avLst/>
          </a:prstGeom>
          <a:ln w="19050">
            <a:solidFill>
              <a:srgbClr val="0E7C7B"/>
            </a:solidFill>
            <a:tailEnd type="arrow" w="med" len="me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4" name="Label 104"/>
          <p:cNvSpPr txBox="1">
            <a:spLocks noGrp="1"/>
          </p:cNvSpPr>
          <p:nvPr/>
        </p:nvSpPr>
        <p:spPr>
          <a:xfrm>
            <a:off x="7061200" y="3035300"/>
            <a:ext cx="381000" cy="177800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</a:rPr>
              <a:t>F</a:t>
            </a:r>
          </a:p>
        </p:txBody>
      </p:sp>
      <p:sp>
        <p:nvSpPr>
          <p:cNvPr id="105" name="Arrow 105"/>
          <p:cNvSpPr>
            <a:spLocks noGrp="1"/>
          </p:cNvSpPr>
          <p:nvPr/>
        </p:nvSpPr>
        <p:spPr>
          <a:xfrm rot="1391915">
            <a:off x="5920139" y="3670300"/>
            <a:ext cx="580322" cy="25400"/>
          </a:xfrm>
          <a:prstGeom prst="line">
            <a:avLst/>
          </a:prstGeom>
          <a:ln w="19050">
            <a:solidFill>
              <a:srgbClr val="0E7C7B"/>
            </a:solidFill>
            <a:tailEnd type="arrow" w="med" len="me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6" name="Arrow 106"/>
          <p:cNvSpPr>
            <a:spLocks noGrp="1"/>
          </p:cNvSpPr>
          <p:nvPr/>
        </p:nvSpPr>
        <p:spPr>
          <a:xfrm rot="9578304">
            <a:off x="7040674" y="3670300"/>
            <a:ext cx="657003" cy="25400"/>
          </a:xfrm>
          <a:prstGeom prst="line">
            <a:avLst/>
          </a:prstGeom>
          <a:ln w="19050">
            <a:solidFill>
              <a:srgbClr val="0E7C7B"/>
            </a:solidFill>
            <a:tailEnd type="arrow" w="med" len="med"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2288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Dataflow Analysis Framework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ingredients for any dataflow analysis: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920240" cy="22860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4864" cy="22860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94360" y="1508760"/>
            <a:ext cx="365760" cy="365760"/>
          </a:xfrm>
          <a:prstGeom prst="ellipse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15087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(D)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01168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 of abstract values being tracked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(e.g., sets of definitions, taint labels)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606040" y="1417320"/>
            <a:ext cx="1920240" cy="22860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606040" y="1417320"/>
            <a:ext cx="54864" cy="22860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0" y="1508760"/>
            <a:ext cx="365760" cy="365760"/>
          </a:xfrm>
          <a:prstGeom prst="ellipse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00400" y="15087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43200" y="201168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(entry → exit) or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 (exit → entry)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417320"/>
            <a:ext cx="1920240" cy="22860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54880" y="1417320"/>
            <a:ext cx="54864" cy="22860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92040" y="1508760"/>
            <a:ext cx="365760" cy="365760"/>
          </a:xfrm>
          <a:prstGeom prst="ellipse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9204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349240" y="15087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Functions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92040" y="201168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statement transforms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abstract state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903720" y="1417320"/>
            <a:ext cx="1920240" cy="22860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903720" y="1417320"/>
            <a:ext cx="54864" cy="22860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040880" y="1508760"/>
            <a:ext cx="365760" cy="365760"/>
          </a:xfrm>
          <a:prstGeom prst="ellipse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040880" y="1508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498080" y="15087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/ Join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040880" y="201168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combine information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merge points (union, intersection)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solidFill>
            <a:srgbClr val="EB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40080" y="3931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Fixed-point computation: 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transfer functions over the CFG until nothing changes. Termination guaranteed if the domain has finite height.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 Analysis: Reaching Definitions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solidFill>
            <a:srgbClr val="EB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assignments to variable x could reach this program point?”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4864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54864" cy="54864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1645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94560" y="164592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of (variable, definition-site) pairs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54864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54864" cy="54864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8580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94560" y="22860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(from entry to exit)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54864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57200" y="2880360"/>
            <a:ext cx="54864" cy="54864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85800" y="29260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94560" y="29260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GEN: add new definition;  KILL: remove old definitions of same variable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54864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54864" cy="54864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85800" y="3566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194560" y="356616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— a definition reaches a point if it reaches along any path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use-before-def detection, dead code elimination, constant propagation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 Analysis: Taint Tracking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solidFill>
            <a:srgbClr val="EB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“Can data from an untrusted source reach a security-sensitive sink?”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2651760" cy="246888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1645920"/>
            <a:ext cx="54864" cy="246888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1737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input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 reads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Environment vars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outputs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55848" y="1645920"/>
            <a:ext cx="2651760" cy="246888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355848" y="1645920"/>
            <a:ext cx="54864" cy="246888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538728" y="1737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38728" y="21488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is tainted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f(x)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∴ y is tainted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(unless sanitized)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54496" y="1645920"/>
            <a:ext cx="2651760" cy="246888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254496" y="1645920"/>
            <a:ext cx="54864" cy="2468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37376" y="1737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Sinks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37376" y="21488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subprocess.run()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open() / write()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queries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requests.post()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926080" y="25603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852160" y="25603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 analysis is the core of tools like CodeQL, Pysa (Meta), and Semgrep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4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Datalog: A Language for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Static Analysis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rules, automatic fixed-point computation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1828800" cy="36576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Datalog?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4864" cy="9144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097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Fit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0" y="109728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Dataflow analysis = fixed-point computation over relations.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Datalog computes exactly this.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057400"/>
            <a:ext cx="8229600" cy="9144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54864" cy="9144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5800" y="21488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43200" y="214884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to compute, not how to iterate.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analysis spec from solver engine.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8229600" cy="9144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54864" cy="9144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" y="3200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Adoption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743200" y="320040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(Doop/Infer), GitHub (CodeQL), Google (Error Prone),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Souffle — all Datalog-based or Datalog-inspired.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solidFill>
            <a:srgbClr val="EB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41148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Analogy: Just as Z3 lets us state VCs without implementing DPLL, Datalog lets us state analyses without implementing fixed-point iteration.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Datalog Basics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931920" cy="118872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4864" cy="118872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960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23444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tuples — the base data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edge(a, b).   source("input").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3931920" cy="118872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54864" cy="118872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83480" y="960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83480" y="123444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Horn clauses — derive new facts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83480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path(X,Z) :- path(X,Y), edge(Y,Z).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331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Properties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2862072"/>
            <a:ext cx="274320" cy="274320"/>
          </a:xfrm>
          <a:prstGeom prst="ellipse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2862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27889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minimal model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00400" y="2788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fixed point — no ambiguity in the result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364992"/>
            <a:ext cx="274320" cy="274320"/>
          </a:xfrm>
          <a:prstGeom prst="ellipse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8640" y="3364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32918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termination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200400" y="32918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function symbols, restricted negation → always terminates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3867912"/>
            <a:ext cx="274320" cy="274320"/>
          </a:xfrm>
          <a:prstGeom prst="ellipse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8640" y="38679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60120" y="37947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Monotonic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00400" y="37947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facts can only derive more facts, never retract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Datalog Example: Transitive Closure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931920" cy="155448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4864" cy="155448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005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Facts (edges)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13716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edge(a, b).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edge(b, 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edge(c, d).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914400"/>
            <a:ext cx="3931920" cy="155448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54864" cy="155448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83480" y="1005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Datalog Rules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83480" y="13716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path(X, Y) :- edge(X, Y).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path(X, Z) :- path(X, Y),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edge(Y, Z).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271653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Fixed-Point Iteration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203448"/>
            <a:ext cx="8229600" cy="384048"/>
          </a:xfrm>
          <a:prstGeom prst="rect">
            <a:avLst/>
          </a:prstGeom>
          <a:solidFill>
            <a:srgbClr val="FAFBFD"/>
          </a:solidFill>
          <a:ln w="6350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4360" y="320344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 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54480" y="320344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path(a,b)  path(b,c)  path(c,d)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0" y="320344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edges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507486"/>
            <a:ext cx="8229600" cy="384048"/>
          </a:xfrm>
          <a:prstGeom prst="rect">
            <a:avLst/>
          </a:prstGeom>
          <a:solidFill>
            <a:srgbClr val="FAFBFD"/>
          </a:solidFill>
          <a:ln w="6350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94360" y="350748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 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554480" y="350748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path(a,c)  path(b,d)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0" y="350748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a→b→c, b→c→d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811524"/>
            <a:ext cx="8229600" cy="384048"/>
          </a:xfrm>
          <a:prstGeom prst="rect">
            <a:avLst/>
          </a:prstGeom>
          <a:solidFill>
            <a:srgbClr val="FAFBFD"/>
          </a:solidFill>
          <a:ln w="6350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94360" y="381152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 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554480" y="38115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path(a,d)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00800" y="381152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a→b→c→d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4115562"/>
            <a:ext cx="8229600" cy="384048"/>
          </a:xfrm>
          <a:prstGeom prst="rect">
            <a:avLst/>
          </a:prstGeom>
          <a:solidFill>
            <a:srgbClr val="EBF5F5"/>
          </a:solidFill>
          <a:ln w="6350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94360" y="411556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 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54480" y="411556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 new facts — fixed point!)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400800" y="411556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Reaching Definitions in Datalog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93800"/>
            <a:ext cx="3931920" cy="15494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193800"/>
            <a:ext cx="54864" cy="15494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2852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Relations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1651000"/>
            <a:ext cx="3474720" cy="909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assign(Var, Def)   — definition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succ(From, To)     — CFG edge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kills(Var, Point)  — redefinition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54880" y="1193800"/>
            <a:ext cx="3931920" cy="15494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1193800"/>
            <a:ext cx="54864" cy="15494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83480" y="12852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Rules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83480" y="1651000"/>
            <a:ext cx="3474720" cy="1000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reaches(V, D, D) :-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assign(V, D).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reaches(V, D, Q) :-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reaches(V, D, P),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succ(P, Q),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!kills(V, Q).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8229600" cy="13716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" y="3108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Datalog vs. Imperative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3657600" cy="73152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0080" y="3520440"/>
            <a:ext cx="54864" cy="73152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22960" y="352044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rules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2011680" y="3520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Datalog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114800" y="352044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754880" y="3520440"/>
            <a:ext cx="3657600" cy="73152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754880" y="3520440"/>
            <a:ext cx="54864" cy="73152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37760" y="35204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lines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6720840" y="3520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Python</a:t>
            </a:r>
            <a:endParaRPr lang="en-US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C4D3D0-7025-CE4B-B697-CDF22AC6C6B2}"/>
              </a:ext>
            </a:extLst>
          </p:cNvPr>
          <p:cNvSpPr txBox="1"/>
          <p:nvPr/>
        </p:nvSpPr>
        <p:spPr>
          <a:xfrm>
            <a:off x="457200" y="838200"/>
            <a:ext cx="8229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0E7C7B"/>
                </a:solidFill>
                <a:latin typeface="Calibri"/>
                <a:cs typeface="Calibri"/>
              </a:rPr>
              <a:t>A definition d: x = ... reaches a program point p if there is a path from d to p along which x is not redefined.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Taint Analysis in Datalog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229600" cy="25603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005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Analysis — 3 Rules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417320"/>
            <a:ext cx="6858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7FDB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tainted(X) :- source(X).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7FDB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tainted(Y) :- tainted(X),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7FDB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assign(Y, X),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7FDB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!sanitize(Y).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7FDB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alarm(V)   :- tainted(V), sink(V).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Relations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1920240" cy="64008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404164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source(V)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06040" y="4023360"/>
            <a:ext cx="1920240" cy="64008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697480" y="404164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sink(V)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97480" y="4343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 op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4023360"/>
            <a:ext cx="1920240" cy="64008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46320" y="404164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assign(To,From)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4343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03720" y="4023360"/>
            <a:ext cx="1920240" cy="64008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995160" y="404164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sanitize(V)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995160" y="4343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data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Running Datalog: Soufflé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solidFill>
            <a:srgbClr val="EB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Soufflé: high-performance Datalog engine — compiles Datalog to parallel C++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1920240" cy="201168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1645920"/>
            <a:ext cx="54864" cy="201168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21488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files or inline facts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the program’s CFG and data flow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06040" y="1645920"/>
            <a:ext cx="1920240" cy="201168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606040" y="1645920"/>
            <a:ext cx="54864" cy="201168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43200" y="21488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Datalog rules → C++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Massively parallel evaluation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multi-core machines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1645920"/>
            <a:ext cx="1920240" cy="201168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1645920"/>
            <a:ext cx="54864" cy="201168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9204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21488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alarm relation listing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analysis results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03720" y="1645920"/>
            <a:ext cx="1920240" cy="201168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903720" y="1645920"/>
            <a:ext cx="54864" cy="201168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040880" y="17373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040880" y="21488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facts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analyzed in seconds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(entire JDK, Android apps)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changing the analysis = changing a few Datalog rules, not rewriting an engine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4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IV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5544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Points-To Analysis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4 Rules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95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canonical Datalog application — and the foundation of all serious static analysis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1828800" cy="36576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Pointers Make Everything Hard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fundamental question: when I call x.foo(), which foo actually runs?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8229600" cy="73152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54864" cy="73152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1737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are heap-allocated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83280" y="17373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could point to any subclass — which method gets dispatched?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54864" cy="73152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85800" y="26060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call graph without 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83280" y="26060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knowing what x points to, every interprocedural analysis is useless.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54864" cy="73152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85800" y="3474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Points-to is foundational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83280" y="34747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 analysis, typestate, information flow — all need a call graph. Points-to builds it.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solidFill>
            <a:srgbClr val="EB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42062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good news: Andersen’s points-to analysis fits in 4 lines of Datalog.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Kinds of Pointer Statements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pointer-manipulating program decomposes into four statement types: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54864" cy="6858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1527048"/>
            <a:ext cx="365760" cy="365760"/>
          </a:xfrm>
          <a:prstGeom prst="ellipse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1527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43000" y="141732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34640" y="14173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new T()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0" y="141732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points to a fresh object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194560"/>
            <a:ext cx="8229600" cy="6858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54864" cy="6858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40080" y="2350008"/>
            <a:ext cx="365760" cy="365760"/>
          </a:xfrm>
          <a:prstGeom prst="ellipse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2350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3000" y="22402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834640" y="22402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0" y="224028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points to whatever y points to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017520"/>
            <a:ext cx="8229600" cy="6858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57200" y="3017520"/>
            <a:ext cx="54864" cy="685800"/>
          </a:xfrm>
          <a:prstGeom prst="rect">
            <a:avLst/>
          </a:prstGeom>
          <a:solidFill>
            <a:srgbClr val="6C5B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40080" y="3172968"/>
            <a:ext cx="365760" cy="365760"/>
          </a:xfrm>
          <a:prstGeom prst="ellipse">
            <a:avLst/>
          </a:prstGeom>
          <a:solidFill>
            <a:srgbClr val="6C5B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3172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43000" y="30632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5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Store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834640" y="30632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x.f = y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029200" y="30632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f-field of x’s object points to y’s target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840480"/>
            <a:ext cx="8229600" cy="6858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7200" y="3840480"/>
            <a:ext cx="54864" cy="6858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40080" y="3995928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0080" y="3995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43000" y="38862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Load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834640" y="38862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y.f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029200" y="38862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points to what’s in f-field of y’s target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Example: A Java Snippet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931920" cy="301752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6C5B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005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5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Code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141732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a = new A();     // alloc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b = new B();     // alloc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a.f = b;           // store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c = a.f;         // load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d = c;           // copy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d.run();           // call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914400"/>
            <a:ext cx="3931920" cy="301752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54864" cy="301752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83480" y="1005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Datalog Facts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83480" y="141732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alloc(a, obj₁).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alloc(b, obj₂).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store(a, f, b).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load(c, a, f).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assign(d, c).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What does d point to?  →  Which run() gets called?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Andersen’s Analysis: 4 Datalog Rules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8229600" cy="32004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9601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Points-To Analysis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88720" y="1463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FDB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pointsTo(V, O)          :- alloc(V, O).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1463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5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allocation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192024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88720" y="1920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FDB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pointsTo(V, O)          :- assign(V, W), pointsTo(W, O).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0" y="1920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5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copy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242316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88720" y="2423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FDB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fieldPointsTo(O, F, O2) :- store(V, F, W),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88720" y="2697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FDB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pointsTo(V, O), pointsTo(W, O2).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5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store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31546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88720" y="3154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FDB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pointsTo(V, O)          :- load(V, W, F),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3429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FDB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pointsTo(W, O1), fieldPointsTo(O1, F, O).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5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load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solidFill>
            <a:srgbClr val="EB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4 rules, run by Soufflé, analyze the entire JDK (200K+ classes) in minutes.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Tracing the Fixed Point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through our Java example: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54864" cy="64008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5800" y="1325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 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45920" y="13258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pointsTo(a, obj₁)    pointsTo(b, obj₂)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17920" y="1325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1: alloc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57400"/>
            <a:ext cx="8229600" cy="64008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2057400"/>
            <a:ext cx="54864" cy="64008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85800" y="21031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45920" y="21031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fieldPointsTo(obj₁, f, obj₂)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3: a.f = b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2834640"/>
            <a:ext cx="8229600" cy="64008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54864" cy="640080"/>
          </a:xfrm>
          <a:prstGeom prst="rect">
            <a:avLst/>
          </a:prstGeom>
          <a:solidFill>
            <a:srgbClr val="6C5B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5800" y="2880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5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 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45920" y="28803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pointsTo(c, obj₂)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4: c = a.f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64008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3611880"/>
            <a:ext cx="54864" cy="6400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85800" y="36576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 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645920" y="3657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pointsTo(d, obj₂)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17920" y="3657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2: d = c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" y="4434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FDB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d points to obj₂ (a B instance)  →  d.run() resolves to B.run()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Points-To to Call Graphs to Everything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2560320" cy="164592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4864" cy="164592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10058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Points-To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16916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each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point to?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74720" y="914400"/>
            <a:ext cx="2560320" cy="164592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474720" y="914400"/>
            <a:ext cx="54864" cy="164592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11880" y="10058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Graph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1880" y="16916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each call site,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the target method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92240" y="914400"/>
            <a:ext cx="2560320" cy="164592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92240" y="914400"/>
            <a:ext cx="54864" cy="1645920"/>
          </a:xfrm>
          <a:prstGeom prst="rect">
            <a:avLst/>
          </a:prstGeom>
          <a:solidFill>
            <a:srgbClr val="6C5B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629400" y="10058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5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Interprocedural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6C5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29400" y="16916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Taint, typestate,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flow, ...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34640" y="1463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852160" y="1463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Doop Architecture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364992"/>
            <a:ext cx="274320" cy="274320"/>
          </a:xfrm>
          <a:prstGeom prst="ellipse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8640" y="3364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3291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0" y="32918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widely-cited Datalog-based Java analysis framework (OOPSLA 2009)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3913632"/>
            <a:ext cx="274320" cy="274320"/>
          </a:xfrm>
          <a:prstGeom prst="ellipse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8640" y="3913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60120" y="38404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Sensitivity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743200" y="38404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calling-context columns to the same 4 rules — still Datalog, just more precise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4462272"/>
            <a:ext cx="274320" cy="274320"/>
          </a:xfrm>
          <a:prstGeom prst="ellipse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48640" y="4462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60120" y="43891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743200" y="43891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Android apps with millions of facts in under 10 minutes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 and Limits of Datalog for Analysis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931920" cy="22860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4864" cy="22860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0058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1417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Declarative — swap rules to change analysis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1828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Modular — spec separate from engine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2240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Scalable — Soufflé compiles to parallel C++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2651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Proven — CodeQL, Doop used in production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914400"/>
            <a:ext cx="3931920" cy="22860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754880" y="914400"/>
            <a:ext cx="54864" cy="22860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983480" y="10058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83480" y="1417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arithmetic / string ops (need extensions)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1828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Stratified negation only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2240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Over-approximation → false positives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83480" y="2651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Can’t analyze LLM runtime behavior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429000"/>
            <a:ext cx="8229600" cy="118872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85800" y="35204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Agents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" y="384048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frameworks (LangChain, CrewAI, Claude SDK) are real Python/TypeScript codebases with pointers, virtual dispatch, and callbacks. Points-to analysis reveals: “this user-supplied callback can be dispatched at 17 call sites” — that’s where your security audit starts.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024128"/>
            <a:ext cx="365760" cy="365760"/>
          </a:xfrm>
          <a:prstGeom prst="ellipse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024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91440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analysis reasons about all executions without running the program — trading precision for automation and scalability.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1801368"/>
            <a:ext cx="365760" cy="365760"/>
          </a:xfrm>
          <a:prstGeom prst="ellipse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1801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16916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Dataflow analysis computes facts about programs via fixed-point iteration over a CFG: reaching definitions, taint tracking.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2578608"/>
            <a:ext cx="365760" cy="365760"/>
          </a:xfrm>
          <a:prstGeom prst="ellipse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2578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46888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Datalog is the natural language for static analysis: declarative rules, automatic fixed-point computation, spec separate from engine.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3355848"/>
            <a:ext cx="365760" cy="365760"/>
          </a:xfrm>
          <a:prstGeom prst="ellipse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3355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24612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Andersen’s points-to analysis — the foundation of all whole-program analysis — is just 4 Datalog rules.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4133088"/>
            <a:ext cx="365760" cy="365760"/>
          </a:xfrm>
          <a:prstGeom prst="ellipse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" y="4133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" y="402336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SMT (exact, annotation-heavy) to static analysis (approximate, fully automatic): both have roles in the verification toolkit.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What’s Next &amp; HW2 Reminder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CS292C  ·  Formal Methods for Agentic Programming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800600"/>
            <a:ext cx="6400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931920" cy="22860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4864" cy="2286000"/>
          </a:xfrm>
          <a:prstGeom prst="rect">
            <a:avLst/>
          </a:prstGeom>
          <a:solidFill>
            <a:srgbClr val="0E7C7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0058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10: Model Checking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417320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Agent lifecycles as state transition systems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1755648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Temporal logic (LTL/CTL) for safety &amp; liveness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5800" y="2093976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“Bad states are never reached”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85800" y="2432304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“The agent eventually completes its task”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2770632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Four formalization levels: step, skill, trace, system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754880" y="914400"/>
            <a:ext cx="3931920" cy="2286000"/>
          </a:xfrm>
          <a:prstGeom prst="rect">
            <a:avLst/>
          </a:prstGeom>
          <a:solidFill>
            <a:srgbClr val="FAFBFD"/>
          </a:solidFill>
          <a:ln w="9525">
            <a:solidFill>
              <a:srgbClr val="EDEF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754880" y="914400"/>
            <a:ext cx="54864" cy="22860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83480" y="10058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HW2: Due May 5 (Midterm)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83480" y="1417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Part 1: Hoare-logic verifier for IMP via Z3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1828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Part 2: SMT encoding of an agent permission policy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83480" y="2240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Office hours: Tue 1:30–2:30pm, HFH 2157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Readings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5844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Møller &amp; Schwartzbach, Static Program Analysis (free online), Ch. 1–5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8404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Smaragdakis &amp; Bravenboer, “Using Datalog for Fast and Easy Program Analysis” (CGO 2010)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096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Bravenboer &amp; Smaragdakis, “Strictly Declarative Specification of Pointer Analyses” (OOPSLA 2009)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35254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Scholz et al., “On Fast Large-Scale Program Analysis in Datalog” (CC 2016) — Soufflé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7B5F910-2CD2-4C42-81AE-8CD4859F505D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406c0cf-f776-44de-97bb-2d7c710a246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1492</TotalTime>
  <Words>2642</Words>
  <Application>Microsoft Macintosh PowerPoint</Application>
  <PresentationFormat>On-screen Show (16:9)</PresentationFormat>
  <Paragraphs>467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9: Static Analysis</dc:title>
  <dc:subject>PptxGenJS Presentation</dc:subject>
  <dc:creator>Yu Feng</dc:creator>
  <cp:lastModifiedBy>YU FENG</cp:lastModifiedBy>
  <cp:revision>4</cp:revision>
  <dcterms:created xsi:type="dcterms:W3CDTF">2026-04-12T19:08:49Z</dcterms:created>
  <dcterms:modified xsi:type="dcterms:W3CDTF">2026-04-29T19:56:50Z</dcterms:modified>
</cp:coreProperties>
</file>